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78" r:id="rId2"/>
    <p:sldId id="285" r:id="rId3"/>
    <p:sldId id="295" r:id="rId4"/>
    <p:sldId id="293" r:id="rId5"/>
    <p:sldId id="306" r:id="rId6"/>
    <p:sldId id="308" r:id="rId7"/>
    <p:sldId id="309" r:id="rId8"/>
    <p:sldId id="294" r:id="rId9"/>
    <p:sldId id="307" r:id="rId10"/>
    <p:sldId id="296" r:id="rId11"/>
    <p:sldId id="292" r:id="rId12"/>
    <p:sldId id="299" r:id="rId13"/>
    <p:sldId id="304" r:id="rId14"/>
    <p:sldId id="305" r:id="rId15"/>
    <p:sldId id="300" r:id="rId16"/>
    <p:sldId id="301" r:id="rId17"/>
    <p:sldId id="302" r:id="rId18"/>
    <p:sldId id="303" r:id="rId19"/>
    <p:sldId id="310" r:id="rId20"/>
    <p:sldId id="297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FE936FD-7219-48C6-86FB-C390A50A59E4}">
          <p14:sldIdLst>
            <p14:sldId id="278"/>
            <p14:sldId id="285"/>
            <p14:sldId id="295"/>
            <p14:sldId id="293"/>
            <p14:sldId id="306"/>
            <p14:sldId id="308"/>
            <p14:sldId id="309"/>
            <p14:sldId id="294"/>
            <p14:sldId id="307"/>
            <p14:sldId id="296"/>
            <p14:sldId id="292"/>
            <p14:sldId id="299"/>
            <p14:sldId id="304"/>
            <p14:sldId id="305"/>
            <p14:sldId id="300"/>
            <p14:sldId id="301"/>
            <p14:sldId id="302"/>
            <p14:sldId id="303"/>
            <p14:sldId id="310"/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FF"/>
    <a:srgbClr val="0000CC"/>
    <a:srgbClr val="660066"/>
    <a:srgbClr val="CC6600"/>
    <a:srgbClr val="0033CC"/>
    <a:srgbClr val="0099CC"/>
    <a:srgbClr val="008000"/>
    <a:srgbClr val="CC0066"/>
    <a:srgbClr val="666633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560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4" d="100"/>
        <a:sy n="114" d="100"/>
      </p:scale>
      <p:origin x="0" y="-8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6B50-0230-47E8-A864-FB968740FB5D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867D5-5CCD-4A59-AD28-D7646AD6612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589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F053E-2376-4FDE-A97F-A81BA2E5D6BA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468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94895-1C4E-461B-B148-F8DDD3BE2262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882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3B760-EA83-44BA-B85E-EA08F3D60FBE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660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12A2-4463-4963-BF48-923D8AF1C0DC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486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96D8A-5605-4544-9DC8-746FB8357103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47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2C4C-1345-4E3F-BF94-9D96C33E7F67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593A-65C8-4B92-A308-44A50D57BF00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093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957CB-8B61-4E9C-96D2-31AABB1BF023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413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DAA69-F8E8-433B-AE22-B3CF941DDBFF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601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F375-2A72-4956-B92B-CD7D448DC34E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440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83D2-B445-4396-BA6A-656BD891FBA1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014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0807C-3CC4-4880-9EDC-96165A1056E4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145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emf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10" Type="http://schemas.openxmlformats.org/officeDocument/2006/relationships/image" Target="../media/image26.emf"/><Relationship Id="rId4" Type="http://schemas.openxmlformats.org/officeDocument/2006/relationships/image" Target="../media/image20.png"/><Relationship Id="rId9" Type="http://schemas.openxmlformats.org/officeDocument/2006/relationships/image" Target="../media/image2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emf"/><Relationship Id="rId5" Type="http://schemas.openxmlformats.org/officeDocument/2006/relationships/image" Target="../media/image34.png"/><Relationship Id="rId4" Type="http://schemas.openxmlformats.org/officeDocument/2006/relationships/image" Target="../media/image3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emf"/><Relationship Id="rId5" Type="http://schemas.openxmlformats.org/officeDocument/2006/relationships/image" Target="../media/image43.emf"/><Relationship Id="rId4" Type="http://schemas.openxmlformats.org/officeDocument/2006/relationships/image" Target="../media/image4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67544" y="2492896"/>
            <a:ext cx="8229600" cy="11430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rgbClr val="0000CC"/>
                </a:solidFill>
              </a:rPr>
              <a:t>Axial and lateral resolutions of optical coherence tomography</a:t>
            </a:r>
          </a:p>
        </p:txBody>
      </p:sp>
    </p:spTree>
    <p:extLst>
      <p:ext uri="{BB962C8B-B14F-4D97-AF65-F5344CB8AC3E}">
        <p14:creationId xmlns:p14="http://schemas.microsoft.com/office/powerpoint/2010/main" val="3177502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50"/>
                </a:solidFill>
              </a:rPr>
              <a:t>OCT set up with </a:t>
            </a:r>
            <a:r>
              <a:rPr lang="en-IN" dirty="0" err="1">
                <a:solidFill>
                  <a:srgbClr val="00B050"/>
                </a:solidFill>
              </a:rPr>
              <a:t>fiber</a:t>
            </a:r>
            <a:r>
              <a:rPr lang="en-IN" dirty="0">
                <a:solidFill>
                  <a:srgbClr val="00B050"/>
                </a:solidFill>
              </a:rPr>
              <a:t>-optic delivery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2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600200"/>
            <a:ext cx="3917788" cy="294141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895600"/>
            <a:ext cx="4174414" cy="32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6794" y="5105400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33CC"/>
                </a:solidFill>
              </a:rPr>
              <a:t>Lateral resolution depends upon the objective lens.</a:t>
            </a:r>
          </a:p>
        </p:txBody>
      </p:sp>
    </p:spTree>
    <p:extLst>
      <p:ext uri="{BB962C8B-B14F-4D97-AF65-F5344CB8AC3E}">
        <p14:creationId xmlns:p14="http://schemas.microsoft.com/office/powerpoint/2010/main" val="3012921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Lateral resolution calculation</a:t>
            </a:r>
          </a:p>
        </p:txBody>
      </p:sp>
    </p:spTree>
    <p:extLst>
      <p:ext uri="{BB962C8B-B14F-4D97-AF65-F5344CB8AC3E}">
        <p14:creationId xmlns:p14="http://schemas.microsoft.com/office/powerpoint/2010/main" val="3196300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99CC"/>
                </a:solidFill>
              </a:rPr>
              <a:t>Numerical aperture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676400"/>
            <a:ext cx="7785832" cy="26831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4591050"/>
            <a:ext cx="2381250" cy="18859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14" y="4590612"/>
            <a:ext cx="2400300" cy="647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331005"/>
            <a:ext cx="3032640" cy="74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53200" y="4971871"/>
            <a:ext cx="228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33CC"/>
                </a:solidFill>
              </a:rPr>
              <a:t>Numerical aperture increases, focusing increases but imaging depth decreases.</a:t>
            </a:r>
          </a:p>
        </p:txBody>
      </p:sp>
    </p:spTree>
    <p:extLst>
      <p:ext uri="{BB962C8B-B14F-4D97-AF65-F5344CB8AC3E}">
        <p14:creationId xmlns:p14="http://schemas.microsoft.com/office/powerpoint/2010/main" val="1806534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52400"/>
            <a:ext cx="8991600" cy="68580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9933FF"/>
                </a:solidFill>
              </a:rPr>
              <a:t>Single slit experiment- Diffraction pattern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D36DEA-4753-3C72-15B4-F951B472D0BA}"/>
              </a:ext>
            </a:extLst>
          </p:cNvPr>
          <p:cNvGrpSpPr/>
          <p:nvPr/>
        </p:nvGrpSpPr>
        <p:grpSpPr>
          <a:xfrm>
            <a:off x="160600" y="1094771"/>
            <a:ext cx="5803980" cy="3329409"/>
            <a:chOff x="77165" y="1227158"/>
            <a:chExt cx="5803980" cy="332940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E412575-F95B-6101-F6A8-912BED70D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9070"/>
            <a:stretch>
              <a:fillRect/>
            </a:stretch>
          </p:blipFill>
          <p:spPr>
            <a:xfrm>
              <a:off x="77165" y="1227158"/>
              <a:ext cx="761035" cy="32956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95849AE-71F9-4D82-54C7-ABDA6CCBE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3775"/>
            <a:stretch>
              <a:fillRect/>
            </a:stretch>
          </p:blipFill>
          <p:spPr>
            <a:xfrm>
              <a:off x="2749289" y="1275988"/>
              <a:ext cx="3131856" cy="26365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2AC046C-03C0-F5DA-C322-9CFA2FE04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4227" r="59849"/>
            <a:stretch>
              <a:fillRect/>
            </a:stretch>
          </p:blipFill>
          <p:spPr>
            <a:xfrm>
              <a:off x="874853" y="1260917"/>
              <a:ext cx="1804988" cy="3295650"/>
            </a:xfrm>
            <a:prstGeom prst="rect">
              <a:avLst/>
            </a:prstGeom>
          </p:spPr>
        </p:pic>
      </p:grpSp>
      <p:pic>
        <p:nvPicPr>
          <p:cNvPr id="2056" name="Picture 8" descr="Single Slit Diffraction – Introductory Physics for the Health and Life  Sciences II">
            <a:extLst>
              <a:ext uri="{FF2B5EF4-FFF2-40B4-BE49-F238E27FC236}">
                <a16:creationId xmlns:a16="http://schemas.microsoft.com/office/drawing/2014/main" id="{A8F54633-6541-8F0C-F6E1-EDD4CDFC9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737" y="981124"/>
            <a:ext cx="2133600" cy="327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8CB6EB9-A5BA-AE48-9598-40B9515D37D1}"/>
              </a:ext>
            </a:extLst>
          </p:cNvPr>
          <p:cNvSpPr txBox="1"/>
          <p:nvPr/>
        </p:nvSpPr>
        <p:spPr>
          <a:xfrm>
            <a:off x="160600" y="4736546"/>
            <a:ext cx="8822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Light path is not straight line, light source produces a pattern on the screen. Mathematically it is represented by,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EE13AC-002F-CDF8-553E-5D49D5687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6879" y="5380605"/>
            <a:ext cx="3810240" cy="11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548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1E8A1-A920-C08B-B0FC-66BAF9722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22250"/>
            <a:ext cx="84582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Plots of Bessel function of the first kind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C3619-D00A-9B26-0E62-C1EBCCBD2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6</a:t>
            </a:fld>
            <a:endParaRPr lang="en-IN"/>
          </a:p>
        </p:txBody>
      </p:sp>
      <p:pic>
        <p:nvPicPr>
          <p:cNvPr id="1026" name="Picture 2" descr="r/math - Bessel Functions of First Kind - Can someone please explain what is happening in the first graph">
            <a:extLst>
              <a:ext uri="{FF2B5EF4-FFF2-40B4-BE49-F238E27FC236}">
                <a16:creationId xmlns:a16="http://schemas.microsoft.com/office/drawing/2014/main" id="{DE3F78FC-F56A-0E9F-E9BC-84E00961B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14475"/>
            <a:ext cx="6096000" cy="382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639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6786-B7E1-A5E7-F68A-9F5D2396D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58FB3-F55A-D0DA-AA7C-110FD9145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IN" dirty="0">
                <a:solidFill>
                  <a:srgbClr val="9933FF"/>
                </a:solidFill>
              </a:rPr>
              <a:t>Diffraction pattern- airy disc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28B03-75BA-37DE-9C49-FD5FE9BA8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1ACCF1-20EB-9C21-1AEF-C0EC1E288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914400"/>
            <a:ext cx="5705475" cy="34533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92E7EA-34BB-BE22-8577-7694D06AC7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451350"/>
            <a:ext cx="1905000" cy="190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2AA6A3-6095-A677-2AF3-8511D1D01A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065" y="4485469"/>
            <a:ext cx="6047619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169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019741" y="5223296"/>
            <a:ext cx="3610380" cy="8644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534400" cy="694417"/>
          </a:xfrm>
        </p:spPr>
        <p:txBody>
          <a:bodyPr>
            <a:normAutofit/>
          </a:bodyPr>
          <a:lstStyle/>
          <a:p>
            <a:r>
              <a:rPr lang="en-IN" sz="3000" dirty="0">
                <a:solidFill>
                  <a:srgbClr val="CC6600"/>
                </a:solidFill>
              </a:rPr>
              <a:t>Diffraction pattern by a circular aperture light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080" y="1337355"/>
            <a:ext cx="3810240" cy="1113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3064261"/>
            <a:ext cx="3810000" cy="12001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1000" y="4720545"/>
            <a:ext cx="647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 resolve two objects (separated by ∆l) in the lateral direction-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670" y="2752467"/>
            <a:ext cx="4498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 resolve two objects in the lateral direction-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295" y="3811586"/>
            <a:ext cx="2838240" cy="528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670" y="3224960"/>
            <a:ext cx="3124200" cy="58020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091" y="5300302"/>
            <a:ext cx="3343680" cy="710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0" y="5470836"/>
            <a:ext cx="30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</a:rPr>
              <a:t>Rayleigh criterion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DDD95E-4049-6FAC-C359-9FAC92FAABDB}"/>
              </a:ext>
            </a:extLst>
          </p:cNvPr>
          <p:cNvSpPr txBox="1"/>
          <p:nvPr/>
        </p:nvSpPr>
        <p:spPr>
          <a:xfrm>
            <a:off x="4114800" y="4264411"/>
            <a:ext cx="3921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First minimum of Bessel function occurs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E0EDDF8-78BC-803F-40C4-79750459C77B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3276600" y="4075586"/>
            <a:ext cx="838200" cy="373491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02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Another illustrative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9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219200"/>
            <a:ext cx="7224000" cy="54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264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Axial resolution calculation</a:t>
            </a:r>
          </a:p>
        </p:txBody>
      </p:sp>
    </p:spTree>
    <p:extLst>
      <p:ext uri="{BB962C8B-B14F-4D97-AF65-F5344CB8AC3E}">
        <p14:creationId xmlns:p14="http://schemas.microsoft.com/office/powerpoint/2010/main" val="668834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1" y="296736"/>
            <a:ext cx="8872578" cy="639762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C00000"/>
                </a:solidFill>
              </a:rPr>
              <a:t>Michelson Morley Experiment- One light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11</a:t>
            </a:fld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328200"/>
            <a:ext cx="2476500" cy="457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870506"/>
            <a:ext cx="2566080" cy="451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081" y="2452008"/>
            <a:ext cx="3162300" cy="695325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304800" y="1066800"/>
            <a:ext cx="3886200" cy="3466070"/>
            <a:chOff x="304800" y="1295400"/>
            <a:chExt cx="3886200" cy="3466070"/>
          </a:xfrm>
        </p:grpSpPr>
        <p:pic>
          <p:nvPicPr>
            <p:cNvPr id="12" name="Picture 4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115" t="67227" r="50512" b="11747"/>
            <a:stretch/>
          </p:blipFill>
          <p:spPr bwMode="auto">
            <a:xfrm>
              <a:off x="304800" y="1295400"/>
              <a:ext cx="3886200" cy="3466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2534031" y="2824294"/>
              <a:ext cx="333746" cy="338554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rtlCol="0">
              <a:spAutoFit/>
            </a:bodyPr>
            <a:lstStyle/>
            <a:p>
              <a:r>
                <a:rPr lang="en-IN" sz="1600" dirty="0"/>
                <a:t>L</a:t>
              </a:r>
              <a:r>
                <a:rPr lang="en-IN" sz="1600" baseline="-25000" dirty="0"/>
                <a:t>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676400" y="1995180"/>
              <a:ext cx="344966" cy="338554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rtlCol="0">
              <a:spAutoFit/>
            </a:bodyPr>
            <a:lstStyle/>
            <a:p>
              <a:r>
                <a:rPr lang="en-IN" sz="1600" dirty="0"/>
                <a:t>L</a:t>
              </a:r>
              <a:r>
                <a:rPr lang="en-IN" sz="1600" baseline="-25000" dirty="0"/>
                <a:t>R</a:t>
              </a:r>
            </a:p>
          </p:txBody>
        </p:sp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412797"/>
            <a:ext cx="4320000" cy="27494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3200" y="3754264"/>
            <a:ext cx="3600000" cy="38500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522" y="6157917"/>
            <a:ext cx="5403600" cy="34027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777" y="5098889"/>
            <a:ext cx="5022000" cy="33818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29674" y="4592054"/>
            <a:ext cx="2566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Constructive interference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774" y="5776592"/>
            <a:ext cx="2457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Destructive interference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79200" y="5267980"/>
            <a:ext cx="35457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rgbClr val="00B050"/>
                </a:solidFill>
              </a:rPr>
              <a:t>Long coherence length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40628" y="4223958"/>
            <a:ext cx="4662000" cy="42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882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1" y="296736"/>
            <a:ext cx="8872578" cy="639762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C00000"/>
                </a:solidFill>
              </a:rPr>
              <a:t>Michelson Morley Experiment- Two light 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12</a:t>
            </a:fld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829439"/>
            <a:ext cx="4633200" cy="929188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2059064" y="1219200"/>
            <a:ext cx="4570336" cy="3276600"/>
            <a:chOff x="2059064" y="1219200"/>
            <a:chExt cx="4570336" cy="3276600"/>
          </a:xfrm>
        </p:grpSpPr>
        <p:pic>
          <p:nvPicPr>
            <p:cNvPr id="21" name="Picture 4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675" r="52500" b="26325"/>
            <a:stretch/>
          </p:blipFill>
          <p:spPr bwMode="auto">
            <a:xfrm>
              <a:off x="2059064" y="1219200"/>
              <a:ext cx="4343400" cy="3276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" name="Rectangle 14"/>
            <p:cNvSpPr/>
            <p:nvPr/>
          </p:nvSpPr>
          <p:spPr>
            <a:xfrm>
              <a:off x="5638800" y="3657600"/>
              <a:ext cx="990600" cy="609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271282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2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26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0833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1" y="152400"/>
            <a:ext cx="8872578" cy="639762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C00000"/>
                </a:solidFill>
              </a:rPr>
              <a:t>Michelson Morley Experiment- Many light 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15</a:t>
            </a:fld>
            <a:endParaRPr lang="en-IN" dirty="0"/>
          </a:p>
        </p:txBody>
      </p:sp>
      <p:grpSp>
        <p:nvGrpSpPr>
          <p:cNvPr id="5" name="Group 4"/>
          <p:cNvGrpSpPr/>
          <p:nvPr/>
        </p:nvGrpSpPr>
        <p:grpSpPr>
          <a:xfrm>
            <a:off x="152401" y="762000"/>
            <a:ext cx="4648200" cy="4419600"/>
            <a:chOff x="152401" y="1143000"/>
            <a:chExt cx="4648200" cy="4419600"/>
          </a:xfrm>
        </p:grpSpPr>
        <p:pic>
          <p:nvPicPr>
            <p:cNvPr id="9" name="Picture 4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156" r="49167" b="13594"/>
            <a:stretch/>
          </p:blipFill>
          <p:spPr bwMode="auto">
            <a:xfrm>
              <a:off x="152401" y="1143000"/>
              <a:ext cx="4648200" cy="4419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3962400" y="4495800"/>
              <a:ext cx="838200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320" y="1428824"/>
            <a:ext cx="4315680" cy="147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05400" y="2907224"/>
            <a:ext cx="2616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.</a:t>
            </a:r>
          </a:p>
          <a:p>
            <a:r>
              <a:rPr lang="en-IN" sz="2400" dirty="0"/>
              <a:t>.</a:t>
            </a:r>
          </a:p>
          <a:p>
            <a:r>
              <a:rPr lang="en-IN" sz="2400" dirty="0"/>
              <a:t>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160" y="3987000"/>
            <a:ext cx="4587840" cy="5088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860" y="5181600"/>
            <a:ext cx="6210300" cy="7715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4800" y="6248400"/>
            <a:ext cx="1917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Interference term-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0800" y="6051600"/>
            <a:ext cx="5482080" cy="8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607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1" y="152400"/>
            <a:ext cx="8872578" cy="639762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C00000"/>
                </a:solidFill>
              </a:rPr>
              <a:t>Michelson Morley Experiment- Many light 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16</a:t>
            </a:fld>
            <a:endParaRPr lang="en-IN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676400"/>
            <a:ext cx="4199866" cy="617789"/>
          </a:xfrm>
          <a:prstGeom prst="rect">
            <a:avLst/>
          </a:prstGeom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" t="25830" r="52500" b="12400"/>
          <a:stretch/>
        </p:blipFill>
        <p:spPr bwMode="auto">
          <a:xfrm>
            <a:off x="263997" y="1066800"/>
            <a:ext cx="40386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716171" y="1219200"/>
            <a:ext cx="4308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For discrete light with different wavelengths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9600" y="2716768"/>
            <a:ext cx="480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For continuous spectra with spectral density S(k)-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3200149"/>
            <a:ext cx="4320000" cy="625978"/>
          </a:xfrm>
          <a:prstGeom prst="rect">
            <a:avLst/>
          </a:prstGeom>
        </p:spPr>
      </p:pic>
      <p:grpSp>
        <p:nvGrpSpPr>
          <p:cNvPr id="21" name="Group 20"/>
          <p:cNvGrpSpPr/>
          <p:nvPr/>
        </p:nvGrpSpPr>
        <p:grpSpPr>
          <a:xfrm>
            <a:off x="5459222" y="4096306"/>
            <a:ext cx="2209800" cy="1828800"/>
            <a:chOff x="5459222" y="4096306"/>
            <a:chExt cx="2209800" cy="1828800"/>
          </a:xfrm>
        </p:grpSpPr>
        <p:pic>
          <p:nvPicPr>
            <p:cNvPr id="18" name="Picture 4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667" t="69630" r="14166" b="3416"/>
            <a:stretch/>
          </p:blipFill>
          <p:spPr bwMode="auto">
            <a:xfrm>
              <a:off x="5459222" y="4096306"/>
              <a:ext cx="2209800" cy="1828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9" name="TextBox 18"/>
            <p:cNvSpPr txBox="1"/>
            <p:nvPr/>
          </p:nvSpPr>
          <p:spPr>
            <a:xfrm>
              <a:off x="6870575" y="5246991"/>
              <a:ext cx="28886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IN" i="1" dirty="0"/>
                <a:t>k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693228" y="4257879"/>
              <a:ext cx="65114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S(</a:t>
              </a:r>
              <a:r>
                <a:rPr lang="en-IN" sz="2400" i="1" dirty="0"/>
                <a:t>k</a:t>
              </a:r>
              <a:r>
                <a:rPr lang="en-IN" sz="2400" dirty="0"/>
                <a:t>)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63997" y="5892225"/>
            <a:ext cx="51934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 err="1">
                <a:solidFill>
                  <a:srgbClr val="9933FF"/>
                </a:solidFill>
              </a:rPr>
              <a:t>Superluminescent</a:t>
            </a:r>
            <a:r>
              <a:rPr lang="en-IN" sz="3200" dirty="0">
                <a:solidFill>
                  <a:srgbClr val="9933FF"/>
                </a:solidFill>
              </a:rPr>
              <a:t> diode (SLD)</a:t>
            </a:r>
          </a:p>
        </p:txBody>
      </p:sp>
    </p:spTree>
    <p:extLst>
      <p:ext uri="{BB962C8B-B14F-4D97-AF65-F5344CB8AC3E}">
        <p14:creationId xmlns:p14="http://schemas.microsoft.com/office/powerpoint/2010/main" val="4151719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660066"/>
                </a:solidFill>
              </a:rPr>
              <a:t>Resultant intensity at the detector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457200" y="1676400"/>
            <a:ext cx="480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For continuous spectra with spectral density S(k)-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362200"/>
            <a:ext cx="4320000" cy="625978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248400" y="1447800"/>
            <a:ext cx="2209800" cy="1828800"/>
            <a:chOff x="5459222" y="4096306"/>
            <a:chExt cx="2209800" cy="1828800"/>
          </a:xfrm>
        </p:grpSpPr>
        <p:pic>
          <p:nvPicPr>
            <p:cNvPr id="8" name="Picture 4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667" t="69630" r="14166" b="3416"/>
            <a:stretch/>
          </p:blipFill>
          <p:spPr bwMode="auto">
            <a:xfrm>
              <a:off x="5459222" y="4096306"/>
              <a:ext cx="2209800" cy="1828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6870575" y="5246991"/>
              <a:ext cx="28886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IN" i="1" dirty="0"/>
                <a:t>k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93228" y="4257879"/>
              <a:ext cx="65114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S(</a:t>
              </a:r>
              <a:r>
                <a:rPr lang="en-IN" sz="2400" i="1" dirty="0"/>
                <a:t>k</a:t>
              </a:r>
              <a:r>
                <a:rPr lang="en-IN" sz="2400" dirty="0"/>
                <a:t>)</a:t>
              </a:r>
            </a:p>
          </p:txBody>
        </p:sp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29" y="3409710"/>
            <a:ext cx="8203321" cy="66462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207441"/>
            <a:ext cx="5287680" cy="10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51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31158" y="5849528"/>
            <a:ext cx="4359184" cy="8617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6481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Coherence length calculation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18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224334"/>
            <a:ext cx="4968784" cy="2459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91000"/>
            <a:ext cx="3603600" cy="52680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4353458"/>
            <a:ext cx="1911600" cy="36435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486" y="4750466"/>
            <a:ext cx="1555200" cy="68322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949753"/>
            <a:ext cx="2955000" cy="7450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44691" y="2961699"/>
            <a:ext cx="3319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rgbClr val="0000CC"/>
                </a:solidFill>
              </a:rPr>
              <a:t>l</a:t>
            </a:r>
            <a:r>
              <a:rPr lang="en-IN" b="1" baseline="-25000" dirty="0" err="1">
                <a:solidFill>
                  <a:srgbClr val="0000CC"/>
                </a:solidFill>
              </a:rPr>
              <a:t>c</a:t>
            </a:r>
            <a:r>
              <a:rPr lang="en-IN" b="1" dirty="0">
                <a:solidFill>
                  <a:srgbClr val="0000CC"/>
                </a:solidFill>
              </a:rPr>
              <a:t> is the round trip coherence length.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08" y="6018768"/>
            <a:ext cx="26245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Axial resolution=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6"/>
          <a:srcRect l="52044"/>
          <a:stretch/>
        </p:blipFill>
        <p:spPr>
          <a:xfrm>
            <a:off x="3688316" y="5871280"/>
            <a:ext cx="1417084" cy="7450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38800" y="5957212"/>
            <a:ext cx="3319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00CC"/>
                </a:solidFill>
              </a:rPr>
              <a:t>OCT is a short coherence technique.</a:t>
            </a:r>
          </a:p>
        </p:txBody>
      </p:sp>
    </p:spTree>
    <p:extLst>
      <p:ext uri="{BB962C8B-B14F-4D97-AF65-F5344CB8AC3E}">
        <p14:creationId xmlns:p14="http://schemas.microsoft.com/office/powerpoint/2010/main" val="2639320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2B683-7617-F7B0-53F1-A8AEDCBF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19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2314F4-E9DA-8BBE-D80E-0AE7A0D7D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8" t="3333" r="11481" b="14444"/>
          <a:stretch>
            <a:fillRect/>
          </a:stretch>
        </p:blipFill>
        <p:spPr>
          <a:xfrm>
            <a:off x="685800" y="609600"/>
            <a:ext cx="4191000" cy="5638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0BCEC2-96DF-12B4-3157-583F978AD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5" t="5556" r="27778" b="72222"/>
          <a:stretch>
            <a:fillRect/>
          </a:stretch>
        </p:blipFill>
        <p:spPr>
          <a:xfrm>
            <a:off x="5293489" y="4038600"/>
            <a:ext cx="3429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82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CC"/>
                </a:solidFill>
              </a:rPr>
              <a:t>Schematic diagram from literature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20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879" y="1834750"/>
            <a:ext cx="6726241" cy="452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185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2029</TotalTime>
  <Words>245</Words>
  <Application>Microsoft Office PowerPoint</Application>
  <PresentationFormat>On-screen Show (4:3)</PresentationFormat>
  <Paragraphs>59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OCT set up with fiber-optic delivery</vt:lpstr>
      <vt:lpstr>Lateral resolution calculation</vt:lpstr>
      <vt:lpstr>Numerical aperture</vt:lpstr>
      <vt:lpstr>Single slit experiment- Diffraction pattern</vt:lpstr>
      <vt:lpstr>Plots of Bessel function of the first kind</vt:lpstr>
      <vt:lpstr>Diffraction pattern- airy disc</vt:lpstr>
      <vt:lpstr>Diffraction pattern by a circular aperture light source</vt:lpstr>
      <vt:lpstr>Another illustrative figure</vt:lpstr>
      <vt:lpstr>Axial resolution calculation</vt:lpstr>
      <vt:lpstr>Michelson Morley Experiment- One light source</vt:lpstr>
      <vt:lpstr>Michelson Morley Experiment- Two light sources</vt:lpstr>
      <vt:lpstr>PowerPoint Presentation</vt:lpstr>
      <vt:lpstr>PowerPoint Presentation</vt:lpstr>
      <vt:lpstr>Michelson Morley Experiment- Many light sources</vt:lpstr>
      <vt:lpstr>Michelson Morley Experiment- Many light sources</vt:lpstr>
      <vt:lpstr>Resultant intensity at the detector</vt:lpstr>
      <vt:lpstr>Coherence length calculation</vt:lpstr>
      <vt:lpstr>PowerPoint Presentation</vt:lpstr>
      <vt:lpstr>Schematic diagram from literature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 of MRI</dc:title>
  <dc:creator>Ratan</dc:creator>
  <cp:lastModifiedBy>Ratan Saha</cp:lastModifiedBy>
  <cp:revision>110</cp:revision>
  <dcterms:created xsi:type="dcterms:W3CDTF">2016-04-04T22:58:38Z</dcterms:created>
  <dcterms:modified xsi:type="dcterms:W3CDTF">2026-04-17T07:07:58Z</dcterms:modified>
</cp:coreProperties>
</file>