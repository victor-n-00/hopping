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333" r:id="rId2"/>
    <p:sldId id="291" r:id="rId3"/>
    <p:sldId id="309" r:id="rId4"/>
    <p:sldId id="323" r:id="rId5"/>
    <p:sldId id="340" r:id="rId6"/>
    <p:sldId id="364" r:id="rId7"/>
    <p:sldId id="363" r:id="rId8"/>
    <p:sldId id="341" r:id="rId9"/>
    <p:sldId id="354" r:id="rId10"/>
    <p:sldId id="355" r:id="rId11"/>
    <p:sldId id="357" r:id="rId12"/>
    <p:sldId id="359" r:id="rId13"/>
    <p:sldId id="358" r:id="rId14"/>
    <p:sldId id="360" r:id="rId15"/>
    <p:sldId id="368" r:id="rId16"/>
    <p:sldId id="365" r:id="rId17"/>
    <p:sldId id="361" r:id="rId18"/>
    <p:sldId id="320" r:id="rId19"/>
    <p:sldId id="322" r:id="rId20"/>
    <p:sldId id="321" r:id="rId21"/>
    <p:sldId id="366" r:id="rId22"/>
    <p:sldId id="352" r:id="rId23"/>
    <p:sldId id="350" r:id="rId24"/>
    <p:sldId id="353" r:id="rId25"/>
    <p:sldId id="351" r:id="rId26"/>
    <p:sldId id="367" r:id="rId27"/>
    <p:sldId id="256" r:id="rId28"/>
    <p:sldId id="266" r:id="rId29"/>
    <p:sldId id="262" r:id="rId30"/>
    <p:sldId id="259" r:id="rId31"/>
    <p:sldId id="263" r:id="rId32"/>
    <p:sldId id="264" r:id="rId33"/>
    <p:sldId id="348" r:id="rId34"/>
    <p:sldId id="268" r:id="rId35"/>
    <p:sldId id="265" r:id="rId36"/>
    <p:sldId id="269" r:id="rId37"/>
    <p:sldId id="25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E936FD-7219-48C6-86FB-C390A50A59E4}">
          <p14:sldIdLst>
            <p14:sldId id="333"/>
            <p14:sldId id="291"/>
            <p14:sldId id="309"/>
            <p14:sldId id="323"/>
            <p14:sldId id="340"/>
            <p14:sldId id="364"/>
            <p14:sldId id="363"/>
            <p14:sldId id="341"/>
            <p14:sldId id="354"/>
            <p14:sldId id="355"/>
            <p14:sldId id="357"/>
            <p14:sldId id="359"/>
            <p14:sldId id="358"/>
            <p14:sldId id="360"/>
            <p14:sldId id="368"/>
            <p14:sldId id="365"/>
            <p14:sldId id="361"/>
            <p14:sldId id="320"/>
            <p14:sldId id="322"/>
            <p14:sldId id="321"/>
            <p14:sldId id="366"/>
            <p14:sldId id="352"/>
            <p14:sldId id="350"/>
            <p14:sldId id="353"/>
            <p14:sldId id="351"/>
            <p14:sldId id="367"/>
            <p14:sldId id="256"/>
            <p14:sldId id="266"/>
            <p14:sldId id="262"/>
            <p14:sldId id="259"/>
            <p14:sldId id="263"/>
            <p14:sldId id="264"/>
            <p14:sldId id="348"/>
            <p14:sldId id="268"/>
            <p14:sldId id="265"/>
            <p14:sldId id="269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CC"/>
    <a:srgbClr val="D60093"/>
    <a:srgbClr val="008000"/>
    <a:srgbClr val="CC6600"/>
    <a:srgbClr val="660066"/>
    <a:srgbClr val="CC0066"/>
    <a:srgbClr val="666633"/>
    <a:srgbClr val="CC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11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5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6B50-0230-47E8-A864-FB968740FB5D}" type="datetimeFigureOut">
              <a:rPr lang="en-IN" smtClean="0"/>
              <a:pPr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867D5-5CCD-4A59-AD28-D7646AD6612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8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61A88-D572-46B1-8C77-2EFAB0BF791F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6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A3F7-17BD-4EFB-A853-97FA038F6B25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C5F7-35F7-4A9C-9948-7B585CD8076E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6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87A2-9B49-44FE-B449-910C21388DFA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5A10-5F5B-4CB5-A1F7-2E76CF8FD6A3}" type="datetime1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72FD6-1062-4A45-9F63-E760E58F1350}" type="datetime1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84B2-720A-4716-9F22-AFB6B299E210}" type="datetime1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9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3B6AD-5E7F-4405-B570-B820C5597400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1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787F-E7A3-42F4-B885-81C2E86CE6C0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0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A1EC-8107-44E2-8915-127441F38C21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4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DBDA-1EB8-43E2-9492-874EAFEE364F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7AF36-6CA2-4B9D-83DD-A1D3083277E6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4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AFB70B-5B4D-6CDA-ABE3-5E1923C04737}"/>
              </a:ext>
            </a:extLst>
          </p:cNvPr>
          <p:cNvSpPr txBox="1">
            <a:spLocks/>
          </p:cNvSpPr>
          <p:nvPr/>
        </p:nvSpPr>
        <p:spPr>
          <a:xfrm>
            <a:off x="304800" y="1676400"/>
            <a:ext cx="8229600" cy="30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0000CC"/>
                </a:solidFill>
              </a:rPr>
              <a:t>Radon Transformation and Sinogram</a:t>
            </a:r>
          </a:p>
          <a:p>
            <a:r>
              <a:rPr lang="en-IN" dirty="0">
                <a:solidFill>
                  <a:srgbClr val="7030A0"/>
                </a:solidFill>
              </a:rPr>
              <a:t>and</a:t>
            </a:r>
          </a:p>
          <a:p>
            <a:r>
              <a:rPr lang="en-IN" dirty="0"/>
              <a:t>Fourier slice theorem </a:t>
            </a:r>
            <a:br>
              <a:rPr lang="en-IN" dirty="0">
                <a:solidFill>
                  <a:srgbClr val="0070C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or</a:t>
            </a:r>
            <a:br>
              <a:rPr lang="en-IN" dirty="0">
                <a:solidFill>
                  <a:srgbClr val="0070C0"/>
                </a:solidFill>
              </a:rPr>
            </a:br>
            <a:r>
              <a:rPr lang="en-IN" dirty="0"/>
              <a:t>Central slice theorem </a:t>
            </a:r>
            <a:br>
              <a:rPr lang="en-IN" dirty="0">
                <a:solidFill>
                  <a:srgbClr val="00800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or</a:t>
            </a:r>
            <a:br>
              <a:rPr lang="en-IN" dirty="0"/>
            </a:br>
            <a:r>
              <a:rPr lang="en-IN" dirty="0"/>
              <a:t>Projection slice theorem</a:t>
            </a:r>
          </a:p>
        </p:txBody>
      </p:sp>
    </p:spTree>
    <p:extLst>
      <p:ext uri="{BB962C8B-B14F-4D97-AF65-F5344CB8AC3E}">
        <p14:creationId xmlns:p14="http://schemas.microsoft.com/office/powerpoint/2010/main" val="161068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502"/>
            <a:ext cx="8229600" cy="712297"/>
          </a:xfrm>
        </p:spPr>
        <p:txBody>
          <a:bodyPr>
            <a:normAutofit fontScale="90000"/>
          </a:bodyPr>
          <a:lstStyle/>
          <a:p>
            <a:r>
              <a:rPr lang="en-IN" dirty="0"/>
              <a:t>X-ray CT source-detector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2050" name="Picture 2" descr="Image result for x-ray ct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385513"/>
            <a:ext cx="21907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x-ray ct mach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4" b="8260"/>
          <a:stretch/>
        </p:blipFill>
        <p:spPr bwMode="auto">
          <a:xfrm>
            <a:off x="3276600" y="1219199"/>
            <a:ext cx="5686425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5173640"/>
          <a:ext cx="6096000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2057400" y="3853060"/>
            <a:ext cx="1828800" cy="1176140"/>
          </a:xfrm>
          <a:prstGeom prst="straightConnector1">
            <a:avLst/>
          </a:prstGeom>
          <a:ln w="317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962400" y="4114800"/>
            <a:ext cx="1113545" cy="921621"/>
          </a:xfrm>
          <a:prstGeom prst="straightConnector1">
            <a:avLst/>
          </a:prstGeom>
          <a:ln w="317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7EB22C-171E-568F-0702-581B4EF4BC4F}"/>
              </a:ext>
            </a:extLst>
          </p:cNvPr>
          <p:cNvSpPr txBox="1"/>
          <p:nvPr/>
        </p:nvSpPr>
        <p:spPr>
          <a:xfrm>
            <a:off x="1019526" y="5948221"/>
            <a:ext cx="6999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Scintillation detector- convert X-ray photon into visible-light photon and then into electrical signal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60844-8A51-6DCD-E325-2406138D62EF}"/>
              </a:ext>
            </a:extLst>
          </p:cNvPr>
          <p:cNvSpPr txBox="1"/>
          <p:nvPr/>
        </p:nvSpPr>
        <p:spPr>
          <a:xfrm>
            <a:off x="3585133" y="5364161"/>
            <a:ext cx="186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Array of detectors</a:t>
            </a:r>
          </a:p>
        </p:txBody>
      </p:sp>
    </p:spTree>
    <p:extLst>
      <p:ext uri="{BB962C8B-B14F-4D97-AF65-F5344CB8AC3E}">
        <p14:creationId xmlns:p14="http://schemas.microsoft.com/office/powerpoint/2010/main" val="280336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660066"/>
                </a:solidFill>
              </a:rPr>
              <a:t>Measurement setup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Image result for backprojection algorithm in C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7"/>
          <a:stretch/>
        </p:blipFill>
        <p:spPr bwMode="auto">
          <a:xfrm>
            <a:off x="2781300" y="2095978"/>
            <a:ext cx="3581400" cy="300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 rot="3600000">
            <a:off x="3399023" y="1646423"/>
            <a:ext cx="304800" cy="1440000"/>
            <a:chOff x="990600" y="2209800"/>
            <a:chExt cx="304800" cy="19812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990600" y="2209800"/>
              <a:ext cx="0" cy="1981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990600" y="22098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990600" y="25146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990600" y="28194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990600" y="31242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990600" y="35052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990600" y="3810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990600" y="4191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514600" y="3048000"/>
            <a:ext cx="304800" cy="1440000"/>
            <a:chOff x="990600" y="2209800"/>
            <a:chExt cx="304800" cy="19812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990600" y="2209800"/>
              <a:ext cx="0" cy="1981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90600" y="22098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990600" y="25146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990600" y="28194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90600" y="31242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90600" y="3505199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990600" y="3810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990600" y="4191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 rot="-3360000">
            <a:off x="3370787" y="4410100"/>
            <a:ext cx="304800" cy="1440000"/>
            <a:chOff x="990600" y="2209800"/>
            <a:chExt cx="304800" cy="19812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990600" y="2209800"/>
              <a:ext cx="0" cy="1981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990600" y="22098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990600" y="25146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990600" y="28194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990600" y="31242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990600" y="3505199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990600" y="3810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90600" y="4191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 rot="16200000">
            <a:off x="698430" y="3487186"/>
            <a:ext cx="186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Array of detectors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809528" y="4601135"/>
            <a:ext cx="884350" cy="12388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1769052" y="2609176"/>
            <a:ext cx="972790" cy="20556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739085" y="3712615"/>
            <a:ext cx="747262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4620" y="5835075"/>
            <a:ext cx="2629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What are </a:t>
            </a:r>
            <a:r>
              <a:rPr lang="en-IN"/>
              <a:t>array detectors?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53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6705600" cy="85990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Equation of a straight line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4</a:t>
            </a:fld>
            <a:endParaRPr lang="en-IN"/>
          </a:p>
        </p:txBody>
      </p:sp>
      <p:grpSp>
        <p:nvGrpSpPr>
          <p:cNvPr id="39" name="Group 38"/>
          <p:cNvGrpSpPr/>
          <p:nvPr/>
        </p:nvGrpSpPr>
        <p:grpSpPr>
          <a:xfrm>
            <a:off x="4876800" y="1244546"/>
            <a:ext cx="3985715" cy="3317381"/>
            <a:chOff x="4876800" y="1244546"/>
            <a:chExt cx="3985715" cy="3317381"/>
          </a:xfrm>
        </p:grpSpPr>
        <p:sp>
          <p:nvSpPr>
            <p:cNvPr id="25" name="TextBox 24"/>
            <p:cNvSpPr txBox="1"/>
            <p:nvPr/>
          </p:nvSpPr>
          <p:spPr>
            <a:xfrm>
              <a:off x="5052737" y="1912340"/>
              <a:ext cx="10886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OA = a</a:t>
              </a:r>
            </a:p>
            <a:p>
              <a:r>
                <a:rPr lang="en-IN" dirty="0"/>
                <a:t>OB = b</a:t>
              </a:r>
            </a:p>
            <a:p>
              <a:r>
                <a:rPr lang="en-IN" dirty="0"/>
                <a:t>OQ = s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876800" y="1244546"/>
              <a:ext cx="3985715" cy="3317381"/>
              <a:chOff x="2933700" y="1254619"/>
              <a:chExt cx="3985715" cy="3317381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2933700" y="3124200"/>
                <a:ext cx="35814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4724400" y="1600200"/>
                <a:ext cx="0" cy="2971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4380624" y="3124200"/>
                <a:ext cx="336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553200" y="3124200"/>
                <a:ext cx="36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x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414743" y="1254619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y</a:t>
                </a: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4578347" y="1828800"/>
                <a:ext cx="1470700" cy="15240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4724400" y="2590800"/>
                <a:ext cx="589297" cy="533400"/>
              </a:xfrm>
              <a:prstGeom prst="line">
                <a:avLst/>
              </a:prstGeom>
              <a:ln w="22225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040981" y="2734988"/>
                <a:ext cx="36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φ</a:t>
                </a:r>
                <a:endParaRPr lang="en-IN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278272" y="2265402"/>
                <a:ext cx="36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Q</a:t>
                </a:r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954137" y="2893325"/>
                <a:ext cx="95535" cy="245660"/>
              </a:xfrm>
              <a:custGeom>
                <a:avLst/>
                <a:gdLst>
                  <a:gd name="connsiteX0" fmla="*/ 0 w 95535"/>
                  <a:gd name="connsiteY0" fmla="*/ 0 h 245660"/>
                  <a:gd name="connsiteX1" fmla="*/ 68239 w 95535"/>
                  <a:gd name="connsiteY1" fmla="*/ 109182 h 245660"/>
                  <a:gd name="connsiteX2" fmla="*/ 95535 w 95535"/>
                  <a:gd name="connsiteY2" fmla="*/ 245660 h 245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535" h="245660">
                    <a:moveTo>
                      <a:pt x="0" y="0"/>
                    </a:moveTo>
                    <a:cubicBezTo>
                      <a:pt x="26158" y="34119"/>
                      <a:pt x="52317" y="68239"/>
                      <a:pt x="68239" y="109182"/>
                    </a:cubicBezTo>
                    <a:cubicBezTo>
                      <a:pt x="84161" y="150125"/>
                      <a:pt x="89848" y="197892"/>
                      <a:pt x="95535" y="24566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614593" y="3133112"/>
                <a:ext cx="36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A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333369" y="1864219"/>
                <a:ext cx="36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B</a:t>
                </a:r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6780501" y="2478095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24562" y="1289398"/>
            <a:ext cx="3017590" cy="1517085"/>
            <a:chOff x="424562" y="1289398"/>
            <a:chExt cx="3017590" cy="1517085"/>
          </a:xfrm>
        </p:grpSpPr>
        <p:sp>
          <p:nvSpPr>
            <p:cNvPr id="37" name="Title 1"/>
            <p:cNvSpPr txBox="1">
              <a:spLocks/>
            </p:cNvSpPr>
            <p:nvPr/>
          </p:nvSpPr>
          <p:spPr>
            <a:xfrm>
              <a:off x="528034" y="1289398"/>
              <a:ext cx="2405741" cy="571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Equation of AB-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424562" y="1870046"/>
              <a:ext cx="3017590" cy="936437"/>
              <a:chOff x="588919" y="2537863"/>
              <a:chExt cx="3017590" cy="936437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8919" y="2537863"/>
                <a:ext cx="1740398" cy="936437"/>
              </a:xfrm>
              <a:prstGeom prst="rect">
                <a:avLst/>
              </a:prstGeom>
            </p:spPr>
          </p:pic>
          <p:sp>
            <p:nvSpPr>
              <p:cNvPr id="43" name="TextBox 42"/>
              <p:cNvSpPr txBox="1"/>
              <p:nvPr/>
            </p:nvSpPr>
            <p:spPr>
              <a:xfrm>
                <a:off x="2100969" y="2693779"/>
                <a:ext cx="1505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………………. (1)</a:t>
                </a: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466585" y="3264436"/>
            <a:ext cx="3649931" cy="1154483"/>
            <a:chOff x="466585" y="3264436"/>
            <a:chExt cx="3649931" cy="1154483"/>
          </a:xfrm>
        </p:grpSpPr>
        <p:grpSp>
          <p:nvGrpSpPr>
            <p:cNvPr id="46" name="Group 45"/>
            <p:cNvGrpSpPr/>
            <p:nvPr/>
          </p:nvGrpSpPr>
          <p:grpSpPr>
            <a:xfrm>
              <a:off x="686155" y="3772588"/>
              <a:ext cx="2863317" cy="646331"/>
              <a:chOff x="732663" y="3915571"/>
              <a:chExt cx="2863317" cy="646331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732663" y="3915571"/>
                <a:ext cx="13589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 = a </a:t>
                </a:r>
                <a:r>
                  <a:rPr lang="en-IN" dirty="0" err="1"/>
                  <a:t>cos</a:t>
                </a:r>
                <a:r>
                  <a:rPr lang="en-IN" dirty="0"/>
                  <a:t> (</a:t>
                </a:r>
                <a:r>
                  <a:rPr lang="el-GR" dirty="0"/>
                  <a:t>φ</a:t>
                </a:r>
                <a:r>
                  <a:rPr lang="en-IN" dirty="0"/>
                  <a:t>)</a:t>
                </a:r>
              </a:p>
              <a:p>
                <a:r>
                  <a:rPr lang="en-IN" dirty="0"/>
                  <a:t>s = b sin (</a:t>
                </a:r>
                <a:r>
                  <a:rPr lang="el-GR" dirty="0"/>
                  <a:t>φ</a:t>
                </a:r>
                <a:r>
                  <a:rPr lang="en-IN" dirty="0"/>
                  <a:t>)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090440" y="4054070"/>
                <a:ext cx="1505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………………. (2)</a:t>
                </a:r>
              </a:p>
            </p:txBody>
          </p:sp>
        </p:grpSp>
        <p:sp>
          <p:nvSpPr>
            <p:cNvPr id="49" name="Title 1"/>
            <p:cNvSpPr txBox="1">
              <a:spLocks/>
            </p:cNvSpPr>
            <p:nvPr/>
          </p:nvSpPr>
          <p:spPr>
            <a:xfrm>
              <a:off x="466585" y="3264436"/>
              <a:ext cx="3649931" cy="571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625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Express a and b in terms of s and </a:t>
              </a:r>
              <a:r>
                <a:rPr lang="el-GR" sz="2800" dirty="0"/>
                <a:t>φ</a:t>
              </a:r>
              <a:r>
                <a:rPr lang="en-IN" sz="2800" dirty="0"/>
                <a:t> 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24562" y="4777226"/>
            <a:ext cx="4637274" cy="1350260"/>
            <a:chOff x="424562" y="4777226"/>
            <a:chExt cx="4637274" cy="1350260"/>
          </a:xfrm>
        </p:grpSpPr>
        <p:grpSp>
          <p:nvGrpSpPr>
            <p:cNvPr id="47" name="Group 46"/>
            <p:cNvGrpSpPr/>
            <p:nvPr/>
          </p:nvGrpSpPr>
          <p:grpSpPr>
            <a:xfrm>
              <a:off x="466585" y="5213086"/>
              <a:ext cx="4595251" cy="914400"/>
              <a:chOff x="621802" y="5242425"/>
              <a:chExt cx="4595251" cy="914400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802" y="5242425"/>
                <a:ext cx="3087436" cy="914400"/>
              </a:xfrm>
              <a:prstGeom prst="rect">
                <a:avLst/>
              </a:prstGeom>
            </p:spPr>
          </p:pic>
          <p:sp>
            <p:nvSpPr>
              <p:cNvPr id="45" name="TextBox 44"/>
              <p:cNvSpPr txBox="1"/>
              <p:nvPr/>
            </p:nvSpPr>
            <p:spPr>
              <a:xfrm>
                <a:off x="3711513" y="5460367"/>
                <a:ext cx="1505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………………. (3)</a:t>
                </a:r>
              </a:p>
            </p:txBody>
          </p:sp>
        </p:grpSp>
        <p:sp>
          <p:nvSpPr>
            <p:cNvPr id="50" name="Title 1"/>
            <p:cNvSpPr txBox="1">
              <a:spLocks/>
            </p:cNvSpPr>
            <p:nvPr/>
          </p:nvSpPr>
          <p:spPr>
            <a:xfrm>
              <a:off x="424562" y="4777226"/>
              <a:ext cx="3649931" cy="571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Now Eq. (1) becomes</a:t>
              </a:r>
            </a:p>
          </p:txBody>
        </p:sp>
      </p:grpSp>
      <p:sp>
        <p:nvSpPr>
          <p:cNvPr id="35" name="Oval 34"/>
          <p:cNvSpPr>
            <a:spLocks noChangeAspect="1"/>
          </p:cNvSpPr>
          <p:nvPr/>
        </p:nvSpPr>
        <p:spPr>
          <a:xfrm>
            <a:off x="6718296" y="2046925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6934566" y="2242105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7425076" y="2742368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>
            <a:off x="7600942" y="2951061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684792" y="166153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33493" y="195212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45949" y="249390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5091" y="276639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89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47" y="0"/>
            <a:ext cx="5960253" cy="792162"/>
          </a:xfrm>
        </p:spPr>
        <p:txBody>
          <a:bodyPr>
            <a:normAutofit/>
          </a:bodyPr>
          <a:lstStyle/>
          <a:p>
            <a:r>
              <a:rPr lang="en-IN" u="sng" dirty="0"/>
              <a:t>Radon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5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971800" y="3164981"/>
            <a:ext cx="3581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762500" y="1640981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8724" y="316498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164981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2843" y="1295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2693" y="3173893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1469" y="1905000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7894347" y="1462075"/>
            <a:ext cx="0" cy="29967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463502" y="1717731"/>
            <a:ext cx="2857615" cy="2421522"/>
          </a:xfrm>
          <a:custGeom>
            <a:avLst/>
            <a:gdLst>
              <a:gd name="connsiteX0" fmla="*/ 1313214 w 2857615"/>
              <a:gd name="connsiteY0" fmla="*/ 1887 h 2421522"/>
              <a:gd name="connsiteX1" fmla="*/ 767304 w 2857615"/>
              <a:gd name="connsiteY1" fmla="*/ 152012 h 2421522"/>
              <a:gd name="connsiteX2" fmla="*/ 16677 w 2857615"/>
              <a:gd name="connsiteY2" fmla="*/ 616036 h 2421522"/>
              <a:gd name="connsiteX3" fmla="*/ 235041 w 2857615"/>
              <a:gd name="connsiteY3" fmla="*/ 1121003 h 2421522"/>
              <a:gd name="connsiteX4" fmla="*/ 98564 w 2857615"/>
              <a:gd name="connsiteY4" fmla="*/ 1639618 h 2421522"/>
              <a:gd name="connsiteX5" fmla="*/ 576235 w 2857615"/>
              <a:gd name="connsiteY5" fmla="*/ 2089994 h 2421522"/>
              <a:gd name="connsiteX6" fmla="*/ 1122146 w 2857615"/>
              <a:gd name="connsiteY6" fmla="*/ 2171881 h 2421522"/>
              <a:gd name="connsiteX7" fmla="*/ 1599817 w 2857615"/>
              <a:gd name="connsiteY7" fmla="*/ 2376597 h 2421522"/>
              <a:gd name="connsiteX8" fmla="*/ 2091137 w 2857615"/>
              <a:gd name="connsiteY8" fmla="*/ 2390245 h 2421522"/>
              <a:gd name="connsiteX9" fmla="*/ 2514217 w 2857615"/>
              <a:gd name="connsiteY9" fmla="*/ 2021756 h 2421522"/>
              <a:gd name="connsiteX10" fmla="*/ 2691638 w 2857615"/>
              <a:gd name="connsiteY10" fmla="*/ 1612323 h 2421522"/>
              <a:gd name="connsiteX11" fmla="*/ 2855411 w 2857615"/>
              <a:gd name="connsiteY11" fmla="*/ 1161947 h 2421522"/>
              <a:gd name="connsiteX12" fmla="*/ 2568808 w 2857615"/>
              <a:gd name="connsiteY12" fmla="*/ 875344 h 2421522"/>
              <a:gd name="connsiteX13" fmla="*/ 2445979 w 2857615"/>
              <a:gd name="connsiteY13" fmla="*/ 452263 h 2421522"/>
              <a:gd name="connsiteX14" fmla="*/ 1913716 w 2857615"/>
              <a:gd name="connsiteY14" fmla="*/ 233899 h 2421522"/>
              <a:gd name="connsiteX15" fmla="*/ 1313214 w 2857615"/>
              <a:gd name="connsiteY15" fmla="*/ 1887 h 24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7615" h="2421522">
                <a:moveTo>
                  <a:pt x="1313214" y="1887"/>
                </a:moveTo>
                <a:cubicBezTo>
                  <a:pt x="1122145" y="-11761"/>
                  <a:pt x="983393" y="49654"/>
                  <a:pt x="767304" y="152012"/>
                </a:cubicBezTo>
                <a:cubicBezTo>
                  <a:pt x="551214" y="254370"/>
                  <a:pt x="105387" y="454538"/>
                  <a:pt x="16677" y="616036"/>
                </a:cubicBezTo>
                <a:cubicBezTo>
                  <a:pt x="-72033" y="777534"/>
                  <a:pt x="221393" y="950406"/>
                  <a:pt x="235041" y="1121003"/>
                </a:cubicBezTo>
                <a:cubicBezTo>
                  <a:pt x="248689" y="1291600"/>
                  <a:pt x="41698" y="1478120"/>
                  <a:pt x="98564" y="1639618"/>
                </a:cubicBezTo>
                <a:cubicBezTo>
                  <a:pt x="155430" y="1801116"/>
                  <a:pt x="405638" y="2001284"/>
                  <a:pt x="576235" y="2089994"/>
                </a:cubicBezTo>
                <a:cubicBezTo>
                  <a:pt x="746832" y="2178705"/>
                  <a:pt x="951549" y="2124114"/>
                  <a:pt x="1122146" y="2171881"/>
                </a:cubicBezTo>
                <a:cubicBezTo>
                  <a:pt x="1292743" y="2219648"/>
                  <a:pt x="1438319" y="2340203"/>
                  <a:pt x="1599817" y="2376597"/>
                </a:cubicBezTo>
                <a:cubicBezTo>
                  <a:pt x="1761315" y="2412991"/>
                  <a:pt x="1938737" y="2449385"/>
                  <a:pt x="2091137" y="2390245"/>
                </a:cubicBezTo>
                <a:cubicBezTo>
                  <a:pt x="2243537" y="2331105"/>
                  <a:pt x="2414134" y="2151410"/>
                  <a:pt x="2514217" y="2021756"/>
                </a:cubicBezTo>
                <a:cubicBezTo>
                  <a:pt x="2614300" y="1892102"/>
                  <a:pt x="2634772" y="1755624"/>
                  <a:pt x="2691638" y="1612323"/>
                </a:cubicBezTo>
                <a:cubicBezTo>
                  <a:pt x="2748504" y="1469022"/>
                  <a:pt x="2875883" y="1284777"/>
                  <a:pt x="2855411" y="1161947"/>
                </a:cubicBezTo>
                <a:cubicBezTo>
                  <a:pt x="2834939" y="1039117"/>
                  <a:pt x="2637047" y="993625"/>
                  <a:pt x="2568808" y="875344"/>
                </a:cubicBezTo>
                <a:cubicBezTo>
                  <a:pt x="2500569" y="757063"/>
                  <a:pt x="2555161" y="559170"/>
                  <a:pt x="2445979" y="452263"/>
                </a:cubicBezTo>
                <a:cubicBezTo>
                  <a:pt x="2336797" y="345356"/>
                  <a:pt x="2104785" y="306687"/>
                  <a:pt x="1913716" y="233899"/>
                </a:cubicBezTo>
                <a:cubicBezTo>
                  <a:pt x="1722647" y="161111"/>
                  <a:pt x="1504283" y="15535"/>
                  <a:pt x="1313214" y="188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7701715" y="2344302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783" y="429521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g(x, y)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3872308" y="3846244"/>
            <a:ext cx="292589" cy="4992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6EF912-74DA-5EA5-CAFA-0759E7C8488E}"/>
              </a:ext>
            </a:extLst>
          </p:cNvPr>
          <p:cNvGrpSpPr/>
          <p:nvPr/>
        </p:nvGrpSpPr>
        <p:grpSpPr>
          <a:xfrm>
            <a:off x="1505590" y="2409628"/>
            <a:ext cx="6415029" cy="152400"/>
            <a:chOff x="1505590" y="2409628"/>
            <a:chExt cx="6415029" cy="152400"/>
          </a:xfrm>
        </p:grpSpPr>
        <p:cxnSp>
          <p:nvCxnSpPr>
            <p:cNvPr id="14" name="Straight Connector 13"/>
            <p:cNvCxnSpPr>
              <a:cxnSpLocks/>
            </p:cNvCxnSpPr>
            <p:nvPr/>
          </p:nvCxnSpPr>
          <p:spPr>
            <a:xfrm flipV="1">
              <a:off x="3465998" y="2479181"/>
              <a:ext cx="2552910" cy="468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 rot="16200000">
              <a:off x="7743389" y="2384797"/>
              <a:ext cx="152400" cy="20206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9" name="Straight Arrow Connector 48"/>
            <p:cNvCxnSpPr>
              <a:cxnSpLocks/>
            </p:cNvCxnSpPr>
            <p:nvPr/>
          </p:nvCxnSpPr>
          <p:spPr>
            <a:xfrm>
              <a:off x="6452702" y="2472478"/>
              <a:ext cx="837888" cy="12116"/>
            </a:xfrm>
            <a:prstGeom prst="straightConnector1">
              <a:avLst/>
            </a:prstGeom>
            <a:ln w="22225">
              <a:solidFill>
                <a:srgbClr val="C00000"/>
              </a:solidFill>
              <a:prstDash val="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cxnSpLocks/>
            </p:cNvCxnSpPr>
            <p:nvPr/>
          </p:nvCxnSpPr>
          <p:spPr>
            <a:xfrm>
              <a:off x="1505590" y="2448902"/>
              <a:ext cx="818422" cy="8119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3743142" y="2433711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4054619" y="2438199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4346980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4703289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5054574" y="2438400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C6A9C1-B881-F649-891A-3B8AAA0BF5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2719" y="2448902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DBD8957-1011-AEA8-2F9B-CE00B99C8DFB}"/>
              </a:ext>
            </a:extLst>
          </p:cNvPr>
          <p:cNvSpPr txBox="1"/>
          <p:nvPr/>
        </p:nvSpPr>
        <p:spPr>
          <a:xfrm rot="16200000">
            <a:off x="7801071" y="3401699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Detector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15A663-9731-2D8D-A14E-088199918314}"/>
              </a:ext>
            </a:extLst>
          </p:cNvPr>
          <p:cNvGrpSpPr/>
          <p:nvPr/>
        </p:nvGrpSpPr>
        <p:grpSpPr>
          <a:xfrm>
            <a:off x="1524000" y="3467025"/>
            <a:ext cx="6415029" cy="152400"/>
            <a:chOff x="1505590" y="2409628"/>
            <a:chExt cx="6415029" cy="1524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1B15BF5-E5E2-B291-76DC-763DB0059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5998" y="2479181"/>
              <a:ext cx="2552910" cy="468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200DD9-9758-6E91-168E-71B7B4CA71D1}"/>
                </a:ext>
              </a:extLst>
            </p:cNvPr>
            <p:cNvSpPr/>
            <p:nvPr/>
          </p:nvSpPr>
          <p:spPr>
            <a:xfrm rot="16200000">
              <a:off x="7743389" y="2384797"/>
              <a:ext cx="152400" cy="20206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2E5BC74-989C-C21E-2DC2-82969DBACCD0}"/>
                </a:ext>
              </a:extLst>
            </p:cNvPr>
            <p:cNvCxnSpPr>
              <a:cxnSpLocks/>
            </p:cNvCxnSpPr>
            <p:nvPr/>
          </p:nvCxnSpPr>
          <p:spPr>
            <a:xfrm>
              <a:off x="6452702" y="2472478"/>
              <a:ext cx="837888" cy="12116"/>
            </a:xfrm>
            <a:prstGeom prst="straightConnector1">
              <a:avLst/>
            </a:prstGeom>
            <a:ln w="22225">
              <a:solidFill>
                <a:srgbClr val="C00000"/>
              </a:solidFill>
              <a:prstDash val="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CB8A39D-D7A7-6EB8-B10A-2BF07B2A2367}"/>
                </a:ext>
              </a:extLst>
            </p:cNvPr>
            <p:cNvCxnSpPr>
              <a:cxnSpLocks/>
            </p:cNvCxnSpPr>
            <p:nvPr/>
          </p:nvCxnSpPr>
          <p:spPr>
            <a:xfrm>
              <a:off x="1505590" y="2448902"/>
              <a:ext cx="818422" cy="8119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C09EBC4-A14E-B654-87F0-4B061ADAF3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142" y="2433711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F1C3E0B-FA57-22F7-A82F-08C215CB4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54619" y="2438199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31894C2-CA0B-E419-D099-0BB9F5F769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6980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2A244EF-8D57-3A40-0D9E-E88F1A2113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03289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CB49DDF-3039-2F46-6D89-1B0497758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54574" y="2438400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FE8A664-87C3-CABD-3F42-3977903F8F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2719" y="2448902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0387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47" y="0"/>
            <a:ext cx="5960253" cy="792162"/>
          </a:xfrm>
        </p:spPr>
        <p:txBody>
          <a:bodyPr>
            <a:normAutofit/>
          </a:bodyPr>
          <a:lstStyle/>
          <a:p>
            <a:r>
              <a:rPr lang="en-IN" u="sng" dirty="0"/>
              <a:t>Radon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6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971800" y="3164981"/>
            <a:ext cx="3581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762500" y="1640981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8724" y="316498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164981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2843" y="1295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2693" y="3173893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1469" y="1905000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7038967" y="3327685"/>
            <a:ext cx="1203376" cy="2496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463502" y="1717731"/>
            <a:ext cx="2857615" cy="2421522"/>
          </a:xfrm>
          <a:custGeom>
            <a:avLst/>
            <a:gdLst>
              <a:gd name="connsiteX0" fmla="*/ 1313214 w 2857615"/>
              <a:gd name="connsiteY0" fmla="*/ 1887 h 2421522"/>
              <a:gd name="connsiteX1" fmla="*/ 767304 w 2857615"/>
              <a:gd name="connsiteY1" fmla="*/ 152012 h 2421522"/>
              <a:gd name="connsiteX2" fmla="*/ 16677 w 2857615"/>
              <a:gd name="connsiteY2" fmla="*/ 616036 h 2421522"/>
              <a:gd name="connsiteX3" fmla="*/ 235041 w 2857615"/>
              <a:gd name="connsiteY3" fmla="*/ 1121003 h 2421522"/>
              <a:gd name="connsiteX4" fmla="*/ 98564 w 2857615"/>
              <a:gd name="connsiteY4" fmla="*/ 1639618 h 2421522"/>
              <a:gd name="connsiteX5" fmla="*/ 576235 w 2857615"/>
              <a:gd name="connsiteY5" fmla="*/ 2089994 h 2421522"/>
              <a:gd name="connsiteX6" fmla="*/ 1122146 w 2857615"/>
              <a:gd name="connsiteY6" fmla="*/ 2171881 h 2421522"/>
              <a:gd name="connsiteX7" fmla="*/ 1599817 w 2857615"/>
              <a:gd name="connsiteY7" fmla="*/ 2376597 h 2421522"/>
              <a:gd name="connsiteX8" fmla="*/ 2091137 w 2857615"/>
              <a:gd name="connsiteY8" fmla="*/ 2390245 h 2421522"/>
              <a:gd name="connsiteX9" fmla="*/ 2514217 w 2857615"/>
              <a:gd name="connsiteY9" fmla="*/ 2021756 h 2421522"/>
              <a:gd name="connsiteX10" fmla="*/ 2691638 w 2857615"/>
              <a:gd name="connsiteY10" fmla="*/ 1612323 h 2421522"/>
              <a:gd name="connsiteX11" fmla="*/ 2855411 w 2857615"/>
              <a:gd name="connsiteY11" fmla="*/ 1161947 h 2421522"/>
              <a:gd name="connsiteX12" fmla="*/ 2568808 w 2857615"/>
              <a:gd name="connsiteY12" fmla="*/ 875344 h 2421522"/>
              <a:gd name="connsiteX13" fmla="*/ 2445979 w 2857615"/>
              <a:gd name="connsiteY13" fmla="*/ 452263 h 2421522"/>
              <a:gd name="connsiteX14" fmla="*/ 1913716 w 2857615"/>
              <a:gd name="connsiteY14" fmla="*/ 233899 h 2421522"/>
              <a:gd name="connsiteX15" fmla="*/ 1313214 w 2857615"/>
              <a:gd name="connsiteY15" fmla="*/ 1887 h 24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7615" h="2421522">
                <a:moveTo>
                  <a:pt x="1313214" y="1887"/>
                </a:moveTo>
                <a:cubicBezTo>
                  <a:pt x="1122145" y="-11761"/>
                  <a:pt x="983393" y="49654"/>
                  <a:pt x="767304" y="152012"/>
                </a:cubicBezTo>
                <a:cubicBezTo>
                  <a:pt x="551214" y="254370"/>
                  <a:pt x="105387" y="454538"/>
                  <a:pt x="16677" y="616036"/>
                </a:cubicBezTo>
                <a:cubicBezTo>
                  <a:pt x="-72033" y="777534"/>
                  <a:pt x="221393" y="950406"/>
                  <a:pt x="235041" y="1121003"/>
                </a:cubicBezTo>
                <a:cubicBezTo>
                  <a:pt x="248689" y="1291600"/>
                  <a:pt x="41698" y="1478120"/>
                  <a:pt x="98564" y="1639618"/>
                </a:cubicBezTo>
                <a:cubicBezTo>
                  <a:pt x="155430" y="1801116"/>
                  <a:pt x="405638" y="2001284"/>
                  <a:pt x="576235" y="2089994"/>
                </a:cubicBezTo>
                <a:cubicBezTo>
                  <a:pt x="746832" y="2178705"/>
                  <a:pt x="951549" y="2124114"/>
                  <a:pt x="1122146" y="2171881"/>
                </a:cubicBezTo>
                <a:cubicBezTo>
                  <a:pt x="1292743" y="2219648"/>
                  <a:pt x="1438319" y="2340203"/>
                  <a:pt x="1599817" y="2376597"/>
                </a:cubicBezTo>
                <a:cubicBezTo>
                  <a:pt x="1761315" y="2412991"/>
                  <a:pt x="1938737" y="2449385"/>
                  <a:pt x="2091137" y="2390245"/>
                </a:cubicBezTo>
                <a:cubicBezTo>
                  <a:pt x="2243537" y="2331105"/>
                  <a:pt x="2414134" y="2151410"/>
                  <a:pt x="2514217" y="2021756"/>
                </a:cubicBezTo>
                <a:cubicBezTo>
                  <a:pt x="2614300" y="1892102"/>
                  <a:pt x="2634772" y="1755624"/>
                  <a:pt x="2691638" y="1612323"/>
                </a:cubicBezTo>
                <a:cubicBezTo>
                  <a:pt x="2748504" y="1469022"/>
                  <a:pt x="2875883" y="1284777"/>
                  <a:pt x="2855411" y="1161947"/>
                </a:cubicBezTo>
                <a:cubicBezTo>
                  <a:pt x="2834939" y="1039117"/>
                  <a:pt x="2637047" y="993625"/>
                  <a:pt x="2568808" y="875344"/>
                </a:cubicBezTo>
                <a:cubicBezTo>
                  <a:pt x="2500569" y="757063"/>
                  <a:pt x="2555161" y="559170"/>
                  <a:pt x="2445979" y="452263"/>
                </a:cubicBezTo>
                <a:cubicBezTo>
                  <a:pt x="2336797" y="345356"/>
                  <a:pt x="2104785" y="306687"/>
                  <a:pt x="1913716" y="233899"/>
                </a:cubicBezTo>
                <a:cubicBezTo>
                  <a:pt x="1722647" y="161111"/>
                  <a:pt x="1504283" y="15535"/>
                  <a:pt x="1313214" y="188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 rot="17646535">
            <a:off x="7228146" y="4821732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783" y="429521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g(x, y)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3872308" y="3846244"/>
            <a:ext cx="292589" cy="4992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6EF912-74DA-5EA5-CAFA-0759E7C8488E}"/>
              </a:ext>
            </a:extLst>
          </p:cNvPr>
          <p:cNvGrpSpPr/>
          <p:nvPr/>
        </p:nvGrpSpPr>
        <p:grpSpPr>
          <a:xfrm rot="1457938">
            <a:off x="1794927" y="2510664"/>
            <a:ext cx="6415029" cy="152400"/>
            <a:chOff x="1505590" y="2409628"/>
            <a:chExt cx="6415029" cy="152400"/>
          </a:xfrm>
        </p:grpSpPr>
        <p:cxnSp>
          <p:nvCxnSpPr>
            <p:cNvPr id="14" name="Straight Connector 13"/>
            <p:cNvCxnSpPr>
              <a:cxnSpLocks/>
            </p:cNvCxnSpPr>
            <p:nvPr/>
          </p:nvCxnSpPr>
          <p:spPr>
            <a:xfrm flipV="1">
              <a:off x="3465998" y="2479181"/>
              <a:ext cx="2552910" cy="468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 rot="16200000">
              <a:off x="7743389" y="2384797"/>
              <a:ext cx="152400" cy="20206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9" name="Straight Arrow Connector 48"/>
            <p:cNvCxnSpPr>
              <a:cxnSpLocks/>
            </p:cNvCxnSpPr>
            <p:nvPr/>
          </p:nvCxnSpPr>
          <p:spPr>
            <a:xfrm>
              <a:off x="6452702" y="2472478"/>
              <a:ext cx="837888" cy="12116"/>
            </a:xfrm>
            <a:prstGeom prst="straightConnector1">
              <a:avLst/>
            </a:prstGeom>
            <a:ln w="22225">
              <a:solidFill>
                <a:srgbClr val="C00000"/>
              </a:solidFill>
              <a:prstDash val="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cxnSpLocks/>
            </p:cNvCxnSpPr>
            <p:nvPr/>
          </p:nvCxnSpPr>
          <p:spPr>
            <a:xfrm>
              <a:off x="1505590" y="2448902"/>
              <a:ext cx="818422" cy="8119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3743142" y="2433711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4054619" y="2438199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4346980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4703289" y="2429443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5054574" y="2438400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C6A9C1-B881-F649-891A-3B8AAA0BF5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2719" y="2448902"/>
              <a:ext cx="95258" cy="95258"/>
            </a:xfrm>
            <a:prstGeom prst="ellipse">
              <a:avLst/>
            </a:prstGeom>
            <a:solidFill>
              <a:srgbClr val="D600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DBD8957-1011-AEA8-2F9B-CE00B99C8DFB}"/>
              </a:ext>
            </a:extLst>
          </p:cNvPr>
          <p:cNvSpPr txBox="1"/>
          <p:nvPr/>
        </p:nvSpPr>
        <p:spPr>
          <a:xfrm rot="17820072">
            <a:off x="7723669" y="3863318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B15BF5-E5E2-B291-76DC-763DB0059B85}"/>
              </a:ext>
            </a:extLst>
          </p:cNvPr>
          <p:cNvCxnSpPr>
            <a:cxnSpLocks/>
          </p:cNvCxnSpPr>
          <p:nvPr/>
        </p:nvCxnSpPr>
        <p:spPr>
          <a:xfrm>
            <a:off x="3579783" y="3122415"/>
            <a:ext cx="2171423" cy="925569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200DD9-9758-6E91-168E-71B7B4CA71D1}"/>
              </a:ext>
            </a:extLst>
          </p:cNvPr>
          <p:cNvSpPr/>
          <p:nvPr/>
        </p:nvSpPr>
        <p:spPr>
          <a:xfrm rot="17528095">
            <a:off x="7324424" y="4669948"/>
            <a:ext cx="152400" cy="2020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E5BC74-989C-C21E-2DC2-82969DBACCD0}"/>
              </a:ext>
            </a:extLst>
          </p:cNvPr>
          <p:cNvCxnSpPr>
            <a:cxnSpLocks/>
          </p:cNvCxnSpPr>
          <p:nvPr/>
        </p:nvCxnSpPr>
        <p:spPr>
          <a:xfrm rot="1328095">
            <a:off x="6236012" y="4406268"/>
            <a:ext cx="837888" cy="1211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B8A39D-D7A7-6EB8-B10A-2BF07B2A2367}"/>
              </a:ext>
            </a:extLst>
          </p:cNvPr>
          <p:cNvCxnSpPr>
            <a:cxnSpLocks/>
          </p:cNvCxnSpPr>
          <p:nvPr/>
        </p:nvCxnSpPr>
        <p:spPr>
          <a:xfrm rot="1328095">
            <a:off x="1663860" y="2516893"/>
            <a:ext cx="818422" cy="8119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C09EBC4-A14E-B654-87F0-4B061ADAF3B0}"/>
              </a:ext>
            </a:extLst>
          </p:cNvPr>
          <p:cNvSpPr>
            <a:spLocks noChangeAspect="1"/>
          </p:cNvSpPr>
          <p:nvPr/>
        </p:nvSpPr>
        <p:spPr>
          <a:xfrm rot="1328095">
            <a:off x="3752459" y="3206455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1C3E0B-FA57-22F7-A82F-08C215CB4F7E}"/>
              </a:ext>
            </a:extLst>
          </p:cNvPr>
          <p:cNvSpPr>
            <a:spLocks noChangeAspect="1"/>
          </p:cNvSpPr>
          <p:nvPr/>
        </p:nvSpPr>
        <p:spPr>
          <a:xfrm rot="1328095">
            <a:off x="4039289" y="3327973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31894C2-CA0B-E419-D099-0BB9F5F7694C}"/>
              </a:ext>
            </a:extLst>
          </p:cNvPr>
          <p:cNvSpPr>
            <a:spLocks noChangeAspect="1"/>
          </p:cNvSpPr>
          <p:nvPr/>
        </p:nvSpPr>
        <p:spPr>
          <a:xfrm rot="1328095">
            <a:off x="4313402" y="3430021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2A244EF-8D57-3A40-0D9E-E88F1A211316}"/>
              </a:ext>
            </a:extLst>
          </p:cNvPr>
          <p:cNvSpPr>
            <a:spLocks noChangeAspect="1"/>
          </p:cNvSpPr>
          <p:nvPr/>
        </p:nvSpPr>
        <p:spPr>
          <a:xfrm rot="1328095">
            <a:off x="4643450" y="3564274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CB49DDF-3039-2F46-6D89-1B0497758E3C}"/>
              </a:ext>
            </a:extLst>
          </p:cNvPr>
          <p:cNvSpPr>
            <a:spLocks noChangeAspect="1"/>
          </p:cNvSpPr>
          <p:nvPr/>
        </p:nvSpPr>
        <p:spPr>
          <a:xfrm rot="1328095">
            <a:off x="4965470" y="3704931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FE8A664-87C3-CABD-3F42-3977903F8F0F}"/>
              </a:ext>
            </a:extLst>
          </p:cNvPr>
          <p:cNvSpPr>
            <a:spLocks noChangeAspect="1"/>
          </p:cNvSpPr>
          <p:nvPr/>
        </p:nvSpPr>
        <p:spPr>
          <a:xfrm rot="1328095">
            <a:off x="5302526" y="3853372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47" y="0"/>
            <a:ext cx="5960253" cy="792162"/>
          </a:xfrm>
        </p:spPr>
        <p:txBody>
          <a:bodyPr>
            <a:normAutofit/>
          </a:bodyPr>
          <a:lstStyle/>
          <a:p>
            <a:r>
              <a:rPr lang="en-IN" u="sng" dirty="0"/>
              <a:t>Radon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7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971800" y="3164981"/>
            <a:ext cx="3581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762500" y="1640981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8724" y="316498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164981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2843" y="1295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418724" y="1775606"/>
            <a:ext cx="1736416" cy="1653394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762500" y="2631581"/>
            <a:ext cx="589297" cy="533400"/>
          </a:xfrm>
          <a:prstGeom prst="line">
            <a:avLst/>
          </a:prstGeom>
          <a:ln w="22225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79081" y="2775769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φ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316372" y="2306183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18" name="Freeform 17"/>
          <p:cNvSpPr/>
          <p:nvPr/>
        </p:nvSpPr>
        <p:spPr>
          <a:xfrm>
            <a:off x="4992237" y="2934106"/>
            <a:ext cx="95535" cy="245660"/>
          </a:xfrm>
          <a:custGeom>
            <a:avLst/>
            <a:gdLst>
              <a:gd name="connsiteX0" fmla="*/ 0 w 95535"/>
              <a:gd name="connsiteY0" fmla="*/ 0 h 245660"/>
              <a:gd name="connsiteX1" fmla="*/ 68239 w 95535"/>
              <a:gd name="connsiteY1" fmla="*/ 109182 h 245660"/>
              <a:gd name="connsiteX2" fmla="*/ 95535 w 95535"/>
              <a:gd name="connsiteY2" fmla="*/ 24566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5" h="245660">
                <a:moveTo>
                  <a:pt x="0" y="0"/>
                </a:moveTo>
                <a:cubicBezTo>
                  <a:pt x="26158" y="34119"/>
                  <a:pt x="52317" y="68239"/>
                  <a:pt x="68239" y="109182"/>
                </a:cubicBezTo>
                <a:cubicBezTo>
                  <a:pt x="84161" y="150125"/>
                  <a:pt x="89848" y="197892"/>
                  <a:pt x="95535" y="2456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5652693" y="3173893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1469" y="1905000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5501" y="2528949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5230504" y="3573440"/>
            <a:ext cx="2547460" cy="22976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463502" y="1717731"/>
            <a:ext cx="2857615" cy="2421522"/>
          </a:xfrm>
          <a:custGeom>
            <a:avLst/>
            <a:gdLst>
              <a:gd name="connsiteX0" fmla="*/ 1313214 w 2857615"/>
              <a:gd name="connsiteY0" fmla="*/ 1887 h 2421522"/>
              <a:gd name="connsiteX1" fmla="*/ 767304 w 2857615"/>
              <a:gd name="connsiteY1" fmla="*/ 152012 h 2421522"/>
              <a:gd name="connsiteX2" fmla="*/ 16677 w 2857615"/>
              <a:gd name="connsiteY2" fmla="*/ 616036 h 2421522"/>
              <a:gd name="connsiteX3" fmla="*/ 235041 w 2857615"/>
              <a:gd name="connsiteY3" fmla="*/ 1121003 h 2421522"/>
              <a:gd name="connsiteX4" fmla="*/ 98564 w 2857615"/>
              <a:gd name="connsiteY4" fmla="*/ 1639618 h 2421522"/>
              <a:gd name="connsiteX5" fmla="*/ 576235 w 2857615"/>
              <a:gd name="connsiteY5" fmla="*/ 2089994 h 2421522"/>
              <a:gd name="connsiteX6" fmla="*/ 1122146 w 2857615"/>
              <a:gd name="connsiteY6" fmla="*/ 2171881 h 2421522"/>
              <a:gd name="connsiteX7" fmla="*/ 1599817 w 2857615"/>
              <a:gd name="connsiteY7" fmla="*/ 2376597 h 2421522"/>
              <a:gd name="connsiteX8" fmla="*/ 2091137 w 2857615"/>
              <a:gd name="connsiteY8" fmla="*/ 2390245 h 2421522"/>
              <a:gd name="connsiteX9" fmla="*/ 2514217 w 2857615"/>
              <a:gd name="connsiteY9" fmla="*/ 2021756 h 2421522"/>
              <a:gd name="connsiteX10" fmla="*/ 2691638 w 2857615"/>
              <a:gd name="connsiteY10" fmla="*/ 1612323 h 2421522"/>
              <a:gd name="connsiteX11" fmla="*/ 2855411 w 2857615"/>
              <a:gd name="connsiteY11" fmla="*/ 1161947 h 2421522"/>
              <a:gd name="connsiteX12" fmla="*/ 2568808 w 2857615"/>
              <a:gd name="connsiteY12" fmla="*/ 875344 h 2421522"/>
              <a:gd name="connsiteX13" fmla="*/ 2445979 w 2857615"/>
              <a:gd name="connsiteY13" fmla="*/ 452263 h 2421522"/>
              <a:gd name="connsiteX14" fmla="*/ 1913716 w 2857615"/>
              <a:gd name="connsiteY14" fmla="*/ 233899 h 2421522"/>
              <a:gd name="connsiteX15" fmla="*/ 1313214 w 2857615"/>
              <a:gd name="connsiteY15" fmla="*/ 1887 h 24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7615" h="2421522">
                <a:moveTo>
                  <a:pt x="1313214" y="1887"/>
                </a:moveTo>
                <a:cubicBezTo>
                  <a:pt x="1122145" y="-11761"/>
                  <a:pt x="983393" y="49654"/>
                  <a:pt x="767304" y="152012"/>
                </a:cubicBezTo>
                <a:cubicBezTo>
                  <a:pt x="551214" y="254370"/>
                  <a:pt x="105387" y="454538"/>
                  <a:pt x="16677" y="616036"/>
                </a:cubicBezTo>
                <a:cubicBezTo>
                  <a:pt x="-72033" y="777534"/>
                  <a:pt x="221393" y="950406"/>
                  <a:pt x="235041" y="1121003"/>
                </a:cubicBezTo>
                <a:cubicBezTo>
                  <a:pt x="248689" y="1291600"/>
                  <a:pt x="41698" y="1478120"/>
                  <a:pt x="98564" y="1639618"/>
                </a:cubicBezTo>
                <a:cubicBezTo>
                  <a:pt x="155430" y="1801116"/>
                  <a:pt x="405638" y="2001284"/>
                  <a:pt x="576235" y="2089994"/>
                </a:cubicBezTo>
                <a:cubicBezTo>
                  <a:pt x="746832" y="2178705"/>
                  <a:pt x="951549" y="2124114"/>
                  <a:pt x="1122146" y="2171881"/>
                </a:cubicBezTo>
                <a:cubicBezTo>
                  <a:pt x="1292743" y="2219648"/>
                  <a:pt x="1438319" y="2340203"/>
                  <a:pt x="1599817" y="2376597"/>
                </a:cubicBezTo>
                <a:cubicBezTo>
                  <a:pt x="1761315" y="2412991"/>
                  <a:pt x="1938737" y="2449385"/>
                  <a:pt x="2091137" y="2390245"/>
                </a:cubicBezTo>
                <a:cubicBezTo>
                  <a:pt x="2243537" y="2331105"/>
                  <a:pt x="2414134" y="2151410"/>
                  <a:pt x="2514217" y="2021756"/>
                </a:cubicBezTo>
                <a:cubicBezTo>
                  <a:pt x="2614300" y="1892102"/>
                  <a:pt x="2634772" y="1755624"/>
                  <a:pt x="2691638" y="1612323"/>
                </a:cubicBezTo>
                <a:cubicBezTo>
                  <a:pt x="2748504" y="1469022"/>
                  <a:pt x="2875883" y="1284777"/>
                  <a:pt x="2855411" y="1161947"/>
                </a:cubicBezTo>
                <a:cubicBezTo>
                  <a:pt x="2834939" y="1039117"/>
                  <a:pt x="2637047" y="993625"/>
                  <a:pt x="2568808" y="875344"/>
                </a:cubicBezTo>
                <a:cubicBezTo>
                  <a:pt x="2500569" y="757063"/>
                  <a:pt x="2555161" y="559170"/>
                  <a:pt x="2445979" y="452263"/>
                </a:cubicBezTo>
                <a:cubicBezTo>
                  <a:pt x="2336797" y="345356"/>
                  <a:pt x="2104785" y="306687"/>
                  <a:pt x="1913716" y="233899"/>
                </a:cubicBezTo>
                <a:cubicBezTo>
                  <a:pt x="1722647" y="161111"/>
                  <a:pt x="1504283" y="15535"/>
                  <a:pt x="1313214" y="188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/>
          <p:cNvCxnSpPr/>
          <p:nvPr/>
        </p:nvCxnSpPr>
        <p:spPr>
          <a:xfrm>
            <a:off x="5946086" y="4345531"/>
            <a:ext cx="455787" cy="4729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49832" y="4572551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p(s, </a:t>
            </a:r>
            <a:r>
              <a:rPr lang="el-GR" dirty="0"/>
              <a:t>φ</a:t>
            </a:r>
            <a:r>
              <a:rPr lang="en-IN" dirty="0"/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 rot="19070691">
            <a:off x="6862884" y="4108692"/>
            <a:ext cx="100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Detector</a:t>
            </a:r>
          </a:p>
        </p:txBody>
      </p:sp>
      <p:sp>
        <p:nvSpPr>
          <p:cNvPr id="32" name="TextBox 31"/>
          <p:cNvSpPr txBox="1"/>
          <p:nvPr/>
        </p:nvSpPr>
        <p:spPr>
          <a:xfrm rot="19070691">
            <a:off x="7791851" y="3506891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783" y="429521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g(x, y)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3872308" y="3846244"/>
            <a:ext cx="292589" cy="4992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9070691">
            <a:off x="6384724" y="475377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175205" y="4558589"/>
            <a:ext cx="516504" cy="516504"/>
            <a:chOff x="519752" y="3056936"/>
            <a:chExt cx="516504" cy="516504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62000" y="3056936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778004" y="3059208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 41"/>
          <p:cNvSpPr/>
          <p:nvPr/>
        </p:nvSpPr>
        <p:spPr>
          <a:xfrm>
            <a:off x="6541133" y="4716440"/>
            <a:ext cx="74619" cy="121365"/>
          </a:xfrm>
          <a:custGeom>
            <a:avLst/>
            <a:gdLst>
              <a:gd name="connsiteX0" fmla="*/ 0 w 95535"/>
              <a:gd name="connsiteY0" fmla="*/ 0 h 245660"/>
              <a:gd name="connsiteX1" fmla="*/ 68239 w 95535"/>
              <a:gd name="connsiteY1" fmla="*/ 109182 h 245660"/>
              <a:gd name="connsiteX2" fmla="*/ 95535 w 95535"/>
              <a:gd name="connsiteY2" fmla="*/ 24566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5" h="245660">
                <a:moveTo>
                  <a:pt x="0" y="0"/>
                </a:moveTo>
                <a:cubicBezTo>
                  <a:pt x="26158" y="34119"/>
                  <a:pt x="52317" y="68239"/>
                  <a:pt x="68239" y="109182"/>
                </a:cubicBezTo>
                <a:cubicBezTo>
                  <a:pt x="84161" y="150125"/>
                  <a:pt x="89848" y="197892"/>
                  <a:pt x="95535" y="2456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6554907" y="4497587"/>
            <a:ext cx="36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φ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 rot="-2700000">
            <a:off x="6933258" y="4163543"/>
            <a:ext cx="152400" cy="2020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6333772" y="3586061"/>
            <a:ext cx="600428" cy="60493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5704764" y="4011481"/>
            <a:ext cx="1534236" cy="1474919"/>
          </a:xfrm>
          <a:custGeom>
            <a:avLst/>
            <a:gdLst>
              <a:gd name="connsiteX0" fmla="*/ 0 w 1624084"/>
              <a:gd name="connsiteY0" fmla="*/ 1474919 h 1474919"/>
              <a:gd name="connsiteX1" fmla="*/ 40943 w 1624084"/>
              <a:gd name="connsiteY1" fmla="*/ 1406680 h 1474919"/>
              <a:gd name="connsiteX2" fmla="*/ 177421 w 1624084"/>
              <a:gd name="connsiteY2" fmla="*/ 1256554 h 1474919"/>
              <a:gd name="connsiteX3" fmla="*/ 218364 w 1624084"/>
              <a:gd name="connsiteY3" fmla="*/ 1038190 h 1474919"/>
              <a:gd name="connsiteX4" fmla="*/ 245660 w 1624084"/>
              <a:gd name="connsiteY4" fmla="*/ 765235 h 1474919"/>
              <a:gd name="connsiteX5" fmla="*/ 341194 w 1624084"/>
              <a:gd name="connsiteY5" fmla="*/ 533223 h 1474919"/>
              <a:gd name="connsiteX6" fmla="*/ 545911 w 1624084"/>
              <a:gd name="connsiteY6" fmla="*/ 355802 h 1474919"/>
              <a:gd name="connsiteX7" fmla="*/ 709684 w 1624084"/>
              <a:gd name="connsiteY7" fmla="*/ 301211 h 1474919"/>
              <a:gd name="connsiteX8" fmla="*/ 846161 w 1624084"/>
              <a:gd name="connsiteY8" fmla="*/ 192029 h 1474919"/>
              <a:gd name="connsiteX9" fmla="*/ 1105469 w 1624084"/>
              <a:gd name="connsiteY9" fmla="*/ 96495 h 1474919"/>
              <a:gd name="connsiteX10" fmla="*/ 1282890 w 1624084"/>
              <a:gd name="connsiteY10" fmla="*/ 960 h 1474919"/>
              <a:gd name="connsiteX11" fmla="*/ 1624084 w 1624084"/>
              <a:gd name="connsiteY11" fmla="*/ 55552 h 147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24084" h="1474919">
                <a:moveTo>
                  <a:pt x="0" y="1474919"/>
                </a:moveTo>
                <a:cubicBezTo>
                  <a:pt x="5686" y="1458996"/>
                  <a:pt x="11373" y="1443074"/>
                  <a:pt x="40943" y="1406680"/>
                </a:cubicBezTo>
                <a:cubicBezTo>
                  <a:pt x="70513" y="1370286"/>
                  <a:pt x="147851" y="1317969"/>
                  <a:pt x="177421" y="1256554"/>
                </a:cubicBezTo>
                <a:cubicBezTo>
                  <a:pt x="206991" y="1195139"/>
                  <a:pt x="206991" y="1120076"/>
                  <a:pt x="218364" y="1038190"/>
                </a:cubicBezTo>
                <a:cubicBezTo>
                  <a:pt x="229737" y="956304"/>
                  <a:pt x="225188" y="849396"/>
                  <a:pt x="245660" y="765235"/>
                </a:cubicBezTo>
                <a:cubicBezTo>
                  <a:pt x="266132" y="681074"/>
                  <a:pt x="291152" y="601462"/>
                  <a:pt x="341194" y="533223"/>
                </a:cubicBezTo>
                <a:cubicBezTo>
                  <a:pt x="391236" y="464984"/>
                  <a:pt x="484496" y="394471"/>
                  <a:pt x="545911" y="355802"/>
                </a:cubicBezTo>
                <a:cubicBezTo>
                  <a:pt x="607326" y="317133"/>
                  <a:pt x="659642" y="328506"/>
                  <a:pt x="709684" y="301211"/>
                </a:cubicBezTo>
                <a:cubicBezTo>
                  <a:pt x="759726" y="273916"/>
                  <a:pt x="780197" y="226148"/>
                  <a:pt x="846161" y="192029"/>
                </a:cubicBezTo>
                <a:cubicBezTo>
                  <a:pt x="912125" y="157910"/>
                  <a:pt x="1032681" y="128340"/>
                  <a:pt x="1105469" y="96495"/>
                </a:cubicBezTo>
                <a:cubicBezTo>
                  <a:pt x="1178257" y="64650"/>
                  <a:pt x="1196454" y="7784"/>
                  <a:pt x="1282890" y="960"/>
                </a:cubicBezTo>
                <a:cubicBezTo>
                  <a:pt x="1369326" y="-5864"/>
                  <a:pt x="1496705" y="24844"/>
                  <a:pt x="1624084" y="55552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3165898" y="1406469"/>
            <a:ext cx="491702" cy="422331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775498" y="796869"/>
            <a:ext cx="491702" cy="422331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70698" y="1101669"/>
            <a:ext cx="491702" cy="422331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861098" y="1711269"/>
            <a:ext cx="491702" cy="422331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2556298" y="2016069"/>
            <a:ext cx="491702" cy="422331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36" y="5713420"/>
            <a:ext cx="6518922" cy="971738"/>
          </a:xfrm>
          <a:prstGeom prst="rect">
            <a:avLst/>
          </a:prstGeom>
        </p:spPr>
      </p:pic>
      <p:sp>
        <p:nvSpPr>
          <p:cNvPr id="7" name="Oval 6"/>
          <p:cNvSpPr>
            <a:spLocks noChangeAspect="1"/>
          </p:cNvSpPr>
          <p:nvPr/>
        </p:nvSpPr>
        <p:spPr>
          <a:xfrm>
            <a:off x="4836091" y="2159596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>
            <a:off x="4988491" y="2311996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5140891" y="2464396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>
            <a:off x="5293291" y="2616796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/>
          <p:cNvSpPr>
            <a:spLocks noChangeAspect="1"/>
          </p:cNvSpPr>
          <p:nvPr/>
        </p:nvSpPr>
        <p:spPr>
          <a:xfrm>
            <a:off x="5445691" y="2769196"/>
            <a:ext cx="95258" cy="95258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67B7B1-14A2-008E-DFF3-D0CD02CAE6CC}"/>
              </a:ext>
            </a:extLst>
          </p:cNvPr>
          <p:cNvGrpSpPr/>
          <p:nvPr/>
        </p:nvGrpSpPr>
        <p:grpSpPr>
          <a:xfrm rot="13586110">
            <a:off x="6791292" y="4352322"/>
            <a:ext cx="304800" cy="1440000"/>
            <a:chOff x="990600" y="2209800"/>
            <a:chExt cx="304800" cy="198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681AE3B-A55B-0935-AECF-2B53B7FBB75F}"/>
                </a:ext>
              </a:extLst>
            </p:cNvPr>
            <p:cNvCxnSpPr/>
            <p:nvPr/>
          </p:nvCxnSpPr>
          <p:spPr>
            <a:xfrm>
              <a:off x="990600" y="2209800"/>
              <a:ext cx="0" cy="1981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58908F-F725-1CC6-CAE0-DF315AA2ED33}"/>
                </a:ext>
              </a:extLst>
            </p:cNvPr>
            <p:cNvCxnSpPr/>
            <p:nvPr/>
          </p:nvCxnSpPr>
          <p:spPr>
            <a:xfrm>
              <a:off x="990600" y="22098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E1D239-B1E1-FA8D-5F48-422B6DEF1DB6}"/>
                </a:ext>
              </a:extLst>
            </p:cNvPr>
            <p:cNvCxnSpPr/>
            <p:nvPr/>
          </p:nvCxnSpPr>
          <p:spPr>
            <a:xfrm>
              <a:off x="990600" y="25146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89F2B98-4915-BEDB-D98C-5F4FF062C192}"/>
                </a:ext>
              </a:extLst>
            </p:cNvPr>
            <p:cNvCxnSpPr/>
            <p:nvPr/>
          </p:nvCxnSpPr>
          <p:spPr>
            <a:xfrm>
              <a:off x="990600" y="28194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90FB64-4ED8-028E-30A4-5231B6CAD587}"/>
                </a:ext>
              </a:extLst>
            </p:cNvPr>
            <p:cNvCxnSpPr/>
            <p:nvPr/>
          </p:nvCxnSpPr>
          <p:spPr>
            <a:xfrm>
              <a:off x="990600" y="31242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35CC0FD-0678-41C1-831B-0B02E3CCFFF5}"/>
                </a:ext>
              </a:extLst>
            </p:cNvPr>
            <p:cNvCxnSpPr/>
            <p:nvPr/>
          </p:nvCxnSpPr>
          <p:spPr>
            <a:xfrm>
              <a:off x="990600" y="3505199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38270D-4FF2-805D-31F2-A9C278E29EA1}"/>
                </a:ext>
              </a:extLst>
            </p:cNvPr>
            <p:cNvCxnSpPr/>
            <p:nvPr/>
          </p:nvCxnSpPr>
          <p:spPr>
            <a:xfrm>
              <a:off x="990600" y="3810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6910EE3-05EF-6D7A-5261-4F568F04712F}"/>
                </a:ext>
              </a:extLst>
            </p:cNvPr>
            <p:cNvCxnSpPr/>
            <p:nvPr/>
          </p:nvCxnSpPr>
          <p:spPr>
            <a:xfrm>
              <a:off x="990600" y="4191000"/>
              <a:ext cx="304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5986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63" y="990618"/>
            <a:ext cx="8179025" cy="1219200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4466764" y="1828818"/>
            <a:ext cx="3124200" cy="304800"/>
            <a:chOff x="4343400" y="2286000"/>
            <a:chExt cx="3124200" cy="3048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343400" y="2286000"/>
              <a:ext cx="0" cy="3048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7445992" y="2286000"/>
              <a:ext cx="0" cy="3048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343400" y="2590800"/>
              <a:ext cx="31242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5169188" y="2209800"/>
            <a:ext cx="2030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</a:rPr>
              <a:t>Dirac delta function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52364" y="3352800"/>
            <a:ext cx="3349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</a:rPr>
              <a:t>2D function or the imaging region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686" y="4897406"/>
            <a:ext cx="8583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rgbClr val="FFC000"/>
                </a:solidFill>
              </a:rPr>
              <a:t>The Dirac delta function ensures that all the points of the function g(x, y) along the line AB contributes to the data collected at the detector placed at a distance s from the origin and oriented at an angle </a:t>
            </a:r>
            <a:r>
              <a:rPr lang="el-GR" sz="2400" b="1" dirty="0">
                <a:solidFill>
                  <a:srgbClr val="FFC000"/>
                </a:solidFill>
              </a:rPr>
              <a:t>φ</a:t>
            </a:r>
            <a:r>
              <a:rPr lang="en-IN" sz="2400" b="1" dirty="0">
                <a:solidFill>
                  <a:srgbClr val="FFC000"/>
                </a:solidFill>
              </a:rPr>
              <a:t> with respect to the x-y coordinate system.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1113964" y="1828818"/>
            <a:ext cx="0" cy="750314"/>
          </a:xfrm>
          <a:prstGeom prst="straightConnector1">
            <a:avLst/>
          </a:prstGeom>
          <a:ln w="2222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69207" y="2678686"/>
            <a:ext cx="3019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</a:rPr>
              <a:t>Data collected by the detector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rot="10800000">
            <a:off x="3817190" y="1981218"/>
            <a:ext cx="0" cy="1371582"/>
          </a:xfrm>
          <a:prstGeom prst="straightConnector1">
            <a:avLst/>
          </a:prstGeom>
          <a:ln w="2222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135747" y="0"/>
            <a:ext cx="5960253" cy="792162"/>
          </a:xfrm>
        </p:spPr>
        <p:txBody>
          <a:bodyPr>
            <a:normAutofit/>
          </a:bodyPr>
          <a:lstStyle/>
          <a:p>
            <a:r>
              <a:rPr lang="en-IN" u="sng" dirty="0"/>
              <a:t>Radon transformation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9207" y="4217315"/>
            <a:ext cx="1413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660066"/>
                </a:solidFill>
              </a:rPr>
              <a:t>Notation-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196687"/>
            <a:ext cx="2228140" cy="6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6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9</a:t>
            </a:fld>
            <a:endParaRPr lang="en-IN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5135846" y="885186"/>
            <a:ext cx="4008154" cy="3600000"/>
            <a:chOff x="2971800" y="1295400"/>
            <a:chExt cx="5094485" cy="4575709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971800" y="3164981"/>
              <a:ext cx="3581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762500" y="1640981"/>
              <a:ext cx="0" cy="2971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418724" y="3164981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O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91300" y="3164981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52843" y="12954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y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4418724" y="1775606"/>
              <a:ext cx="1736416" cy="1653394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4762500" y="2631581"/>
              <a:ext cx="589297" cy="533400"/>
            </a:xfrm>
            <a:prstGeom prst="line">
              <a:avLst/>
            </a:prstGeom>
            <a:ln w="22225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079081" y="2775769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φ</a:t>
              </a:r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16372" y="2306183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Q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4992237" y="2934106"/>
              <a:ext cx="95535" cy="245660"/>
            </a:xfrm>
            <a:custGeom>
              <a:avLst/>
              <a:gdLst>
                <a:gd name="connsiteX0" fmla="*/ 0 w 95535"/>
                <a:gd name="connsiteY0" fmla="*/ 0 h 245660"/>
                <a:gd name="connsiteX1" fmla="*/ 68239 w 95535"/>
                <a:gd name="connsiteY1" fmla="*/ 109182 h 245660"/>
                <a:gd name="connsiteX2" fmla="*/ 95535 w 95535"/>
                <a:gd name="connsiteY2" fmla="*/ 245660 h 245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535" h="245660">
                  <a:moveTo>
                    <a:pt x="0" y="0"/>
                  </a:moveTo>
                  <a:cubicBezTo>
                    <a:pt x="26158" y="34119"/>
                    <a:pt x="52317" y="68239"/>
                    <a:pt x="68239" y="109182"/>
                  </a:cubicBezTo>
                  <a:cubicBezTo>
                    <a:pt x="84161" y="150125"/>
                    <a:pt x="89848" y="197892"/>
                    <a:pt x="95535" y="24566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52693" y="3173893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71469" y="1905000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B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75501" y="2528949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 flipV="1">
              <a:off x="5230504" y="3573440"/>
              <a:ext cx="2547460" cy="229766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/>
            <p:cNvSpPr/>
            <p:nvPr/>
          </p:nvSpPr>
          <p:spPr>
            <a:xfrm>
              <a:off x="3463502" y="1717731"/>
              <a:ext cx="2857615" cy="2421522"/>
            </a:xfrm>
            <a:custGeom>
              <a:avLst/>
              <a:gdLst>
                <a:gd name="connsiteX0" fmla="*/ 1313214 w 2857615"/>
                <a:gd name="connsiteY0" fmla="*/ 1887 h 2421522"/>
                <a:gd name="connsiteX1" fmla="*/ 767304 w 2857615"/>
                <a:gd name="connsiteY1" fmla="*/ 152012 h 2421522"/>
                <a:gd name="connsiteX2" fmla="*/ 16677 w 2857615"/>
                <a:gd name="connsiteY2" fmla="*/ 616036 h 2421522"/>
                <a:gd name="connsiteX3" fmla="*/ 235041 w 2857615"/>
                <a:gd name="connsiteY3" fmla="*/ 1121003 h 2421522"/>
                <a:gd name="connsiteX4" fmla="*/ 98564 w 2857615"/>
                <a:gd name="connsiteY4" fmla="*/ 1639618 h 2421522"/>
                <a:gd name="connsiteX5" fmla="*/ 576235 w 2857615"/>
                <a:gd name="connsiteY5" fmla="*/ 2089994 h 2421522"/>
                <a:gd name="connsiteX6" fmla="*/ 1122146 w 2857615"/>
                <a:gd name="connsiteY6" fmla="*/ 2171881 h 2421522"/>
                <a:gd name="connsiteX7" fmla="*/ 1599817 w 2857615"/>
                <a:gd name="connsiteY7" fmla="*/ 2376597 h 2421522"/>
                <a:gd name="connsiteX8" fmla="*/ 2091137 w 2857615"/>
                <a:gd name="connsiteY8" fmla="*/ 2390245 h 2421522"/>
                <a:gd name="connsiteX9" fmla="*/ 2514217 w 2857615"/>
                <a:gd name="connsiteY9" fmla="*/ 2021756 h 2421522"/>
                <a:gd name="connsiteX10" fmla="*/ 2691638 w 2857615"/>
                <a:gd name="connsiteY10" fmla="*/ 1612323 h 2421522"/>
                <a:gd name="connsiteX11" fmla="*/ 2855411 w 2857615"/>
                <a:gd name="connsiteY11" fmla="*/ 1161947 h 2421522"/>
                <a:gd name="connsiteX12" fmla="*/ 2568808 w 2857615"/>
                <a:gd name="connsiteY12" fmla="*/ 875344 h 2421522"/>
                <a:gd name="connsiteX13" fmla="*/ 2445979 w 2857615"/>
                <a:gd name="connsiteY13" fmla="*/ 452263 h 2421522"/>
                <a:gd name="connsiteX14" fmla="*/ 1913716 w 2857615"/>
                <a:gd name="connsiteY14" fmla="*/ 233899 h 2421522"/>
                <a:gd name="connsiteX15" fmla="*/ 1313214 w 2857615"/>
                <a:gd name="connsiteY15" fmla="*/ 1887 h 242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57615" h="2421522">
                  <a:moveTo>
                    <a:pt x="1313214" y="1887"/>
                  </a:moveTo>
                  <a:cubicBezTo>
                    <a:pt x="1122145" y="-11761"/>
                    <a:pt x="983393" y="49654"/>
                    <a:pt x="767304" y="152012"/>
                  </a:cubicBezTo>
                  <a:cubicBezTo>
                    <a:pt x="551214" y="254370"/>
                    <a:pt x="105387" y="454538"/>
                    <a:pt x="16677" y="616036"/>
                  </a:cubicBezTo>
                  <a:cubicBezTo>
                    <a:pt x="-72033" y="777534"/>
                    <a:pt x="221393" y="950406"/>
                    <a:pt x="235041" y="1121003"/>
                  </a:cubicBezTo>
                  <a:cubicBezTo>
                    <a:pt x="248689" y="1291600"/>
                    <a:pt x="41698" y="1478120"/>
                    <a:pt x="98564" y="1639618"/>
                  </a:cubicBezTo>
                  <a:cubicBezTo>
                    <a:pt x="155430" y="1801116"/>
                    <a:pt x="405638" y="2001284"/>
                    <a:pt x="576235" y="2089994"/>
                  </a:cubicBezTo>
                  <a:cubicBezTo>
                    <a:pt x="746832" y="2178705"/>
                    <a:pt x="951549" y="2124114"/>
                    <a:pt x="1122146" y="2171881"/>
                  </a:cubicBezTo>
                  <a:cubicBezTo>
                    <a:pt x="1292743" y="2219648"/>
                    <a:pt x="1438319" y="2340203"/>
                    <a:pt x="1599817" y="2376597"/>
                  </a:cubicBezTo>
                  <a:cubicBezTo>
                    <a:pt x="1761315" y="2412991"/>
                    <a:pt x="1938737" y="2449385"/>
                    <a:pt x="2091137" y="2390245"/>
                  </a:cubicBezTo>
                  <a:cubicBezTo>
                    <a:pt x="2243537" y="2331105"/>
                    <a:pt x="2414134" y="2151410"/>
                    <a:pt x="2514217" y="2021756"/>
                  </a:cubicBezTo>
                  <a:cubicBezTo>
                    <a:pt x="2614300" y="1892102"/>
                    <a:pt x="2634772" y="1755624"/>
                    <a:pt x="2691638" y="1612323"/>
                  </a:cubicBezTo>
                  <a:cubicBezTo>
                    <a:pt x="2748504" y="1469022"/>
                    <a:pt x="2875883" y="1284777"/>
                    <a:pt x="2855411" y="1161947"/>
                  </a:cubicBezTo>
                  <a:cubicBezTo>
                    <a:pt x="2834939" y="1039117"/>
                    <a:pt x="2637047" y="993625"/>
                    <a:pt x="2568808" y="875344"/>
                  </a:cubicBezTo>
                  <a:cubicBezTo>
                    <a:pt x="2500569" y="757063"/>
                    <a:pt x="2555161" y="559170"/>
                    <a:pt x="2445979" y="452263"/>
                  </a:cubicBezTo>
                  <a:cubicBezTo>
                    <a:pt x="2336797" y="345356"/>
                    <a:pt x="2104785" y="306687"/>
                    <a:pt x="1913716" y="233899"/>
                  </a:cubicBezTo>
                  <a:cubicBezTo>
                    <a:pt x="1722647" y="161111"/>
                    <a:pt x="1504283" y="15535"/>
                    <a:pt x="1313214" y="1887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946086" y="4345531"/>
              <a:ext cx="455787" cy="4729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149832" y="4572551"/>
              <a:ext cx="795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p(s, </a:t>
              </a:r>
              <a:r>
                <a:rPr lang="el-GR" dirty="0"/>
                <a:t>φ</a:t>
              </a:r>
              <a:r>
                <a:rPr lang="en-IN" dirty="0"/>
                <a:t>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19070691">
              <a:off x="6862884" y="4108692"/>
              <a:ext cx="1005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Detector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9070691">
              <a:off x="7791851" y="3506891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79783" y="4295218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g(x, y)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3872308" y="3846244"/>
              <a:ext cx="292589" cy="499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 rot="19070691">
              <a:off x="6384724" y="4753778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O</a:t>
              </a: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6175205" y="4558589"/>
              <a:ext cx="516504" cy="516504"/>
              <a:chOff x="519752" y="3056936"/>
              <a:chExt cx="516504" cy="516504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762000" y="3056936"/>
                <a:ext cx="0" cy="5165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rot="5400000">
                <a:off x="778004" y="3059208"/>
                <a:ext cx="0" cy="5165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Freeform 41"/>
            <p:cNvSpPr/>
            <p:nvPr/>
          </p:nvSpPr>
          <p:spPr>
            <a:xfrm>
              <a:off x="6541133" y="4716440"/>
              <a:ext cx="74619" cy="121365"/>
            </a:xfrm>
            <a:custGeom>
              <a:avLst/>
              <a:gdLst>
                <a:gd name="connsiteX0" fmla="*/ 0 w 95535"/>
                <a:gd name="connsiteY0" fmla="*/ 0 h 245660"/>
                <a:gd name="connsiteX1" fmla="*/ 68239 w 95535"/>
                <a:gd name="connsiteY1" fmla="*/ 109182 h 245660"/>
                <a:gd name="connsiteX2" fmla="*/ 95535 w 95535"/>
                <a:gd name="connsiteY2" fmla="*/ 245660 h 245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535" h="245660">
                  <a:moveTo>
                    <a:pt x="0" y="0"/>
                  </a:moveTo>
                  <a:cubicBezTo>
                    <a:pt x="26158" y="34119"/>
                    <a:pt x="52317" y="68239"/>
                    <a:pt x="68239" y="109182"/>
                  </a:cubicBezTo>
                  <a:cubicBezTo>
                    <a:pt x="84161" y="150125"/>
                    <a:pt x="89848" y="197892"/>
                    <a:pt x="95535" y="24566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54907" y="4497587"/>
              <a:ext cx="36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φ</a:t>
              </a:r>
              <a:endParaRPr lang="en-IN" dirty="0"/>
            </a:p>
          </p:txBody>
        </p:sp>
        <p:sp>
          <p:nvSpPr>
            <p:cNvPr id="47" name="Rectangle 46"/>
            <p:cNvSpPr/>
            <p:nvPr/>
          </p:nvSpPr>
          <p:spPr>
            <a:xfrm rot="-2700000">
              <a:off x="6933258" y="4163543"/>
              <a:ext cx="152400" cy="20206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rot="10800000">
              <a:off x="6252849" y="3524859"/>
              <a:ext cx="600428" cy="604939"/>
            </a:xfrm>
            <a:prstGeom prst="straightConnector1">
              <a:avLst/>
            </a:prstGeom>
            <a:ln w="22225">
              <a:solidFill>
                <a:srgbClr val="C00000"/>
              </a:solidFill>
              <a:prstDash val="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 49"/>
            <p:cNvSpPr/>
            <p:nvPr/>
          </p:nvSpPr>
          <p:spPr>
            <a:xfrm>
              <a:off x="5704764" y="4011481"/>
              <a:ext cx="1534236" cy="1474919"/>
            </a:xfrm>
            <a:custGeom>
              <a:avLst/>
              <a:gdLst>
                <a:gd name="connsiteX0" fmla="*/ 0 w 1624084"/>
                <a:gd name="connsiteY0" fmla="*/ 1474919 h 1474919"/>
                <a:gd name="connsiteX1" fmla="*/ 40943 w 1624084"/>
                <a:gd name="connsiteY1" fmla="*/ 1406680 h 1474919"/>
                <a:gd name="connsiteX2" fmla="*/ 177421 w 1624084"/>
                <a:gd name="connsiteY2" fmla="*/ 1256554 h 1474919"/>
                <a:gd name="connsiteX3" fmla="*/ 218364 w 1624084"/>
                <a:gd name="connsiteY3" fmla="*/ 1038190 h 1474919"/>
                <a:gd name="connsiteX4" fmla="*/ 245660 w 1624084"/>
                <a:gd name="connsiteY4" fmla="*/ 765235 h 1474919"/>
                <a:gd name="connsiteX5" fmla="*/ 341194 w 1624084"/>
                <a:gd name="connsiteY5" fmla="*/ 533223 h 1474919"/>
                <a:gd name="connsiteX6" fmla="*/ 545911 w 1624084"/>
                <a:gd name="connsiteY6" fmla="*/ 355802 h 1474919"/>
                <a:gd name="connsiteX7" fmla="*/ 709684 w 1624084"/>
                <a:gd name="connsiteY7" fmla="*/ 301211 h 1474919"/>
                <a:gd name="connsiteX8" fmla="*/ 846161 w 1624084"/>
                <a:gd name="connsiteY8" fmla="*/ 192029 h 1474919"/>
                <a:gd name="connsiteX9" fmla="*/ 1105469 w 1624084"/>
                <a:gd name="connsiteY9" fmla="*/ 96495 h 1474919"/>
                <a:gd name="connsiteX10" fmla="*/ 1282890 w 1624084"/>
                <a:gd name="connsiteY10" fmla="*/ 960 h 1474919"/>
                <a:gd name="connsiteX11" fmla="*/ 1624084 w 1624084"/>
                <a:gd name="connsiteY11" fmla="*/ 55552 h 147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24084" h="1474919">
                  <a:moveTo>
                    <a:pt x="0" y="1474919"/>
                  </a:moveTo>
                  <a:cubicBezTo>
                    <a:pt x="5686" y="1458996"/>
                    <a:pt x="11373" y="1443074"/>
                    <a:pt x="40943" y="1406680"/>
                  </a:cubicBezTo>
                  <a:cubicBezTo>
                    <a:pt x="70513" y="1370286"/>
                    <a:pt x="147851" y="1317969"/>
                    <a:pt x="177421" y="1256554"/>
                  </a:cubicBezTo>
                  <a:cubicBezTo>
                    <a:pt x="206991" y="1195139"/>
                    <a:pt x="206991" y="1120076"/>
                    <a:pt x="218364" y="1038190"/>
                  </a:cubicBezTo>
                  <a:cubicBezTo>
                    <a:pt x="229737" y="956304"/>
                    <a:pt x="225188" y="849396"/>
                    <a:pt x="245660" y="765235"/>
                  </a:cubicBezTo>
                  <a:cubicBezTo>
                    <a:pt x="266132" y="681074"/>
                    <a:pt x="291152" y="601462"/>
                    <a:pt x="341194" y="533223"/>
                  </a:cubicBezTo>
                  <a:cubicBezTo>
                    <a:pt x="391236" y="464984"/>
                    <a:pt x="484496" y="394471"/>
                    <a:pt x="545911" y="355802"/>
                  </a:cubicBezTo>
                  <a:cubicBezTo>
                    <a:pt x="607326" y="317133"/>
                    <a:pt x="659642" y="328506"/>
                    <a:pt x="709684" y="301211"/>
                  </a:cubicBezTo>
                  <a:cubicBezTo>
                    <a:pt x="759726" y="273916"/>
                    <a:pt x="780197" y="226148"/>
                    <a:pt x="846161" y="192029"/>
                  </a:cubicBezTo>
                  <a:cubicBezTo>
                    <a:pt x="912125" y="157910"/>
                    <a:pt x="1032681" y="128340"/>
                    <a:pt x="1105469" y="96495"/>
                  </a:cubicBezTo>
                  <a:cubicBezTo>
                    <a:pt x="1178257" y="64650"/>
                    <a:pt x="1196454" y="7784"/>
                    <a:pt x="1282890" y="960"/>
                  </a:cubicBezTo>
                  <a:cubicBezTo>
                    <a:pt x="1369326" y="-5864"/>
                    <a:pt x="1496705" y="24844"/>
                    <a:pt x="1624084" y="55552"/>
                  </a:cubicBez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415917" y="4579849"/>
            <a:ext cx="5019736" cy="47442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u="sng" dirty="0"/>
              <a:t>BP image using all projections</a:t>
            </a:r>
          </a:p>
        </p:txBody>
      </p:sp>
      <p:sp>
        <p:nvSpPr>
          <p:cNvPr id="45" name="Title 1"/>
          <p:cNvSpPr txBox="1">
            <a:spLocks/>
          </p:cNvSpPr>
          <p:nvPr/>
        </p:nvSpPr>
        <p:spPr>
          <a:xfrm>
            <a:off x="256669" y="427038"/>
            <a:ext cx="7599139" cy="474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u="sng" dirty="0"/>
              <a:t>BP algorithm in terms of Radon transformation</a:t>
            </a: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321583" y="2102296"/>
            <a:ext cx="4473584" cy="474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u="sng" dirty="0"/>
              <a:t>BP from a single view angle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1" y="3055173"/>
            <a:ext cx="4536730" cy="708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9" y="5374431"/>
            <a:ext cx="3298315" cy="8919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537" y="5334242"/>
            <a:ext cx="5015711" cy="93307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365969" y="4462478"/>
            <a:ext cx="2578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SFRM0800"/>
              </a:rPr>
              <a:t>Integrate over </a:t>
            </a:r>
            <a:r>
              <a:rPr lang="en-IN" dirty="0">
                <a:solidFill>
                  <a:srgbClr val="C00000"/>
                </a:solidFill>
                <a:latin typeface="CMR8"/>
              </a:rPr>
              <a:t>180</a:t>
            </a:r>
            <a:r>
              <a:rPr lang="en-IN" dirty="0">
                <a:solidFill>
                  <a:srgbClr val="C00000"/>
                </a:solidFill>
                <a:latin typeface="SFRM0800"/>
              </a:rPr>
              <a:t>, the other half doesn’t give extra information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4121754" y="4947152"/>
            <a:ext cx="2178896" cy="551363"/>
          </a:xfrm>
          <a:prstGeom prst="straightConnector1">
            <a:avLst/>
          </a:prstGeom>
          <a:ln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05B083-BB1A-332A-8C1C-0E9B0ED74942}"/>
              </a:ext>
            </a:extLst>
          </p:cNvPr>
          <p:cNvSpPr txBox="1">
            <a:spLocks/>
          </p:cNvSpPr>
          <p:nvPr/>
        </p:nvSpPr>
        <p:spPr>
          <a:xfrm>
            <a:off x="256669" y="3695126"/>
            <a:ext cx="3836510" cy="474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solidFill>
                  <a:srgbClr val="C00000"/>
                </a:solidFill>
              </a:rPr>
              <a:t>Inverse Radon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784820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Important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57200" y="1352370"/>
            <a:ext cx="83882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rgbClr val="0033CC"/>
                </a:solidFill>
              </a:rPr>
              <a:t>The Radon transform is a mapping from the Cartesian rectangular coordinates (x, y) to a distance and an angle (s, </a:t>
            </a:r>
            <a:r>
              <a:rPr lang="el-GR" sz="2400" dirty="0">
                <a:solidFill>
                  <a:srgbClr val="0033CC"/>
                </a:solidFill>
              </a:rPr>
              <a:t>φ</a:t>
            </a:r>
            <a:r>
              <a:rPr lang="en-IN" sz="2400" dirty="0">
                <a:solidFill>
                  <a:srgbClr val="0033CC"/>
                </a:solidFill>
              </a:rPr>
              <a:t>), also known as the polar coordinates.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68184"/>
            <a:ext cx="82071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In 1917, Johann Radon proved that an </a:t>
            </a:r>
            <a:r>
              <a:rPr lang="en-IN" sz="2400" b="1" dirty="0">
                <a:solidFill>
                  <a:srgbClr val="FF0000"/>
                </a:solidFill>
              </a:rPr>
              <a:t>object can be reconstructed exactly from an infinite number of projections</a:t>
            </a:r>
            <a:r>
              <a:rPr lang="en-IN" sz="2400" dirty="0"/>
              <a:t>, when taken over 360 degree around the object.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167" y="4740536"/>
            <a:ext cx="82071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The </a:t>
            </a:r>
            <a:r>
              <a:rPr lang="en-IN" sz="2400" dirty="0" err="1"/>
              <a:t>Backprojection</a:t>
            </a:r>
            <a:r>
              <a:rPr lang="en-IN" sz="2400" dirty="0"/>
              <a:t> algorithm can be mathematically presented in terms of the inverse Radon transformation. Therefore, it is an analytical method and that is why it is very fast. </a:t>
            </a:r>
          </a:p>
        </p:txBody>
      </p:sp>
    </p:spTree>
    <p:extLst>
      <p:ext uri="{BB962C8B-B14F-4D97-AF65-F5344CB8AC3E}">
        <p14:creationId xmlns:p14="http://schemas.microsoft.com/office/powerpoint/2010/main" val="411762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11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152057" y="1948290"/>
            <a:ext cx="0" cy="2338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1587" y="3147318"/>
            <a:ext cx="265101" cy="290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0890" y="3147318"/>
            <a:ext cx="288125" cy="290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8430" y="1676400"/>
            <a:ext cx="227266" cy="290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20" name="Freeform 19"/>
          <p:cNvSpPr>
            <a:spLocks noChangeAspect="1"/>
          </p:cNvSpPr>
          <p:nvPr/>
        </p:nvSpPr>
        <p:spPr>
          <a:xfrm>
            <a:off x="3278481" y="2354392"/>
            <a:ext cx="1822532" cy="1544400"/>
          </a:xfrm>
          <a:custGeom>
            <a:avLst/>
            <a:gdLst>
              <a:gd name="connsiteX0" fmla="*/ 1313214 w 2857615"/>
              <a:gd name="connsiteY0" fmla="*/ 1887 h 2421522"/>
              <a:gd name="connsiteX1" fmla="*/ 767304 w 2857615"/>
              <a:gd name="connsiteY1" fmla="*/ 152012 h 2421522"/>
              <a:gd name="connsiteX2" fmla="*/ 16677 w 2857615"/>
              <a:gd name="connsiteY2" fmla="*/ 616036 h 2421522"/>
              <a:gd name="connsiteX3" fmla="*/ 235041 w 2857615"/>
              <a:gd name="connsiteY3" fmla="*/ 1121003 h 2421522"/>
              <a:gd name="connsiteX4" fmla="*/ 98564 w 2857615"/>
              <a:gd name="connsiteY4" fmla="*/ 1639618 h 2421522"/>
              <a:gd name="connsiteX5" fmla="*/ 576235 w 2857615"/>
              <a:gd name="connsiteY5" fmla="*/ 2089994 h 2421522"/>
              <a:gd name="connsiteX6" fmla="*/ 1122146 w 2857615"/>
              <a:gd name="connsiteY6" fmla="*/ 2171881 h 2421522"/>
              <a:gd name="connsiteX7" fmla="*/ 1599817 w 2857615"/>
              <a:gd name="connsiteY7" fmla="*/ 2376597 h 2421522"/>
              <a:gd name="connsiteX8" fmla="*/ 2091137 w 2857615"/>
              <a:gd name="connsiteY8" fmla="*/ 2390245 h 2421522"/>
              <a:gd name="connsiteX9" fmla="*/ 2514217 w 2857615"/>
              <a:gd name="connsiteY9" fmla="*/ 2021756 h 2421522"/>
              <a:gd name="connsiteX10" fmla="*/ 2691638 w 2857615"/>
              <a:gd name="connsiteY10" fmla="*/ 1612323 h 2421522"/>
              <a:gd name="connsiteX11" fmla="*/ 2855411 w 2857615"/>
              <a:gd name="connsiteY11" fmla="*/ 1161947 h 2421522"/>
              <a:gd name="connsiteX12" fmla="*/ 2568808 w 2857615"/>
              <a:gd name="connsiteY12" fmla="*/ 875344 h 2421522"/>
              <a:gd name="connsiteX13" fmla="*/ 2445979 w 2857615"/>
              <a:gd name="connsiteY13" fmla="*/ 452263 h 2421522"/>
              <a:gd name="connsiteX14" fmla="*/ 1913716 w 2857615"/>
              <a:gd name="connsiteY14" fmla="*/ 233899 h 2421522"/>
              <a:gd name="connsiteX15" fmla="*/ 1313214 w 2857615"/>
              <a:gd name="connsiteY15" fmla="*/ 1887 h 24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7615" h="2421522">
                <a:moveTo>
                  <a:pt x="1313214" y="1887"/>
                </a:moveTo>
                <a:cubicBezTo>
                  <a:pt x="1122145" y="-11761"/>
                  <a:pt x="983393" y="49654"/>
                  <a:pt x="767304" y="152012"/>
                </a:cubicBezTo>
                <a:cubicBezTo>
                  <a:pt x="551214" y="254370"/>
                  <a:pt x="105387" y="454538"/>
                  <a:pt x="16677" y="616036"/>
                </a:cubicBezTo>
                <a:cubicBezTo>
                  <a:pt x="-72033" y="777534"/>
                  <a:pt x="221393" y="950406"/>
                  <a:pt x="235041" y="1121003"/>
                </a:cubicBezTo>
                <a:cubicBezTo>
                  <a:pt x="248689" y="1291600"/>
                  <a:pt x="41698" y="1478120"/>
                  <a:pt x="98564" y="1639618"/>
                </a:cubicBezTo>
                <a:cubicBezTo>
                  <a:pt x="155430" y="1801116"/>
                  <a:pt x="405638" y="2001284"/>
                  <a:pt x="576235" y="2089994"/>
                </a:cubicBezTo>
                <a:cubicBezTo>
                  <a:pt x="746832" y="2178705"/>
                  <a:pt x="951549" y="2124114"/>
                  <a:pt x="1122146" y="2171881"/>
                </a:cubicBezTo>
                <a:cubicBezTo>
                  <a:pt x="1292743" y="2219648"/>
                  <a:pt x="1438319" y="2340203"/>
                  <a:pt x="1599817" y="2376597"/>
                </a:cubicBezTo>
                <a:cubicBezTo>
                  <a:pt x="1761315" y="2412991"/>
                  <a:pt x="1938737" y="2449385"/>
                  <a:pt x="2091137" y="2390245"/>
                </a:cubicBezTo>
                <a:cubicBezTo>
                  <a:pt x="2243537" y="2331105"/>
                  <a:pt x="2414134" y="2151410"/>
                  <a:pt x="2514217" y="2021756"/>
                </a:cubicBezTo>
                <a:cubicBezTo>
                  <a:pt x="2614300" y="1892102"/>
                  <a:pt x="2634772" y="1755624"/>
                  <a:pt x="2691638" y="1612323"/>
                </a:cubicBezTo>
                <a:cubicBezTo>
                  <a:pt x="2748504" y="1469022"/>
                  <a:pt x="2875883" y="1284777"/>
                  <a:pt x="2855411" y="1161947"/>
                </a:cubicBezTo>
                <a:cubicBezTo>
                  <a:pt x="2834939" y="1039117"/>
                  <a:pt x="2637047" y="993625"/>
                  <a:pt x="2568808" y="875344"/>
                </a:cubicBezTo>
                <a:cubicBezTo>
                  <a:pt x="2500569" y="757063"/>
                  <a:pt x="2555161" y="559170"/>
                  <a:pt x="2445979" y="452263"/>
                </a:cubicBezTo>
                <a:cubicBezTo>
                  <a:pt x="2336797" y="345356"/>
                  <a:pt x="2104785" y="306687"/>
                  <a:pt x="1913716" y="233899"/>
                </a:cubicBezTo>
                <a:cubicBezTo>
                  <a:pt x="1722647" y="161111"/>
                  <a:pt x="1504283" y="15535"/>
                  <a:pt x="1313214" y="188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318869"/>
            <a:ext cx="2514600" cy="838200"/>
          </a:xfrm>
        </p:spPr>
        <p:txBody>
          <a:bodyPr/>
          <a:lstStyle/>
          <a:p>
            <a:r>
              <a:rPr lang="en-IN" dirty="0" err="1"/>
              <a:t>Sinogram</a:t>
            </a:r>
            <a:endParaRPr lang="en-IN" dirty="0"/>
          </a:p>
        </p:txBody>
      </p:sp>
      <p:sp>
        <p:nvSpPr>
          <p:cNvPr id="37" name="Oval 36"/>
          <p:cNvSpPr/>
          <p:nvPr/>
        </p:nvSpPr>
        <p:spPr>
          <a:xfrm>
            <a:off x="4055469" y="2549989"/>
            <a:ext cx="186850" cy="17932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1687908" y="983826"/>
            <a:ext cx="2004248" cy="1807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1767207" y="2340489"/>
            <a:ext cx="406366" cy="406366"/>
            <a:chOff x="519752" y="3056936"/>
            <a:chExt cx="516504" cy="516504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762000" y="3056936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778004" y="3059208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2126605" y="2232639"/>
            <a:ext cx="45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φ</a:t>
            </a:r>
            <a:r>
              <a:rPr lang="en-IN" baseline="-25000" dirty="0"/>
              <a:t>2</a:t>
            </a:r>
          </a:p>
        </p:txBody>
      </p:sp>
      <p:sp>
        <p:nvSpPr>
          <p:cNvPr id="44" name="Freeform 43"/>
          <p:cNvSpPr/>
          <p:nvPr/>
        </p:nvSpPr>
        <p:spPr>
          <a:xfrm>
            <a:off x="2097806" y="2458896"/>
            <a:ext cx="67024" cy="125676"/>
          </a:xfrm>
          <a:custGeom>
            <a:avLst/>
            <a:gdLst>
              <a:gd name="connsiteX0" fmla="*/ 0 w 95535"/>
              <a:gd name="connsiteY0" fmla="*/ 0 h 245660"/>
              <a:gd name="connsiteX1" fmla="*/ 68239 w 95535"/>
              <a:gd name="connsiteY1" fmla="*/ 109182 h 245660"/>
              <a:gd name="connsiteX2" fmla="*/ 95535 w 95535"/>
              <a:gd name="connsiteY2" fmla="*/ 24566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5" h="245660">
                <a:moveTo>
                  <a:pt x="0" y="0"/>
                </a:moveTo>
                <a:cubicBezTo>
                  <a:pt x="26158" y="34119"/>
                  <a:pt x="52317" y="68239"/>
                  <a:pt x="68239" y="109182"/>
                </a:cubicBezTo>
                <a:cubicBezTo>
                  <a:pt x="84161" y="150125"/>
                  <a:pt x="89848" y="197892"/>
                  <a:pt x="95535" y="2456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6" name="Straight Connector 45"/>
          <p:cNvCxnSpPr/>
          <p:nvPr/>
        </p:nvCxnSpPr>
        <p:spPr>
          <a:xfrm flipH="1" flipV="1">
            <a:off x="2853427" y="1736939"/>
            <a:ext cx="1293262" cy="1389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37" idx="5"/>
          </p:cNvCxnSpPr>
          <p:nvPr/>
        </p:nvCxnSpPr>
        <p:spPr>
          <a:xfrm flipH="1" flipV="1">
            <a:off x="3124201" y="1524002"/>
            <a:ext cx="1090754" cy="1179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292286" y="2624848"/>
            <a:ext cx="0" cy="522470"/>
          </a:xfrm>
          <a:prstGeom prst="straightConnector1">
            <a:avLst/>
          </a:prstGeom>
          <a:ln w="22225">
            <a:solidFill>
              <a:srgbClr val="00B05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41307" y="2719667"/>
            <a:ext cx="28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29338" y="2317089"/>
            <a:ext cx="28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2209800" y="4391637"/>
            <a:ext cx="2131507" cy="1018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3278481" y="3147317"/>
            <a:ext cx="873576" cy="1756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3056489" y="2639652"/>
            <a:ext cx="1065592" cy="2137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V="1">
            <a:off x="2734711" y="1371600"/>
            <a:ext cx="313289" cy="304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2955560" y="4900918"/>
            <a:ext cx="303753" cy="128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6705600" y="1736939"/>
            <a:ext cx="0" cy="24246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4024146" y="5137485"/>
            <a:ext cx="406366" cy="406366"/>
            <a:chOff x="519752" y="3056936"/>
            <a:chExt cx="516504" cy="516504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762000" y="3056936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778004" y="3059208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Freeform 84"/>
          <p:cNvSpPr/>
          <p:nvPr/>
        </p:nvSpPr>
        <p:spPr>
          <a:xfrm>
            <a:off x="4122081" y="5271540"/>
            <a:ext cx="219226" cy="102226"/>
          </a:xfrm>
          <a:custGeom>
            <a:avLst/>
            <a:gdLst>
              <a:gd name="connsiteX0" fmla="*/ 0 w 95535"/>
              <a:gd name="connsiteY0" fmla="*/ 0 h 245660"/>
              <a:gd name="connsiteX1" fmla="*/ 68239 w 95535"/>
              <a:gd name="connsiteY1" fmla="*/ 109182 h 245660"/>
              <a:gd name="connsiteX2" fmla="*/ 95535 w 95535"/>
              <a:gd name="connsiteY2" fmla="*/ 24566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5" h="245660">
                <a:moveTo>
                  <a:pt x="0" y="0"/>
                </a:moveTo>
                <a:cubicBezTo>
                  <a:pt x="26158" y="34119"/>
                  <a:pt x="52317" y="68239"/>
                  <a:pt x="68239" y="109182"/>
                </a:cubicBezTo>
                <a:cubicBezTo>
                  <a:pt x="84161" y="150125"/>
                  <a:pt x="89848" y="197892"/>
                  <a:pt x="95535" y="2456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/>
          <p:cNvSpPr txBox="1"/>
          <p:nvPr/>
        </p:nvSpPr>
        <p:spPr>
          <a:xfrm>
            <a:off x="4188596" y="4993171"/>
            <a:ext cx="46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φ</a:t>
            </a:r>
            <a:r>
              <a:rPr lang="en-IN" baseline="-25000" dirty="0"/>
              <a:t>3</a:t>
            </a:r>
          </a:p>
        </p:txBody>
      </p:sp>
      <p:cxnSp>
        <p:nvCxnSpPr>
          <p:cNvPr id="87" name="Straight Connector 86"/>
          <p:cNvCxnSpPr/>
          <p:nvPr/>
        </p:nvCxnSpPr>
        <p:spPr>
          <a:xfrm flipH="1">
            <a:off x="4129338" y="2624847"/>
            <a:ext cx="257626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4122081" y="3151416"/>
            <a:ext cx="257626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743200" y="3147318"/>
            <a:ext cx="28177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6858000" y="2624847"/>
            <a:ext cx="0" cy="4924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6508230" y="4083210"/>
            <a:ext cx="406366" cy="406366"/>
            <a:chOff x="519752" y="3056936"/>
            <a:chExt cx="516504" cy="516504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762000" y="3056936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5400000">
              <a:off x="778004" y="3059208"/>
              <a:ext cx="0" cy="516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/>
          <p:cNvSpPr txBox="1"/>
          <p:nvPr/>
        </p:nvSpPr>
        <p:spPr>
          <a:xfrm>
            <a:off x="2891355" y="1074814"/>
            <a:ext cx="587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08714" y="2288571"/>
            <a:ext cx="58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 flipH="1">
            <a:off x="2696508" y="4914416"/>
            <a:ext cx="42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  <a:r>
              <a:rPr lang="en-IN" baseline="-25000" dirty="0"/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07182" y="5002544"/>
            <a:ext cx="47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</a:t>
            </a:r>
            <a:r>
              <a:rPr lang="en-IN" baseline="-25000" dirty="0"/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93458" y="1498394"/>
            <a:ext cx="54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</a:t>
            </a:r>
            <a:r>
              <a:rPr lang="en-IN" baseline="-25000" dirty="0"/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9881" y="2983312"/>
            <a:ext cx="56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</a:t>
            </a:r>
            <a:r>
              <a:rPr lang="en-IN" baseline="-25000" dirty="0"/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08714" y="3900423"/>
            <a:ext cx="58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φ</a:t>
            </a:r>
            <a:r>
              <a:rPr lang="en-IN" baseline="-25000" dirty="0"/>
              <a:t>1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6698821" y="4083210"/>
            <a:ext cx="159179" cy="200230"/>
          </a:xfrm>
          <a:custGeom>
            <a:avLst/>
            <a:gdLst>
              <a:gd name="connsiteX0" fmla="*/ 0 w 95535"/>
              <a:gd name="connsiteY0" fmla="*/ 0 h 245660"/>
              <a:gd name="connsiteX1" fmla="*/ 68239 w 95535"/>
              <a:gd name="connsiteY1" fmla="*/ 109182 h 245660"/>
              <a:gd name="connsiteX2" fmla="*/ 95535 w 95535"/>
              <a:gd name="connsiteY2" fmla="*/ 24566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5" h="245660">
                <a:moveTo>
                  <a:pt x="0" y="0"/>
                </a:moveTo>
                <a:cubicBezTo>
                  <a:pt x="26158" y="34119"/>
                  <a:pt x="52317" y="68239"/>
                  <a:pt x="68239" y="109182"/>
                </a:cubicBezTo>
                <a:cubicBezTo>
                  <a:pt x="84161" y="150125"/>
                  <a:pt x="89848" y="197892"/>
                  <a:pt x="95535" y="24566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TextBox 105"/>
          <p:cNvSpPr txBox="1"/>
          <p:nvPr/>
        </p:nvSpPr>
        <p:spPr>
          <a:xfrm>
            <a:off x="968102" y="5932979"/>
            <a:ext cx="594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</a:t>
            </a:r>
            <a:r>
              <a:rPr lang="en-IN" sz="2400" baseline="-25000" dirty="0"/>
              <a:t>1</a:t>
            </a:r>
            <a:r>
              <a:rPr lang="en-IN" sz="2400" dirty="0"/>
              <a:t>O</a:t>
            </a:r>
            <a:r>
              <a:rPr lang="en-IN" sz="2400" baseline="-25000" dirty="0"/>
              <a:t>1</a:t>
            </a:r>
            <a:r>
              <a:rPr lang="en-IN" sz="2400" dirty="0"/>
              <a:t>=r sin </a:t>
            </a:r>
            <a:r>
              <a:rPr lang="el-GR" sz="2400" dirty="0"/>
              <a:t>φ</a:t>
            </a:r>
            <a:r>
              <a:rPr lang="en-IN" sz="2400" baseline="-25000" dirty="0"/>
              <a:t>1</a:t>
            </a:r>
            <a:r>
              <a:rPr lang="en-IN" sz="2400" dirty="0"/>
              <a:t>;     P</a:t>
            </a:r>
            <a:r>
              <a:rPr lang="en-IN" sz="2400" baseline="-25000" dirty="0"/>
              <a:t>2</a:t>
            </a:r>
            <a:r>
              <a:rPr lang="en-IN" sz="2400" dirty="0"/>
              <a:t>O</a:t>
            </a:r>
            <a:r>
              <a:rPr lang="en-IN" sz="2400" baseline="-25000" dirty="0"/>
              <a:t>2</a:t>
            </a:r>
            <a:r>
              <a:rPr lang="en-IN" sz="2400" dirty="0"/>
              <a:t>=r sin </a:t>
            </a:r>
            <a:r>
              <a:rPr lang="el-GR" sz="2400" dirty="0"/>
              <a:t>φ</a:t>
            </a:r>
            <a:r>
              <a:rPr lang="en-IN" sz="2400" baseline="-25000" dirty="0"/>
              <a:t>2</a:t>
            </a:r>
            <a:r>
              <a:rPr lang="en-IN" sz="2400" dirty="0"/>
              <a:t>;     P</a:t>
            </a:r>
            <a:r>
              <a:rPr lang="en-IN" sz="2400" baseline="-25000" dirty="0"/>
              <a:t>3</a:t>
            </a:r>
            <a:r>
              <a:rPr lang="en-IN" sz="2400" dirty="0"/>
              <a:t>O</a:t>
            </a:r>
            <a:r>
              <a:rPr lang="en-IN" sz="2400" baseline="-25000" dirty="0"/>
              <a:t>3</a:t>
            </a:r>
            <a:r>
              <a:rPr lang="en-IN" sz="2400" dirty="0"/>
              <a:t>=r sin </a:t>
            </a:r>
            <a:r>
              <a:rPr lang="el-GR" sz="2400" dirty="0"/>
              <a:t>φ</a:t>
            </a:r>
            <a:r>
              <a:rPr lang="en-IN" sz="2400" baseline="-25000" dirty="0"/>
              <a:t>3</a:t>
            </a:r>
            <a:endParaRPr lang="en-IN" sz="2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4651981" y="1676400"/>
            <a:ext cx="160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P=point 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3109" y="4670085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1953" y="2858166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2701" y="4209578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05868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12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4152057" y="1948290"/>
            <a:ext cx="0" cy="2338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1587" y="3147318"/>
            <a:ext cx="265101" cy="290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7146" y="3147318"/>
            <a:ext cx="288125" cy="290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2440" y="1643343"/>
            <a:ext cx="227266" cy="290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20" name="Freeform 19"/>
          <p:cNvSpPr>
            <a:spLocks noChangeAspect="1"/>
          </p:cNvSpPr>
          <p:nvPr/>
        </p:nvSpPr>
        <p:spPr>
          <a:xfrm>
            <a:off x="3278481" y="2354392"/>
            <a:ext cx="1822532" cy="1544400"/>
          </a:xfrm>
          <a:custGeom>
            <a:avLst/>
            <a:gdLst>
              <a:gd name="connsiteX0" fmla="*/ 1313214 w 2857615"/>
              <a:gd name="connsiteY0" fmla="*/ 1887 h 2421522"/>
              <a:gd name="connsiteX1" fmla="*/ 767304 w 2857615"/>
              <a:gd name="connsiteY1" fmla="*/ 152012 h 2421522"/>
              <a:gd name="connsiteX2" fmla="*/ 16677 w 2857615"/>
              <a:gd name="connsiteY2" fmla="*/ 616036 h 2421522"/>
              <a:gd name="connsiteX3" fmla="*/ 235041 w 2857615"/>
              <a:gd name="connsiteY3" fmla="*/ 1121003 h 2421522"/>
              <a:gd name="connsiteX4" fmla="*/ 98564 w 2857615"/>
              <a:gd name="connsiteY4" fmla="*/ 1639618 h 2421522"/>
              <a:gd name="connsiteX5" fmla="*/ 576235 w 2857615"/>
              <a:gd name="connsiteY5" fmla="*/ 2089994 h 2421522"/>
              <a:gd name="connsiteX6" fmla="*/ 1122146 w 2857615"/>
              <a:gd name="connsiteY6" fmla="*/ 2171881 h 2421522"/>
              <a:gd name="connsiteX7" fmla="*/ 1599817 w 2857615"/>
              <a:gd name="connsiteY7" fmla="*/ 2376597 h 2421522"/>
              <a:gd name="connsiteX8" fmla="*/ 2091137 w 2857615"/>
              <a:gd name="connsiteY8" fmla="*/ 2390245 h 2421522"/>
              <a:gd name="connsiteX9" fmla="*/ 2514217 w 2857615"/>
              <a:gd name="connsiteY9" fmla="*/ 2021756 h 2421522"/>
              <a:gd name="connsiteX10" fmla="*/ 2691638 w 2857615"/>
              <a:gd name="connsiteY10" fmla="*/ 1612323 h 2421522"/>
              <a:gd name="connsiteX11" fmla="*/ 2855411 w 2857615"/>
              <a:gd name="connsiteY11" fmla="*/ 1161947 h 2421522"/>
              <a:gd name="connsiteX12" fmla="*/ 2568808 w 2857615"/>
              <a:gd name="connsiteY12" fmla="*/ 875344 h 2421522"/>
              <a:gd name="connsiteX13" fmla="*/ 2445979 w 2857615"/>
              <a:gd name="connsiteY13" fmla="*/ 452263 h 2421522"/>
              <a:gd name="connsiteX14" fmla="*/ 1913716 w 2857615"/>
              <a:gd name="connsiteY14" fmla="*/ 233899 h 2421522"/>
              <a:gd name="connsiteX15" fmla="*/ 1313214 w 2857615"/>
              <a:gd name="connsiteY15" fmla="*/ 1887 h 24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7615" h="2421522">
                <a:moveTo>
                  <a:pt x="1313214" y="1887"/>
                </a:moveTo>
                <a:cubicBezTo>
                  <a:pt x="1122145" y="-11761"/>
                  <a:pt x="983393" y="49654"/>
                  <a:pt x="767304" y="152012"/>
                </a:cubicBezTo>
                <a:cubicBezTo>
                  <a:pt x="551214" y="254370"/>
                  <a:pt x="105387" y="454538"/>
                  <a:pt x="16677" y="616036"/>
                </a:cubicBezTo>
                <a:cubicBezTo>
                  <a:pt x="-72033" y="777534"/>
                  <a:pt x="221393" y="950406"/>
                  <a:pt x="235041" y="1121003"/>
                </a:cubicBezTo>
                <a:cubicBezTo>
                  <a:pt x="248689" y="1291600"/>
                  <a:pt x="41698" y="1478120"/>
                  <a:pt x="98564" y="1639618"/>
                </a:cubicBezTo>
                <a:cubicBezTo>
                  <a:pt x="155430" y="1801116"/>
                  <a:pt x="405638" y="2001284"/>
                  <a:pt x="576235" y="2089994"/>
                </a:cubicBezTo>
                <a:cubicBezTo>
                  <a:pt x="746832" y="2178705"/>
                  <a:pt x="951549" y="2124114"/>
                  <a:pt x="1122146" y="2171881"/>
                </a:cubicBezTo>
                <a:cubicBezTo>
                  <a:pt x="1292743" y="2219648"/>
                  <a:pt x="1438319" y="2340203"/>
                  <a:pt x="1599817" y="2376597"/>
                </a:cubicBezTo>
                <a:cubicBezTo>
                  <a:pt x="1761315" y="2412991"/>
                  <a:pt x="1938737" y="2449385"/>
                  <a:pt x="2091137" y="2390245"/>
                </a:cubicBezTo>
                <a:cubicBezTo>
                  <a:pt x="2243537" y="2331105"/>
                  <a:pt x="2414134" y="2151410"/>
                  <a:pt x="2514217" y="2021756"/>
                </a:cubicBezTo>
                <a:cubicBezTo>
                  <a:pt x="2614300" y="1892102"/>
                  <a:pt x="2634772" y="1755624"/>
                  <a:pt x="2691638" y="1612323"/>
                </a:cubicBezTo>
                <a:cubicBezTo>
                  <a:pt x="2748504" y="1469022"/>
                  <a:pt x="2875883" y="1284777"/>
                  <a:pt x="2855411" y="1161947"/>
                </a:cubicBezTo>
                <a:cubicBezTo>
                  <a:pt x="2834939" y="1039117"/>
                  <a:pt x="2637047" y="993625"/>
                  <a:pt x="2568808" y="875344"/>
                </a:cubicBezTo>
                <a:cubicBezTo>
                  <a:pt x="2500569" y="757063"/>
                  <a:pt x="2555161" y="559170"/>
                  <a:pt x="2445979" y="452263"/>
                </a:cubicBezTo>
                <a:cubicBezTo>
                  <a:pt x="2336797" y="345356"/>
                  <a:pt x="2104785" y="306687"/>
                  <a:pt x="1913716" y="233899"/>
                </a:cubicBezTo>
                <a:cubicBezTo>
                  <a:pt x="1722647" y="161111"/>
                  <a:pt x="1504283" y="15535"/>
                  <a:pt x="1313214" y="188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5067153" y="17914"/>
            <a:ext cx="2514600" cy="838200"/>
          </a:xfrm>
        </p:spPr>
        <p:txBody>
          <a:bodyPr/>
          <a:lstStyle/>
          <a:p>
            <a:r>
              <a:rPr lang="en-IN" dirty="0" err="1"/>
              <a:t>Sinogram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743200" y="3147318"/>
            <a:ext cx="28177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161404" y="1703021"/>
            <a:ext cx="1411223" cy="2411779"/>
            <a:chOff x="6161404" y="1703021"/>
            <a:chExt cx="1411223" cy="2411779"/>
          </a:xfrm>
        </p:grpSpPr>
        <p:grpSp>
          <p:nvGrpSpPr>
            <p:cNvPr id="13" name="Group 12"/>
            <p:cNvGrpSpPr/>
            <p:nvPr/>
          </p:nvGrpSpPr>
          <p:grpSpPr>
            <a:xfrm>
              <a:off x="6350017" y="1966977"/>
              <a:ext cx="728604" cy="2147823"/>
              <a:chOff x="6350017" y="1966977"/>
              <a:chExt cx="728604" cy="2147823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7078621" y="1966977"/>
                <a:ext cx="0" cy="21478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350017" y="3147318"/>
                <a:ext cx="7286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/>
            <p:cNvSpPr txBox="1"/>
            <p:nvPr/>
          </p:nvSpPr>
          <p:spPr>
            <a:xfrm>
              <a:off x="7165051" y="1703021"/>
              <a:ext cx="407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</a:t>
              </a:r>
              <a:r>
                <a:rPr lang="en-IN" baseline="-25000" dirty="0"/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128404" y="3024692"/>
              <a:ext cx="438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</a:t>
              </a:r>
              <a:r>
                <a:rPr lang="en-IN" baseline="-25000" dirty="0"/>
                <a:t>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161404" y="3068563"/>
              <a:ext cx="53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</a:t>
              </a:r>
              <a:r>
                <a:rPr lang="en-IN" baseline="-25000" dirty="0"/>
                <a:t>1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 rot="1935820">
            <a:off x="1475686" y="593438"/>
            <a:ext cx="1411223" cy="2411779"/>
            <a:chOff x="6161404" y="1703021"/>
            <a:chExt cx="1411223" cy="2411779"/>
          </a:xfrm>
        </p:grpSpPr>
        <p:grpSp>
          <p:nvGrpSpPr>
            <p:cNvPr id="63" name="Group 62"/>
            <p:cNvGrpSpPr/>
            <p:nvPr/>
          </p:nvGrpSpPr>
          <p:grpSpPr>
            <a:xfrm>
              <a:off x="6350017" y="1966977"/>
              <a:ext cx="728604" cy="2147823"/>
              <a:chOff x="6350017" y="1966977"/>
              <a:chExt cx="728604" cy="2147823"/>
            </a:xfrm>
          </p:grpSpPr>
          <p:cxnSp>
            <p:nvCxnSpPr>
              <p:cNvPr id="68" name="Straight Connector 67"/>
              <p:cNvCxnSpPr/>
              <p:nvPr/>
            </p:nvCxnSpPr>
            <p:spPr>
              <a:xfrm>
                <a:off x="7078621" y="1966977"/>
                <a:ext cx="0" cy="21478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350017" y="3147318"/>
                <a:ext cx="7286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7165051" y="1703021"/>
              <a:ext cx="407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</a:t>
              </a:r>
              <a:r>
                <a:rPr lang="en-IN" baseline="-25000" dirty="0"/>
                <a:t>2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128404" y="3024692"/>
              <a:ext cx="438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</a:t>
              </a:r>
              <a:r>
                <a:rPr lang="en-IN" baseline="-25000" dirty="0"/>
                <a:t>2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161404" y="3068563"/>
              <a:ext cx="53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</a:t>
              </a:r>
              <a:r>
                <a:rPr lang="en-IN" baseline="-25000" dirty="0"/>
                <a:t>2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 rot="18606956">
            <a:off x="1617997" y="3393418"/>
            <a:ext cx="1411222" cy="2411780"/>
            <a:chOff x="6161404" y="1703020"/>
            <a:chExt cx="1411222" cy="2411780"/>
          </a:xfrm>
        </p:grpSpPr>
        <p:grpSp>
          <p:nvGrpSpPr>
            <p:cNvPr id="71" name="Group 70"/>
            <p:cNvGrpSpPr/>
            <p:nvPr/>
          </p:nvGrpSpPr>
          <p:grpSpPr>
            <a:xfrm>
              <a:off x="6350017" y="1966977"/>
              <a:ext cx="728604" cy="2147823"/>
              <a:chOff x="6350017" y="1966977"/>
              <a:chExt cx="728604" cy="2147823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7078621" y="1966977"/>
                <a:ext cx="0" cy="21478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6350017" y="3147318"/>
                <a:ext cx="7286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/>
            <p:cNvSpPr txBox="1"/>
            <p:nvPr/>
          </p:nvSpPr>
          <p:spPr>
            <a:xfrm>
              <a:off x="7165050" y="1703020"/>
              <a:ext cx="407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</a:t>
              </a:r>
              <a:r>
                <a:rPr lang="en-IN" baseline="-25000" dirty="0"/>
                <a:t>3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128404" y="3024692"/>
              <a:ext cx="438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</a:t>
              </a:r>
              <a:r>
                <a:rPr lang="en-IN" baseline="-25000" dirty="0"/>
                <a:t>3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161404" y="3068563"/>
              <a:ext cx="53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</a:t>
              </a:r>
              <a:r>
                <a:rPr lang="en-IN" baseline="-25000" dirty="0"/>
                <a:t>3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782701" y="4209578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07090" y="2830941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0170" y="5207690"/>
            <a:ext cx="60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(3)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929508" y="1850304"/>
            <a:ext cx="948042" cy="2514600"/>
            <a:chOff x="7929508" y="1850304"/>
            <a:chExt cx="948042" cy="2514600"/>
          </a:xfrm>
        </p:grpSpPr>
        <p:sp>
          <p:nvSpPr>
            <p:cNvPr id="89" name="Title 1"/>
            <p:cNvSpPr txBox="1">
              <a:spLocks/>
            </p:cNvSpPr>
            <p:nvPr/>
          </p:nvSpPr>
          <p:spPr>
            <a:xfrm rot="16200000">
              <a:off x="7201150" y="2688504"/>
              <a:ext cx="2514600" cy="838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Detectors</a:t>
              </a:r>
            </a:p>
          </p:txBody>
        </p:sp>
        <p:grpSp>
          <p:nvGrpSpPr>
            <p:cNvPr id="107" name="Group 106"/>
            <p:cNvGrpSpPr/>
            <p:nvPr/>
          </p:nvGrpSpPr>
          <p:grpSpPr>
            <a:xfrm rot="16200000">
              <a:off x="7285325" y="2986499"/>
              <a:ext cx="1593165" cy="304800"/>
              <a:chOff x="6865035" y="4114800"/>
              <a:chExt cx="1593165" cy="30480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6865035" y="41148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6865035" y="44196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6865035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71628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>
                <a:off x="74676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>
                <a:off x="77724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80772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>
                <a:off x="8437526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/>
          <p:cNvGrpSpPr/>
          <p:nvPr/>
        </p:nvGrpSpPr>
        <p:grpSpPr>
          <a:xfrm rot="7814650">
            <a:off x="1265596" y="4439315"/>
            <a:ext cx="948042" cy="2514600"/>
            <a:chOff x="7929508" y="1850304"/>
            <a:chExt cx="948042" cy="2514600"/>
          </a:xfrm>
        </p:grpSpPr>
        <p:sp>
          <p:nvSpPr>
            <p:cNvPr id="118" name="Title 1"/>
            <p:cNvSpPr txBox="1">
              <a:spLocks/>
            </p:cNvSpPr>
            <p:nvPr/>
          </p:nvSpPr>
          <p:spPr>
            <a:xfrm rot="16200000">
              <a:off x="7201150" y="2688504"/>
              <a:ext cx="2514600" cy="838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Detectors</a:t>
              </a:r>
            </a:p>
          </p:txBody>
        </p:sp>
        <p:grpSp>
          <p:nvGrpSpPr>
            <p:cNvPr id="119" name="Group 118"/>
            <p:cNvGrpSpPr/>
            <p:nvPr/>
          </p:nvGrpSpPr>
          <p:grpSpPr>
            <a:xfrm rot="16200000">
              <a:off x="7285325" y="2986499"/>
              <a:ext cx="1593165" cy="304800"/>
              <a:chOff x="6865035" y="4114800"/>
              <a:chExt cx="1593165" cy="304800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6865035" y="41148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865035" y="44196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6865035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71628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74676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77724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80772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8437526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8" name="Group 127"/>
          <p:cNvGrpSpPr/>
          <p:nvPr/>
        </p:nvGrpSpPr>
        <p:grpSpPr>
          <a:xfrm rot="12794531">
            <a:off x="522120" y="113286"/>
            <a:ext cx="948042" cy="2514600"/>
            <a:chOff x="7929508" y="1850304"/>
            <a:chExt cx="948042" cy="2514600"/>
          </a:xfrm>
        </p:grpSpPr>
        <p:sp>
          <p:nvSpPr>
            <p:cNvPr id="129" name="Title 1"/>
            <p:cNvSpPr txBox="1">
              <a:spLocks/>
            </p:cNvSpPr>
            <p:nvPr/>
          </p:nvSpPr>
          <p:spPr>
            <a:xfrm rot="16200000">
              <a:off x="7201150" y="2688504"/>
              <a:ext cx="2514600" cy="838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/>
                <a:t>Detectors</a:t>
              </a:r>
            </a:p>
          </p:txBody>
        </p:sp>
        <p:grpSp>
          <p:nvGrpSpPr>
            <p:cNvPr id="130" name="Group 129"/>
            <p:cNvGrpSpPr/>
            <p:nvPr/>
          </p:nvGrpSpPr>
          <p:grpSpPr>
            <a:xfrm rot="16200000">
              <a:off x="7285325" y="2986499"/>
              <a:ext cx="1593165" cy="304800"/>
              <a:chOff x="6865035" y="4114800"/>
              <a:chExt cx="1593165" cy="304800"/>
            </a:xfrm>
          </p:grpSpPr>
          <p:cxnSp>
            <p:nvCxnSpPr>
              <p:cNvPr id="131" name="Straight Connector 130"/>
              <p:cNvCxnSpPr/>
              <p:nvPr/>
            </p:nvCxnSpPr>
            <p:spPr>
              <a:xfrm>
                <a:off x="6865035" y="41148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6865035" y="4419600"/>
                <a:ext cx="159316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6865035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71628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74676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77724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8077200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8437526" y="4114800"/>
                <a:ext cx="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1897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8" y="565150"/>
            <a:ext cx="811373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6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67100" y="60073"/>
            <a:ext cx="2514600" cy="64657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Sinogram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C4D801-F00C-237A-A7B9-175886B55EE3}"/>
              </a:ext>
            </a:extLst>
          </p:cNvPr>
          <p:cNvCxnSpPr/>
          <p:nvPr/>
        </p:nvCxnSpPr>
        <p:spPr>
          <a:xfrm>
            <a:off x="5715000" y="2186250"/>
            <a:ext cx="0" cy="990600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EEA89C-6671-7E6C-14F4-4A06D5C0F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889"/>
          <a:stretch>
            <a:fillRect/>
          </a:stretch>
        </p:blipFill>
        <p:spPr>
          <a:xfrm>
            <a:off x="1219200" y="1828800"/>
            <a:ext cx="2514600" cy="296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E8DFCB-2249-6C29-68BE-86811065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84" r="7838"/>
          <a:stretch>
            <a:fillRect/>
          </a:stretch>
        </p:blipFill>
        <p:spPr>
          <a:xfrm>
            <a:off x="5791202" y="1828800"/>
            <a:ext cx="2133598" cy="29628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07AC57-D182-CAA1-7603-FF6A677F71BA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9144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C6DDF5A-F99A-B397-790F-466339ED800E}"/>
              </a:ext>
            </a:extLst>
          </p:cNvPr>
          <p:cNvSpPr/>
          <p:nvPr/>
        </p:nvSpPr>
        <p:spPr>
          <a:xfrm>
            <a:off x="4267200" y="2929200"/>
            <a:ext cx="914400" cy="304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3653C-0AE7-2B8C-DCBB-328D2DC43A74}"/>
              </a:ext>
            </a:extLst>
          </p:cNvPr>
          <p:cNvSpPr txBox="1"/>
          <p:nvPr/>
        </p:nvSpPr>
        <p:spPr>
          <a:xfrm>
            <a:off x="6415983" y="12308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A5A59-D4FA-719B-78C3-E1E9C3F0F599}"/>
              </a:ext>
            </a:extLst>
          </p:cNvPr>
          <p:cNvSpPr txBox="1"/>
          <p:nvPr/>
        </p:nvSpPr>
        <p:spPr>
          <a:xfrm>
            <a:off x="5280255" y="17026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14355-1603-B853-D35F-92F6D1232A75}"/>
              </a:ext>
            </a:extLst>
          </p:cNvPr>
          <p:cNvSpPr txBox="1"/>
          <p:nvPr/>
        </p:nvSpPr>
        <p:spPr>
          <a:xfrm>
            <a:off x="5046217" y="408889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=180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4B630-312E-7B77-52D6-A396DC6AEC96}"/>
              </a:ext>
            </a:extLst>
          </p:cNvPr>
          <p:cNvSpPr txBox="1"/>
          <p:nvPr/>
        </p:nvSpPr>
        <p:spPr>
          <a:xfrm>
            <a:off x="5603420" y="4943786"/>
            <a:ext cx="268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Plot/stack of detector data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4420324-9CD0-7639-8569-2835C7F16792}"/>
              </a:ext>
            </a:extLst>
          </p:cNvPr>
          <p:cNvSpPr txBox="1">
            <a:spLocks/>
          </p:cNvSpPr>
          <p:nvPr/>
        </p:nvSpPr>
        <p:spPr>
          <a:xfrm>
            <a:off x="746817" y="5709777"/>
            <a:ext cx="2933700" cy="646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Neat and clean version</a:t>
            </a:r>
          </a:p>
        </p:txBody>
      </p:sp>
    </p:spTree>
    <p:extLst>
      <p:ext uri="{BB962C8B-B14F-4D97-AF65-F5344CB8AC3E}">
        <p14:creationId xmlns:p14="http://schemas.microsoft.com/office/powerpoint/2010/main" val="2573349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6E628-1905-D100-D495-B792FD24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89189-11C1-1E90-E1DF-F3E8CA48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487BE0-7919-D169-F28E-15255B31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60073"/>
            <a:ext cx="2514600" cy="64657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Sinogram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5700CC-5880-1A4A-6019-746B95A19C16}"/>
              </a:ext>
            </a:extLst>
          </p:cNvPr>
          <p:cNvCxnSpPr/>
          <p:nvPr/>
        </p:nvCxnSpPr>
        <p:spPr>
          <a:xfrm>
            <a:off x="5715000" y="2186250"/>
            <a:ext cx="0" cy="990600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2D309FC-1687-564B-DA0C-B8FD6332D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889"/>
          <a:stretch>
            <a:fillRect/>
          </a:stretch>
        </p:blipFill>
        <p:spPr>
          <a:xfrm>
            <a:off x="1219200" y="1828800"/>
            <a:ext cx="2514600" cy="296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272543-25D1-F2FC-A679-C933F88C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84" r="7838"/>
          <a:stretch>
            <a:fillRect/>
          </a:stretch>
        </p:blipFill>
        <p:spPr>
          <a:xfrm>
            <a:off x="5791202" y="1828800"/>
            <a:ext cx="2133598" cy="29628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CC1AEC-E1E3-13CF-4E96-D58A73CF0758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9144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11D3A63-19A4-9246-B70F-5D4B7598CFDC}"/>
              </a:ext>
            </a:extLst>
          </p:cNvPr>
          <p:cNvSpPr/>
          <p:nvPr/>
        </p:nvSpPr>
        <p:spPr>
          <a:xfrm>
            <a:off x="4267200" y="2929200"/>
            <a:ext cx="914400" cy="304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E6CE8-72E0-F8DF-FB8E-A0B32E726652}"/>
              </a:ext>
            </a:extLst>
          </p:cNvPr>
          <p:cNvSpPr txBox="1"/>
          <p:nvPr/>
        </p:nvSpPr>
        <p:spPr>
          <a:xfrm>
            <a:off x="6415983" y="12308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6BC8C-AF15-10B8-6D89-B5C48D27B528}"/>
              </a:ext>
            </a:extLst>
          </p:cNvPr>
          <p:cNvSpPr txBox="1"/>
          <p:nvPr/>
        </p:nvSpPr>
        <p:spPr>
          <a:xfrm>
            <a:off x="5280255" y="17026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39BFF-B27F-D8D8-ADE8-FC7E77B36A50}"/>
              </a:ext>
            </a:extLst>
          </p:cNvPr>
          <p:cNvSpPr txBox="1"/>
          <p:nvPr/>
        </p:nvSpPr>
        <p:spPr>
          <a:xfrm>
            <a:off x="5046217" y="408889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=180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2BFB4-FEEF-A600-998D-63C19EBC1640}"/>
              </a:ext>
            </a:extLst>
          </p:cNvPr>
          <p:cNvSpPr txBox="1"/>
          <p:nvPr/>
        </p:nvSpPr>
        <p:spPr>
          <a:xfrm>
            <a:off x="5603420" y="4943786"/>
            <a:ext cx="268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Plot/stack of detector data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083F8A-B5EC-E300-1F50-AA450F12F576}"/>
              </a:ext>
            </a:extLst>
          </p:cNvPr>
          <p:cNvGrpSpPr/>
          <p:nvPr/>
        </p:nvGrpSpPr>
        <p:grpSpPr>
          <a:xfrm rot="7988057">
            <a:off x="221264" y="1520131"/>
            <a:ext cx="1593165" cy="302576"/>
            <a:chOff x="6865035" y="4114800"/>
            <a:chExt cx="1593165" cy="3048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78D32F-E361-8760-9AC5-383CCD4A54EF}"/>
                </a:ext>
              </a:extLst>
            </p:cNvPr>
            <p:cNvCxnSpPr/>
            <p:nvPr/>
          </p:nvCxnSpPr>
          <p:spPr>
            <a:xfrm>
              <a:off x="6865035" y="41148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3D289B-0E36-738F-A627-53AB96FEB8A6}"/>
                </a:ext>
              </a:extLst>
            </p:cNvPr>
            <p:cNvCxnSpPr/>
            <p:nvPr/>
          </p:nvCxnSpPr>
          <p:spPr>
            <a:xfrm>
              <a:off x="6865035" y="44196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9915E8-7E15-3B62-9003-E64F6DF37DE9}"/>
                </a:ext>
              </a:extLst>
            </p:cNvPr>
            <p:cNvCxnSpPr/>
            <p:nvPr/>
          </p:nvCxnSpPr>
          <p:spPr>
            <a:xfrm>
              <a:off x="6865035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76C25F-E904-2720-78E5-07B49DAC04FA}"/>
                </a:ext>
              </a:extLst>
            </p:cNvPr>
            <p:cNvCxnSpPr/>
            <p:nvPr/>
          </p:nvCxnSpPr>
          <p:spPr>
            <a:xfrm>
              <a:off x="71628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10449-171E-747D-B4D3-FAF3FC3A08A0}"/>
                </a:ext>
              </a:extLst>
            </p:cNvPr>
            <p:cNvCxnSpPr/>
            <p:nvPr/>
          </p:nvCxnSpPr>
          <p:spPr>
            <a:xfrm>
              <a:off x="74676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608154-DB58-D154-501B-15421D89A265}"/>
                </a:ext>
              </a:extLst>
            </p:cNvPr>
            <p:cNvCxnSpPr/>
            <p:nvPr/>
          </p:nvCxnSpPr>
          <p:spPr>
            <a:xfrm>
              <a:off x="77724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7DA326-F912-AA96-E4F0-BB9FE940D858}"/>
                </a:ext>
              </a:extLst>
            </p:cNvPr>
            <p:cNvCxnSpPr/>
            <p:nvPr/>
          </p:nvCxnSpPr>
          <p:spPr>
            <a:xfrm>
              <a:off x="80772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8190CF0-D10C-49A4-98A5-6A2F0C6D82B5}"/>
                </a:ext>
              </a:extLst>
            </p:cNvPr>
            <p:cNvCxnSpPr/>
            <p:nvPr/>
          </p:nvCxnSpPr>
          <p:spPr>
            <a:xfrm>
              <a:off x="8437526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BEAA61-6277-203D-7932-36E5F750F610}"/>
              </a:ext>
            </a:extLst>
          </p:cNvPr>
          <p:cNvGrpSpPr/>
          <p:nvPr/>
        </p:nvGrpSpPr>
        <p:grpSpPr>
          <a:xfrm rot="5400000">
            <a:off x="-29955" y="2930311"/>
            <a:ext cx="1593165" cy="302576"/>
            <a:chOff x="6865035" y="4114800"/>
            <a:chExt cx="1593165" cy="3048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733F11-8162-F939-B03A-304857DCC0D0}"/>
                </a:ext>
              </a:extLst>
            </p:cNvPr>
            <p:cNvCxnSpPr/>
            <p:nvPr/>
          </p:nvCxnSpPr>
          <p:spPr>
            <a:xfrm>
              <a:off x="6865035" y="41148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1C55843-A578-3510-B816-0201D35172D8}"/>
                </a:ext>
              </a:extLst>
            </p:cNvPr>
            <p:cNvCxnSpPr/>
            <p:nvPr/>
          </p:nvCxnSpPr>
          <p:spPr>
            <a:xfrm>
              <a:off x="6865035" y="44196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34014D-169A-28D7-6C8B-5F3C191EB4BC}"/>
                </a:ext>
              </a:extLst>
            </p:cNvPr>
            <p:cNvCxnSpPr/>
            <p:nvPr/>
          </p:nvCxnSpPr>
          <p:spPr>
            <a:xfrm>
              <a:off x="6865035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0B3374-0D52-2A79-670D-ADE94F92452B}"/>
                </a:ext>
              </a:extLst>
            </p:cNvPr>
            <p:cNvCxnSpPr/>
            <p:nvPr/>
          </p:nvCxnSpPr>
          <p:spPr>
            <a:xfrm>
              <a:off x="71628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E1FAC1-CEE8-0B63-C9C4-6049F28A3946}"/>
                </a:ext>
              </a:extLst>
            </p:cNvPr>
            <p:cNvCxnSpPr/>
            <p:nvPr/>
          </p:nvCxnSpPr>
          <p:spPr>
            <a:xfrm>
              <a:off x="74676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F76AA1-E744-C56B-19C4-A78E9F0B8571}"/>
                </a:ext>
              </a:extLst>
            </p:cNvPr>
            <p:cNvCxnSpPr/>
            <p:nvPr/>
          </p:nvCxnSpPr>
          <p:spPr>
            <a:xfrm>
              <a:off x="77724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5126C8F-4DD9-063D-4C36-CCBF6129CF12}"/>
                </a:ext>
              </a:extLst>
            </p:cNvPr>
            <p:cNvCxnSpPr/>
            <p:nvPr/>
          </p:nvCxnSpPr>
          <p:spPr>
            <a:xfrm>
              <a:off x="80772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0B0D0A-1617-3EE2-DD38-4B9E73466ED4}"/>
                </a:ext>
              </a:extLst>
            </p:cNvPr>
            <p:cNvCxnSpPr/>
            <p:nvPr/>
          </p:nvCxnSpPr>
          <p:spPr>
            <a:xfrm>
              <a:off x="8437526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74AC94-D56F-6DFF-3701-D55A302B7C3C}"/>
              </a:ext>
            </a:extLst>
          </p:cNvPr>
          <p:cNvGrpSpPr/>
          <p:nvPr/>
        </p:nvGrpSpPr>
        <p:grpSpPr>
          <a:xfrm rot="16200000">
            <a:off x="3224402" y="2850254"/>
            <a:ext cx="1593165" cy="302576"/>
            <a:chOff x="6865035" y="4114800"/>
            <a:chExt cx="1593165" cy="3048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704FC1-5967-8A4C-3605-07FF9E1255E1}"/>
                </a:ext>
              </a:extLst>
            </p:cNvPr>
            <p:cNvCxnSpPr/>
            <p:nvPr/>
          </p:nvCxnSpPr>
          <p:spPr>
            <a:xfrm>
              <a:off x="6865035" y="41148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044AB56-32A0-901B-5A5B-20F25E49489E}"/>
                </a:ext>
              </a:extLst>
            </p:cNvPr>
            <p:cNvCxnSpPr/>
            <p:nvPr/>
          </p:nvCxnSpPr>
          <p:spPr>
            <a:xfrm>
              <a:off x="6865035" y="44196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B04F755-107A-89F5-3C5D-47851BC91C01}"/>
                </a:ext>
              </a:extLst>
            </p:cNvPr>
            <p:cNvCxnSpPr/>
            <p:nvPr/>
          </p:nvCxnSpPr>
          <p:spPr>
            <a:xfrm>
              <a:off x="6865035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7BE450E-0389-AF28-F384-CDD84403602E}"/>
                </a:ext>
              </a:extLst>
            </p:cNvPr>
            <p:cNvCxnSpPr/>
            <p:nvPr/>
          </p:nvCxnSpPr>
          <p:spPr>
            <a:xfrm>
              <a:off x="71628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B00FA9E-19F2-350F-3B8B-2BE56A81F67D}"/>
                </a:ext>
              </a:extLst>
            </p:cNvPr>
            <p:cNvCxnSpPr/>
            <p:nvPr/>
          </p:nvCxnSpPr>
          <p:spPr>
            <a:xfrm>
              <a:off x="74676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3DAF28F-16A7-9096-75FD-1E893595E824}"/>
                </a:ext>
              </a:extLst>
            </p:cNvPr>
            <p:cNvCxnSpPr/>
            <p:nvPr/>
          </p:nvCxnSpPr>
          <p:spPr>
            <a:xfrm>
              <a:off x="77724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B9755D9-1563-2937-4422-924386AE3B37}"/>
                </a:ext>
              </a:extLst>
            </p:cNvPr>
            <p:cNvCxnSpPr/>
            <p:nvPr/>
          </p:nvCxnSpPr>
          <p:spPr>
            <a:xfrm>
              <a:off x="80772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1884439-8339-2A8D-ADED-CED9605DDE41}"/>
                </a:ext>
              </a:extLst>
            </p:cNvPr>
            <p:cNvCxnSpPr/>
            <p:nvPr/>
          </p:nvCxnSpPr>
          <p:spPr>
            <a:xfrm>
              <a:off x="8437526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7B8CD7-6041-F237-3EE5-275B6D0B96D0}"/>
              </a:ext>
            </a:extLst>
          </p:cNvPr>
          <p:cNvGrpSpPr/>
          <p:nvPr/>
        </p:nvGrpSpPr>
        <p:grpSpPr>
          <a:xfrm rot="2484799">
            <a:off x="3214863" y="1468534"/>
            <a:ext cx="1593165" cy="302576"/>
            <a:chOff x="6865035" y="4114800"/>
            <a:chExt cx="1593165" cy="30480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0A2D69-C56F-3E3F-D7BC-56BF344CC61B}"/>
                </a:ext>
              </a:extLst>
            </p:cNvPr>
            <p:cNvCxnSpPr/>
            <p:nvPr/>
          </p:nvCxnSpPr>
          <p:spPr>
            <a:xfrm>
              <a:off x="6865035" y="41148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B8FC3FA-B5A0-1238-7567-698C46ABAC6A}"/>
                </a:ext>
              </a:extLst>
            </p:cNvPr>
            <p:cNvCxnSpPr/>
            <p:nvPr/>
          </p:nvCxnSpPr>
          <p:spPr>
            <a:xfrm>
              <a:off x="6865035" y="44196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988ED4D-54C6-8B56-83CE-8DAC56C65E02}"/>
                </a:ext>
              </a:extLst>
            </p:cNvPr>
            <p:cNvCxnSpPr/>
            <p:nvPr/>
          </p:nvCxnSpPr>
          <p:spPr>
            <a:xfrm>
              <a:off x="6865035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0082138-DD04-71F1-FCD5-61F844EE8FBA}"/>
                </a:ext>
              </a:extLst>
            </p:cNvPr>
            <p:cNvCxnSpPr/>
            <p:nvPr/>
          </p:nvCxnSpPr>
          <p:spPr>
            <a:xfrm>
              <a:off x="71628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E9BC3EA-E6BF-0B7D-CB14-9D98556A8D66}"/>
                </a:ext>
              </a:extLst>
            </p:cNvPr>
            <p:cNvCxnSpPr/>
            <p:nvPr/>
          </p:nvCxnSpPr>
          <p:spPr>
            <a:xfrm>
              <a:off x="74676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7DD741E-0E3E-FDCC-016F-AF386B24FDF4}"/>
                </a:ext>
              </a:extLst>
            </p:cNvPr>
            <p:cNvCxnSpPr/>
            <p:nvPr/>
          </p:nvCxnSpPr>
          <p:spPr>
            <a:xfrm>
              <a:off x="77724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A5D605B-0D14-2ED9-F83A-B2F7EA4190AD}"/>
                </a:ext>
              </a:extLst>
            </p:cNvPr>
            <p:cNvCxnSpPr/>
            <p:nvPr/>
          </p:nvCxnSpPr>
          <p:spPr>
            <a:xfrm>
              <a:off x="80772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4072540-0CA0-8454-0090-D91E15BD288B}"/>
                </a:ext>
              </a:extLst>
            </p:cNvPr>
            <p:cNvCxnSpPr/>
            <p:nvPr/>
          </p:nvCxnSpPr>
          <p:spPr>
            <a:xfrm>
              <a:off x="8437526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C33E38-463A-FAB9-6C9F-BB35CFA41CAB}"/>
              </a:ext>
            </a:extLst>
          </p:cNvPr>
          <p:cNvGrpSpPr/>
          <p:nvPr/>
        </p:nvGrpSpPr>
        <p:grpSpPr>
          <a:xfrm>
            <a:off x="1701456" y="1193547"/>
            <a:ext cx="1593165" cy="302576"/>
            <a:chOff x="6865035" y="4114800"/>
            <a:chExt cx="1593165" cy="304800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6D025E-F207-392D-8B2E-D42397246300}"/>
                </a:ext>
              </a:extLst>
            </p:cNvPr>
            <p:cNvCxnSpPr/>
            <p:nvPr/>
          </p:nvCxnSpPr>
          <p:spPr>
            <a:xfrm>
              <a:off x="6865035" y="41148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ED4B7CA-7A08-416A-13FF-66DF2EBA00BE}"/>
                </a:ext>
              </a:extLst>
            </p:cNvPr>
            <p:cNvCxnSpPr/>
            <p:nvPr/>
          </p:nvCxnSpPr>
          <p:spPr>
            <a:xfrm>
              <a:off x="6865035" y="4419600"/>
              <a:ext cx="15931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C3D32DE-5F0B-6477-6B67-B4E41E0DA973}"/>
                </a:ext>
              </a:extLst>
            </p:cNvPr>
            <p:cNvCxnSpPr/>
            <p:nvPr/>
          </p:nvCxnSpPr>
          <p:spPr>
            <a:xfrm>
              <a:off x="6865035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FAFB3B6-A2F5-BE54-4F82-FECB80101B5D}"/>
                </a:ext>
              </a:extLst>
            </p:cNvPr>
            <p:cNvCxnSpPr/>
            <p:nvPr/>
          </p:nvCxnSpPr>
          <p:spPr>
            <a:xfrm>
              <a:off x="71628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6D34CD-BA3E-182E-3D12-6F706EF13728}"/>
                </a:ext>
              </a:extLst>
            </p:cNvPr>
            <p:cNvCxnSpPr/>
            <p:nvPr/>
          </p:nvCxnSpPr>
          <p:spPr>
            <a:xfrm>
              <a:off x="74676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470477-5812-846F-196A-B44D2DFB29F4}"/>
                </a:ext>
              </a:extLst>
            </p:cNvPr>
            <p:cNvCxnSpPr/>
            <p:nvPr/>
          </p:nvCxnSpPr>
          <p:spPr>
            <a:xfrm>
              <a:off x="77724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7A8114-4E35-4F12-5461-6878798D8DE4}"/>
                </a:ext>
              </a:extLst>
            </p:cNvPr>
            <p:cNvCxnSpPr/>
            <p:nvPr/>
          </p:nvCxnSpPr>
          <p:spPr>
            <a:xfrm>
              <a:off x="8077200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C76FAB-A691-4E47-393C-8E6650AE09AF}"/>
                </a:ext>
              </a:extLst>
            </p:cNvPr>
            <p:cNvCxnSpPr/>
            <p:nvPr/>
          </p:nvCxnSpPr>
          <p:spPr>
            <a:xfrm>
              <a:off x="8437526" y="4114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DCD4F3CC-F4FF-7E40-83F5-4243F24EDB04}"/>
              </a:ext>
            </a:extLst>
          </p:cNvPr>
          <p:cNvSpPr txBox="1"/>
          <p:nvPr/>
        </p:nvSpPr>
        <p:spPr>
          <a:xfrm>
            <a:off x="3762299" y="37799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F0B46D-A26B-288D-260B-CEABE35045EE}"/>
              </a:ext>
            </a:extLst>
          </p:cNvPr>
          <p:cNvSpPr txBox="1"/>
          <p:nvPr/>
        </p:nvSpPr>
        <p:spPr>
          <a:xfrm>
            <a:off x="340543" y="384850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=180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A995BF-2B17-9323-CF32-C2CA41806113}"/>
              </a:ext>
            </a:extLst>
          </p:cNvPr>
          <p:cNvSpPr txBox="1"/>
          <p:nvPr/>
        </p:nvSpPr>
        <p:spPr>
          <a:xfrm>
            <a:off x="3989178" y="117344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=45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B647A3-1FA0-7D4E-D8E7-B612610363FB}"/>
              </a:ext>
            </a:extLst>
          </p:cNvPr>
          <p:cNvSpPr txBox="1"/>
          <p:nvPr/>
        </p:nvSpPr>
        <p:spPr>
          <a:xfrm>
            <a:off x="2111749" y="76779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=90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37A672-449C-0793-2D53-6B5E2CAC7766}"/>
              </a:ext>
            </a:extLst>
          </p:cNvPr>
          <p:cNvSpPr txBox="1"/>
          <p:nvPr/>
        </p:nvSpPr>
        <p:spPr>
          <a:xfrm>
            <a:off x="197335" y="113610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r>
              <a:rPr lang="en-IN" dirty="0"/>
              <a:t>=135</a:t>
            </a:r>
            <a:r>
              <a:rPr lang="en-IN" baseline="30000" dirty="0"/>
              <a:t>0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2E612-5BE7-1B4A-0F1E-A327EDA62E21}"/>
              </a:ext>
            </a:extLst>
          </p:cNvPr>
          <p:cNvSpPr txBox="1">
            <a:spLocks/>
          </p:cNvSpPr>
          <p:nvPr/>
        </p:nvSpPr>
        <p:spPr>
          <a:xfrm>
            <a:off x="340543" y="5734032"/>
            <a:ext cx="3884755" cy="369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Contains details but clumsy version</a:t>
            </a:r>
          </a:p>
        </p:txBody>
      </p:sp>
    </p:spTree>
    <p:extLst>
      <p:ext uri="{BB962C8B-B14F-4D97-AF65-F5344CB8AC3E}">
        <p14:creationId xmlns:p14="http://schemas.microsoft.com/office/powerpoint/2010/main" val="264727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36725"/>
            <a:ext cx="8229600" cy="3048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Fourier slice theorem </a:t>
            </a:r>
            <a:br>
              <a:rPr lang="en-IN" dirty="0">
                <a:solidFill>
                  <a:srgbClr val="0070C0"/>
                </a:solidFill>
              </a:rPr>
            </a:br>
            <a:r>
              <a:rPr lang="en-IN" dirty="0"/>
              <a:t>or</a:t>
            </a:r>
            <a:br>
              <a:rPr lang="en-IN" dirty="0">
                <a:solidFill>
                  <a:srgbClr val="0070C0"/>
                </a:solidFill>
              </a:rPr>
            </a:br>
            <a:r>
              <a:rPr lang="en-IN" dirty="0">
                <a:solidFill>
                  <a:srgbClr val="008000"/>
                </a:solidFill>
              </a:rPr>
              <a:t>Central slice theorem </a:t>
            </a:r>
            <a:br>
              <a:rPr lang="en-IN" dirty="0">
                <a:solidFill>
                  <a:srgbClr val="008000"/>
                </a:solidFill>
              </a:rPr>
            </a:br>
            <a:r>
              <a:rPr lang="en-IN" dirty="0"/>
              <a:t>or</a:t>
            </a:r>
            <a:br>
              <a:rPr lang="en-IN" dirty="0"/>
            </a:br>
            <a:r>
              <a:rPr lang="en-IN" dirty="0">
                <a:solidFill>
                  <a:srgbClr val="C00000"/>
                </a:solidFill>
              </a:rPr>
              <a:t>Projection slice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120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275" t="34375" r="9590" b="33333"/>
          <a:stretch/>
        </p:blipFill>
        <p:spPr>
          <a:xfrm>
            <a:off x="228600" y="2514600"/>
            <a:ext cx="8827200" cy="210494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18869"/>
            <a:ext cx="7239000" cy="838200"/>
          </a:xfrm>
        </p:spPr>
        <p:txBody>
          <a:bodyPr>
            <a:normAutofit/>
          </a:bodyPr>
          <a:lstStyle/>
          <a:p>
            <a:r>
              <a:rPr lang="en-IN" dirty="0" err="1"/>
              <a:t>Sinogram</a:t>
            </a:r>
            <a:r>
              <a:rPr lang="en-IN" dirty="0"/>
              <a:t> to image formation</a:t>
            </a:r>
          </a:p>
        </p:txBody>
      </p:sp>
    </p:spTree>
    <p:extLst>
      <p:ext uri="{BB962C8B-B14F-4D97-AF65-F5344CB8AC3E}">
        <p14:creationId xmlns:p14="http://schemas.microsoft.com/office/powerpoint/2010/main" val="2759173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83" y="1371600"/>
            <a:ext cx="6223033" cy="468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20B30EE-DFFB-B250-1112-1B2F7ADA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17" y="427479"/>
            <a:ext cx="2885365" cy="4111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Illustration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214F7-EBDE-24A6-F411-FE3C313F79C7}"/>
              </a:ext>
            </a:extLst>
          </p:cNvPr>
          <p:cNvSpPr/>
          <p:nvPr/>
        </p:nvSpPr>
        <p:spPr>
          <a:xfrm>
            <a:off x="4419600" y="5334000"/>
            <a:ext cx="2057400" cy="4572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395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77" y="1600200"/>
            <a:ext cx="5795846" cy="427096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EB1CB1F-76D8-D950-3C61-102ADF1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17" y="427479"/>
            <a:ext cx="2885365" cy="4111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Illustration</a:t>
            </a:r>
          </a:p>
        </p:txBody>
      </p:sp>
    </p:spTree>
    <p:extLst>
      <p:ext uri="{BB962C8B-B14F-4D97-AF65-F5344CB8AC3E}">
        <p14:creationId xmlns:p14="http://schemas.microsoft.com/office/powerpoint/2010/main" val="1474614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7924800" cy="6397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Application in image reconstruction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28600" y="1676400"/>
            <a:ext cx="86212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rgbClr val="0000CC"/>
                </a:solidFill>
              </a:rPr>
              <a:t>Therefore, collect the projections of a 2D object from different-different angles, take the Fourier transform of the individual projections, arrange them in a 2D grid as shown in the previous slide and then take the 2D inverse Fourier transform </a:t>
            </a:r>
            <a:r>
              <a:rPr lang="en-IN" sz="2800" b="1" u="sng" dirty="0">
                <a:solidFill>
                  <a:srgbClr val="0000CC"/>
                </a:solidFill>
              </a:rPr>
              <a:t>which will provide image of the object</a:t>
            </a:r>
            <a:r>
              <a:rPr lang="en-IN" sz="2800" dirty="0">
                <a:solidFill>
                  <a:srgbClr val="0000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A584-2007-E332-155D-C126612E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A211-5ADB-C54D-4BD9-0D982570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2743200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The Fourier slice theorem step by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311B-0A2B-2055-8ECF-DF1EA28D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734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E9912-37F5-7A2D-F0B3-BA48E68B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C7BD-E7D7-E3F9-3797-717C181C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345922"/>
            <a:ext cx="2870404" cy="6397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Step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320A9-1F01-167B-F7AA-C961AD84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A82F6-7E7B-AF8A-3C02-6AC70CE5A5A3}"/>
              </a:ext>
            </a:extLst>
          </p:cNvPr>
          <p:cNvSpPr/>
          <p:nvPr/>
        </p:nvSpPr>
        <p:spPr>
          <a:xfrm>
            <a:off x="3670505" y="2438400"/>
            <a:ext cx="190500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C1766C-76A1-273D-18E9-6BC27BC040A3}"/>
              </a:ext>
            </a:extLst>
          </p:cNvPr>
          <p:cNvCxnSpPr/>
          <p:nvPr/>
        </p:nvCxnSpPr>
        <p:spPr>
          <a:xfrm>
            <a:off x="2184605" y="2514600"/>
            <a:ext cx="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71DCAA-AE39-3853-34CD-ABBC5ED1EDAC}"/>
              </a:ext>
            </a:extLst>
          </p:cNvPr>
          <p:cNvCxnSpPr>
            <a:cxnSpLocks/>
          </p:cNvCxnSpPr>
          <p:nvPr/>
        </p:nvCxnSpPr>
        <p:spPr>
          <a:xfrm>
            <a:off x="1879805" y="3657600"/>
            <a:ext cx="1143000" cy="163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90EB13-D936-3C06-9E14-0B375A7BFB8B}"/>
              </a:ext>
            </a:extLst>
          </p:cNvPr>
          <p:cNvCxnSpPr>
            <a:cxnSpLocks/>
          </p:cNvCxnSpPr>
          <p:nvPr/>
        </p:nvCxnSpPr>
        <p:spPr>
          <a:xfrm>
            <a:off x="3403805" y="5562600"/>
            <a:ext cx="21839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73DE3F-2202-543F-86A5-F5DFB5ECCF26}"/>
              </a:ext>
            </a:extLst>
          </p:cNvPr>
          <p:cNvCxnSpPr>
            <a:cxnSpLocks/>
          </p:cNvCxnSpPr>
          <p:nvPr/>
        </p:nvCxnSpPr>
        <p:spPr>
          <a:xfrm>
            <a:off x="2209186" y="4572000"/>
            <a:ext cx="1562100" cy="125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0EC2E0-A759-29A5-FD2A-B171EED1B622}"/>
              </a:ext>
            </a:extLst>
          </p:cNvPr>
          <p:cNvSpPr txBox="1"/>
          <p:nvPr/>
        </p:nvSpPr>
        <p:spPr>
          <a:xfrm>
            <a:off x="1524000" y="275978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47306-7BED-052E-2DE5-A761D30C42FB}"/>
              </a:ext>
            </a:extLst>
          </p:cNvPr>
          <p:cNvSpPr txBox="1"/>
          <p:nvPr/>
        </p:nvSpPr>
        <p:spPr>
          <a:xfrm>
            <a:off x="1639380" y="37878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2FA292-0694-8B8A-BCDF-97364C845ACD}"/>
              </a:ext>
            </a:extLst>
          </p:cNvPr>
          <p:cNvSpPr txBox="1"/>
          <p:nvPr/>
        </p:nvSpPr>
        <p:spPr>
          <a:xfrm>
            <a:off x="2184605" y="482886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286F52-149F-E46D-E484-B450507A829A}"/>
              </a:ext>
            </a:extLst>
          </p:cNvPr>
          <p:cNvSpPr txBox="1"/>
          <p:nvPr/>
        </p:nvSpPr>
        <p:spPr>
          <a:xfrm>
            <a:off x="5354130" y="563971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3414E-6A36-B3B2-6980-BA5B72352DC8}"/>
              </a:ext>
            </a:extLst>
          </p:cNvPr>
          <p:cNvSpPr txBox="1"/>
          <p:nvPr/>
        </p:nvSpPr>
        <p:spPr>
          <a:xfrm>
            <a:off x="278458" y="1192768"/>
            <a:ext cx="340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Place the object and the detectors</a:t>
            </a:r>
          </a:p>
        </p:txBody>
      </p:sp>
    </p:spTree>
    <p:extLst>
      <p:ext uri="{BB962C8B-B14F-4D97-AF65-F5344CB8AC3E}">
        <p14:creationId xmlns:p14="http://schemas.microsoft.com/office/powerpoint/2010/main" val="2876809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7B04-6383-3A71-AE6B-78C9AC7B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9861-FBE4-1B4B-54EA-6EC5F849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660" y="340122"/>
            <a:ext cx="2818422" cy="6397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Step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72F02-B810-E289-3316-AD529C22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2CE99-78F5-8DE0-AAB0-17827FB1A781}"/>
              </a:ext>
            </a:extLst>
          </p:cNvPr>
          <p:cNvSpPr/>
          <p:nvPr/>
        </p:nvSpPr>
        <p:spPr>
          <a:xfrm>
            <a:off x="3670505" y="2438400"/>
            <a:ext cx="190500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9C1EB0-CB87-CDF2-B7F9-5A61DAA6CA9F}"/>
              </a:ext>
            </a:extLst>
          </p:cNvPr>
          <p:cNvCxnSpPr/>
          <p:nvPr/>
        </p:nvCxnSpPr>
        <p:spPr>
          <a:xfrm>
            <a:off x="2184605" y="2514600"/>
            <a:ext cx="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39C68B-4566-D4C5-BB9F-48B7213BC8B8}"/>
              </a:ext>
            </a:extLst>
          </p:cNvPr>
          <p:cNvCxnSpPr>
            <a:cxnSpLocks/>
          </p:cNvCxnSpPr>
          <p:nvPr/>
        </p:nvCxnSpPr>
        <p:spPr>
          <a:xfrm>
            <a:off x="1879805" y="3657600"/>
            <a:ext cx="1143000" cy="163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2120A4-96EA-5E27-E5C7-829F5BCE5102}"/>
              </a:ext>
            </a:extLst>
          </p:cNvPr>
          <p:cNvCxnSpPr>
            <a:cxnSpLocks/>
          </p:cNvCxnSpPr>
          <p:nvPr/>
        </p:nvCxnSpPr>
        <p:spPr>
          <a:xfrm>
            <a:off x="3403805" y="5562600"/>
            <a:ext cx="21839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AB23EB-C909-1515-250D-52D63E064599}"/>
              </a:ext>
            </a:extLst>
          </p:cNvPr>
          <p:cNvSpPr txBox="1"/>
          <p:nvPr/>
        </p:nvSpPr>
        <p:spPr>
          <a:xfrm>
            <a:off x="1744313" y="223222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23029-B13D-A768-D64A-A0922FE27EFC}"/>
              </a:ext>
            </a:extLst>
          </p:cNvPr>
          <p:cNvSpPr txBox="1"/>
          <p:nvPr/>
        </p:nvSpPr>
        <p:spPr>
          <a:xfrm>
            <a:off x="719520" y="460393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AA9172-438E-0ACC-6364-E70EBAB95647}"/>
              </a:ext>
            </a:extLst>
          </p:cNvPr>
          <p:cNvSpPr txBox="1"/>
          <p:nvPr/>
        </p:nvSpPr>
        <p:spPr>
          <a:xfrm>
            <a:off x="1735047" y="581875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2DF6CF-C302-A6AC-5CB8-D922228725AC}"/>
              </a:ext>
            </a:extLst>
          </p:cNvPr>
          <p:cNvSpPr txBox="1"/>
          <p:nvPr/>
        </p:nvSpPr>
        <p:spPr>
          <a:xfrm>
            <a:off x="4608871" y="622817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E34930-76E6-5D77-7BBF-4AD73DCEB806}"/>
              </a:ext>
            </a:extLst>
          </p:cNvPr>
          <p:cNvGrpSpPr/>
          <p:nvPr/>
        </p:nvGrpSpPr>
        <p:grpSpPr>
          <a:xfrm rot="10800000">
            <a:off x="3314700" y="5562600"/>
            <a:ext cx="2362200" cy="635396"/>
            <a:chOff x="1371600" y="4004843"/>
            <a:chExt cx="2362200" cy="63539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DA703D-138E-5D54-B254-C73423ABF531}"/>
                </a:ext>
              </a:extLst>
            </p:cNvPr>
            <p:cNvCxnSpPr/>
            <p:nvPr/>
          </p:nvCxnSpPr>
          <p:spPr>
            <a:xfrm>
              <a:off x="1371600" y="4634552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951FBF18-E9B0-F7B9-61E3-47F13718E4A4}"/>
                </a:ext>
              </a:extLst>
            </p:cNvPr>
            <p:cNvSpPr/>
            <p:nvPr/>
          </p:nvSpPr>
          <p:spPr>
            <a:xfrm>
              <a:off x="1596788" y="4004843"/>
              <a:ext cx="1746913" cy="635396"/>
            </a:xfrm>
            <a:custGeom>
              <a:avLst/>
              <a:gdLst>
                <a:gd name="connsiteX0" fmla="*/ 0 w 1746913"/>
                <a:gd name="connsiteY0" fmla="*/ 635396 h 635396"/>
                <a:gd name="connsiteX1" fmla="*/ 54591 w 1746913"/>
                <a:gd name="connsiteY1" fmla="*/ 389736 h 635396"/>
                <a:gd name="connsiteX2" fmla="*/ 245660 w 1746913"/>
                <a:gd name="connsiteY2" fmla="*/ 307850 h 635396"/>
                <a:gd name="connsiteX3" fmla="*/ 300251 w 1746913"/>
                <a:gd name="connsiteY3" fmla="*/ 212315 h 635396"/>
                <a:gd name="connsiteX4" fmla="*/ 491319 w 1746913"/>
                <a:gd name="connsiteY4" fmla="*/ 34894 h 635396"/>
                <a:gd name="connsiteX5" fmla="*/ 736979 w 1746913"/>
                <a:gd name="connsiteY5" fmla="*/ 7599 h 635396"/>
                <a:gd name="connsiteX6" fmla="*/ 941696 w 1746913"/>
                <a:gd name="connsiteY6" fmla="*/ 130429 h 635396"/>
                <a:gd name="connsiteX7" fmla="*/ 1146412 w 1746913"/>
                <a:gd name="connsiteY7" fmla="*/ 198667 h 635396"/>
                <a:gd name="connsiteX8" fmla="*/ 1337481 w 1746913"/>
                <a:gd name="connsiteY8" fmla="*/ 307850 h 635396"/>
                <a:gd name="connsiteX9" fmla="*/ 1528549 w 1746913"/>
                <a:gd name="connsiteY9" fmla="*/ 335145 h 635396"/>
                <a:gd name="connsiteX10" fmla="*/ 1665027 w 1746913"/>
                <a:gd name="connsiteY10" fmla="*/ 417032 h 635396"/>
                <a:gd name="connsiteX11" fmla="*/ 1746913 w 1746913"/>
                <a:gd name="connsiteY11" fmla="*/ 635396 h 63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913" h="635396">
                  <a:moveTo>
                    <a:pt x="0" y="635396"/>
                  </a:moveTo>
                  <a:cubicBezTo>
                    <a:pt x="6824" y="539861"/>
                    <a:pt x="13648" y="444327"/>
                    <a:pt x="54591" y="389736"/>
                  </a:cubicBezTo>
                  <a:cubicBezTo>
                    <a:pt x="95534" y="335145"/>
                    <a:pt x="204717" y="337420"/>
                    <a:pt x="245660" y="307850"/>
                  </a:cubicBezTo>
                  <a:cubicBezTo>
                    <a:pt x="286603" y="278280"/>
                    <a:pt x="259308" y="257808"/>
                    <a:pt x="300251" y="212315"/>
                  </a:cubicBezTo>
                  <a:cubicBezTo>
                    <a:pt x="341194" y="166822"/>
                    <a:pt x="418531" y="69013"/>
                    <a:pt x="491319" y="34894"/>
                  </a:cubicBezTo>
                  <a:cubicBezTo>
                    <a:pt x="564107" y="775"/>
                    <a:pt x="661916" y="-8323"/>
                    <a:pt x="736979" y="7599"/>
                  </a:cubicBezTo>
                  <a:cubicBezTo>
                    <a:pt x="812042" y="23521"/>
                    <a:pt x="873457" y="98584"/>
                    <a:pt x="941696" y="130429"/>
                  </a:cubicBezTo>
                  <a:cubicBezTo>
                    <a:pt x="1009935" y="162274"/>
                    <a:pt x="1080448" y="169097"/>
                    <a:pt x="1146412" y="198667"/>
                  </a:cubicBezTo>
                  <a:cubicBezTo>
                    <a:pt x="1212376" y="228237"/>
                    <a:pt x="1273792" y="285104"/>
                    <a:pt x="1337481" y="307850"/>
                  </a:cubicBezTo>
                  <a:cubicBezTo>
                    <a:pt x="1401170" y="330596"/>
                    <a:pt x="1473958" y="316948"/>
                    <a:pt x="1528549" y="335145"/>
                  </a:cubicBezTo>
                  <a:cubicBezTo>
                    <a:pt x="1583140" y="353342"/>
                    <a:pt x="1628633" y="366990"/>
                    <a:pt x="1665027" y="417032"/>
                  </a:cubicBezTo>
                  <a:cubicBezTo>
                    <a:pt x="1701421" y="467074"/>
                    <a:pt x="1724167" y="551235"/>
                    <a:pt x="1746913" y="63539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4991B4-0D83-A01F-3EFC-FEF2D3F01CE3}"/>
              </a:ext>
            </a:extLst>
          </p:cNvPr>
          <p:cNvGrpSpPr/>
          <p:nvPr/>
        </p:nvGrpSpPr>
        <p:grpSpPr>
          <a:xfrm rot="16200000">
            <a:off x="839024" y="2852320"/>
            <a:ext cx="1674602" cy="1090003"/>
            <a:chOff x="4678907" y="2627685"/>
            <a:chExt cx="2362200" cy="109000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0F7DCF7-6DA2-A11D-5C3F-E51C80E362EC}"/>
                </a:ext>
              </a:extLst>
            </p:cNvPr>
            <p:cNvCxnSpPr/>
            <p:nvPr/>
          </p:nvCxnSpPr>
          <p:spPr>
            <a:xfrm>
              <a:off x="4678907" y="3698544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5F5DC4D6-9344-F5F8-120E-0D0130E11E14}"/>
                </a:ext>
              </a:extLst>
            </p:cNvPr>
            <p:cNvSpPr/>
            <p:nvPr/>
          </p:nvSpPr>
          <p:spPr>
            <a:xfrm>
              <a:off x="5080109" y="2627685"/>
              <a:ext cx="1217695" cy="1090003"/>
            </a:xfrm>
            <a:custGeom>
              <a:avLst/>
              <a:gdLst>
                <a:gd name="connsiteX0" fmla="*/ 10506 w 1217695"/>
                <a:gd name="connsiteY0" fmla="*/ 1084506 h 1090003"/>
                <a:gd name="connsiteX1" fmla="*/ 10506 w 1217695"/>
                <a:gd name="connsiteY1" fmla="*/ 907085 h 1090003"/>
                <a:gd name="connsiteX2" fmla="*/ 119688 w 1217695"/>
                <a:gd name="connsiteY2" fmla="*/ 688721 h 1090003"/>
                <a:gd name="connsiteX3" fmla="*/ 133336 w 1217695"/>
                <a:gd name="connsiteY3" fmla="*/ 524948 h 1090003"/>
                <a:gd name="connsiteX4" fmla="*/ 256166 w 1217695"/>
                <a:gd name="connsiteY4" fmla="*/ 320231 h 1090003"/>
                <a:gd name="connsiteX5" fmla="*/ 419939 w 1217695"/>
                <a:gd name="connsiteY5" fmla="*/ 238345 h 1090003"/>
                <a:gd name="connsiteX6" fmla="*/ 529121 w 1217695"/>
                <a:gd name="connsiteY6" fmla="*/ 74572 h 1090003"/>
                <a:gd name="connsiteX7" fmla="*/ 665598 w 1217695"/>
                <a:gd name="connsiteY7" fmla="*/ 6333 h 1090003"/>
                <a:gd name="connsiteX8" fmla="*/ 747485 w 1217695"/>
                <a:gd name="connsiteY8" fmla="*/ 224697 h 1090003"/>
                <a:gd name="connsiteX9" fmla="*/ 815724 w 1217695"/>
                <a:gd name="connsiteY9" fmla="*/ 306584 h 1090003"/>
                <a:gd name="connsiteX10" fmla="*/ 938554 w 1217695"/>
                <a:gd name="connsiteY10" fmla="*/ 579539 h 1090003"/>
                <a:gd name="connsiteX11" fmla="*/ 1088679 w 1217695"/>
                <a:gd name="connsiteY11" fmla="*/ 756960 h 1090003"/>
                <a:gd name="connsiteX12" fmla="*/ 1211509 w 1217695"/>
                <a:gd name="connsiteY12" fmla="*/ 961676 h 1090003"/>
                <a:gd name="connsiteX13" fmla="*/ 1197861 w 1217695"/>
                <a:gd name="connsiteY13" fmla="*/ 1084506 h 1090003"/>
                <a:gd name="connsiteX14" fmla="*/ 1184213 w 1217695"/>
                <a:gd name="connsiteY14" fmla="*/ 1057211 h 109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7695" h="1090003">
                  <a:moveTo>
                    <a:pt x="10506" y="1084506"/>
                  </a:moveTo>
                  <a:cubicBezTo>
                    <a:pt x="1407" y="1028777"/>
                    <a:pt x="-7691" y="973049"/>
                    <a:pt x="10506" y="907085"/>
                  </a:cubicBezTo>
                  <a:cubicBezTo>
                    <a:pt x="28703" y="841121"/>
                    <a:pt x="99216" y="752411"/>
                    <a:pt x="119688" y="688721"/>
                  </a:cubicBezTo>
                  <a:cubicBezTo>
                    <a:pt x="140160" y="625031"/>
                    <a:pt x="110590" y="586363"/>
                    <a:pt x="133336" y="524948"/>
                  </a:cubicBezTo>
                  <a:cubicBezTo>
                    <a:pt x="156082" y="463533"/>
                    <a:pt x="208399" y="367998"/>
                    <a:pt x="256166" y="320231"/>
                  </a:cubicBezTo>
                  <a:cubicBezTo>
                    <a:pt x="303933" y="272464"/>
                    <a:pt x="374447" y="279288"/>
                    <a:pt x="419939" y="238345"/>
                  </a:cubicBezTo>
                  <a:cubicBezTo>
                    <a:pt x="465432" y="197402"/>
                    <a:pt x="488178" y="113241"/>
                    <a:pt x="529121" y="74572"/>
                  </a:cubicBezTo>
                  <a:cubicBezTo>
                    <a:pt x="570064" y="35903"/>
                    <a:pt x="629204" y="-18688"/>
                    <a:pt x="665598" y="6333"/>
                  </a:cubicBezTo>
                  <a:cubicBezTo>
                    <a:pt x="701992" y="31354"/>
                    <a:pt x="722464" y="174655"/>
                    <a:pt x="747485" y="224697"/>
                  </a:cubicBezTo>
                  <a:cubicBezTo>
                    <a:pt x="772506" y="274739"/>
                    <a:pt x="783879" y="247444"/>
                    <a:pt x="815724" y="306584"/>
                  </a:cubicBezTo>
                  <a:cubicBezTo>
                    <a:pt x="847569" y="365724"/>
                    <a:pt x="893062" y="504476"/>
                    <a:pt x="938554" y="579539"/>
                  </a:cubicBezTo>
                  <a:cubicBezTo>
                    <a:pt x="984047" y="654602"/>
                    <a:pt x="1043187" y="693271"/>
                    <a:pt x="1088679" y="756960"/>
                  </a:cubicBezTo>
                  <a:cubicBezTo>
                    <a:pt x="1134171" y="820649"/>
                    <a:pt x="1193312" y="907085"/>
                    <a:pt x="1211509" y="961676"/>
                  </a:cubicBezTo>
                  <a:cubicBezTo>
                    <a:pt x="1229706" y="1016267"/>
                    <a:pt x="1202410" y="1068584"/>
                    <a:pt x="1197861" y="1084506"/>
                  </a:cubicBezTo>
                  <a:cubicBezTo>
                    <a:pt x="1193312" y="1100428"/>
                    <a:pt x="1188762" y="1078819"/>
                    <a:pt x="1184213" y="105721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5415A7-4E3C-E298-5D81-1FDE5B4B1426}"/>
              </a:ext>
            </a:extLst>
          </p:cNvPr>
          <p:cNvGrpSpPr/>
          <p:nvPr/>
        </p:nvGrpSpPr>
        <p:grpSpPr>
          <a:xfrm rot="14112482">
            <a:off x="902548" y="4140017"/>
            <a:ext cx="1905000" cy="1397470"/>
            <a:chOff x="6575323" y="2557642"/>
            <a:chExt cx="1905000" cy="139747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24739A8-E878-DAE2-35AF-47F814213BB8}"/>
                </a:ext>
              </a:extLst>
            </p:cNvPr>
            <p:cNvCxnSpPr>
              <a:cxnSpLocks/>
            </p:cNvCxnSpPr>
            <p:nvPr/>
          </p:nvCxnSpPr>
          <p:spPr>
            <a:xfrm>
              <a:off x="6575323" y="3955112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14BAB9-AB45-F8BD-3345-9AE62913D411}"/>
                </a:ext>
              </a:extLst>
            </p:cNvPr>
            <p:cNvSpPr/>
            <p:nvPr/>
          </p:nvSpPr>
          <p:spPr>
            <a:xfrm>
              <a:off x="6823587" y="2557642"/>
              <a:ext cx="1612490" cy="1385093"/>
            </a:xfrm>
            <a:custGeom>
              <a:avLst/>
              <a:gdLst>
                <a:gd name="connsiteX0" fmla="*/ 0 w 1612490"/>
                <a:gd name="connsiteY0" fmla="*/ 1385093 h 1385093"/>
                <a:gd name="connsiteX1" fmla="*/ 186813 w 1612490"/>
                <a:gd name="connsiteY1" fmla="*/ 913145 h 1385093"/>
                <a:gd name="connsiteX2" fmla="*/ 186813 w 1612490"/>
                <a:gd name="connsiteY2" fmla="*/ 913145 h 1385093"/>
                <a:gd name="connsiteX3" fmla="*/ 530942 w 1612490"/>
                <a:gd name="connsiteY3" fmla="*/ 706668 h 1385093"/>
                <a:gd name="connsiteX4" fmla="*/ 658761 w 1612490"/>
                <a:gd name="connsiteY4" fmla="*/ 136397 h 1385093"/>
                <a:gd name="connsiteX5" fmla="*/ 845574 w 1612490"/>
                <a:gd name="connsiteY5" fmla="*/ 8577 h 1385093"/>
                <a:gd name="connsiteX6" fmla="*/ 1012723 w 1612490"/>
                <a:gd name="connsiteY6" fmla="*/ 303545 h 1385093"/>
                <a:gd name="connsiteX7" fmla="*/ 1189703 w 1612490"/>
                <a:gd name="connsiteY7" fmla="*/ 696835 h 1385093"/>
                <a:gd name="connsiteX8" fmla="*/ 1484671 w 1612490"/>
                <a:gd name="connsiteY8" fmla="*/ 903313 h 1385093"/>
                <a:gd name="connsiteX9" fmla="*/ 1524000 w 1612490"/>
                <a:gd name="connsiteY9" fmla="*/ 1119623 h 1385093"/>
                <a:gd name="connsiteX10" fmla="*/ 1592826 w 1612490"/>
                <a:gd name="connsiteY10" fmla="*/ 1326100 h 1385093"/>
                <a:gd name="connsiteX11" fmla="*/ 1612490 w 1612490"/>
                <a:gd name="connsiteY11" fmla="*/ 1385093 h 138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490" h="1385093">
                  <a:moveTo>
                    <a:pt x="0" y="1385093"/>
                  </a:moveTo>
                  <a:lnTo>
                    <a:pt x="186813" y="913145"/>
                  </a:lnTo>
                  <a:lnTo>
                    <a:pt x="186813" y="913145"/>
                  </a:lnTo>
                  <a:cubicBezTo>
                    <a:pt x="244168" y="878732"/>
                    <a:pt x="452284" y="836126"/>
                    <a:pt x="530942" y="706668"/>
                  </a:cubicBezTo>
                  <a:cubicBezTo>
                    <a:pt x="609600" y="577210"/>
                    <a:pt x="606322" y="252745"/>
                    <a:pt x="658761" y="136397"/>
                  </a:cubicBezTo>
                  <a:cubicBezTo>
                    <a:pt x="711200" y="20049"/>
                    <a:pt x="786580" y="-19281"/>
                    <a:pt x="845574" y="8577"/>
                  </a:cubicBezTo>
                  <a:cubicBezTo>
                    <a:pt x="904568" y="36435"/>
                    <a:pt x="955368" y="188835"/>
                    <a:pt x="1012723" y="303545"/>
                  </a:cubicBezTo>
                  <a:cubicBezTo>
                    <a:pt x="1070078" y="418255"/>
                    <a:pt x="1111045" y="596874"/>
                    <a:pt x="1189703" y="696835"/>
                  </a:cubicBezTo>
                  <a:cubicBezTo>
                    <a:pt x="1268361" y="796796"/>
                    <a:pt x="1428955" y="832848"/>
                    <a:pt x="1484671" y="903313"/>
                  </a:cubicBezTo>
                  <a:cubicBezTo>
                    <a:pt x="1540387" y="973778"/>
                    <a:pt x="1505974" y="1049159"/>
                    <a:pt x="1524000" y="1119623"/>
                  </a:cubicBezTo>
                  <a:cubicBezTo>
                    <a:pt x="1542026" y="1190087"/>
                    <a:pt x="1592826" y="1326100"/>
                    <a:pt x="1592826" y="1326100"/>
                  </a:cubicBezTo>
                  <a:lnTo>
                    <a:pt x="1612490" y="1385093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3D9FC0-CF4A-DE49-10E0-2A42251C3B73}"/>
              </a:ext>
            </a:extLst>
          </p:cNvPr>
          <p:cNvGrpSpPr/>
          <p:nvPr/>
        </p:nvGrpSpPr>
        <p:grpSpPr>
          <a:xfrm rot="12862245">
            <a:off x="1675418" y="5029702"/>
            <a:ext cx="2178052" cy="1179980"/>
            <a:chOff x="6508748" y="658652"/>
            <a:chExt cx="2178052" cy="11799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6B14C7-0FAF-CE00-8221-10223EB73142}"/>
                </a:ext>
              </a:extLst>
            </p:cNvPr>
            <p:cNvCxnSpPr>
              <a:cxnSpLocks/>
            </p:cNvCxnSpPr>
            <p:nvPr/>
          </p:nvCxnSpPr>
          <p:spPr>
            <a:xfrm>
              <a:off x="6508748" y="1825146"/>
              <a:ext cx="21780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C10426-9830-4D32-D63D-75BB316BBAAC}"/>
                </a:ext>
              </a:extLst>
            </p:cNvPr>
            <p:cNvSpPr/>
            <p:nvPr/>
          </p:nvSpPr>
          <p:spPr>
            <a:xfrm>
              <a:off x="6794090" y="658652"/>
              <a:ext cx="1740310" cy="1179980"/>
            </a:xfrm>
            <a:custGeom>
              <a:avLst/>
              <a:gdLst>
                <a:gd name="connsiteX0" fmla="*/ 0 w 1740310"/>
                <a:gd name="connsiteY0" fmla="*/ 1150483 h 1179980"/>
                <a:gd name="connsiteX1" fmla="*/ 88491 w 1740310"/>
                <a:gd name="connsiteY1" fmla="*/ 924342 h 1179980"/>
                <a:gd name="connsiteX2" fmla="*/ 462116 w 1740310"/>
                <a:gd name="connsiteY2" fmla="*/ 776858 h 1179980"/>
                <a:gd name="connsiteX3" fmla="*/ 589936 w 1740310"/>
                <a:gd name="connsiteY3" fmla="*/ 472058 h 1179980"/>
                <a:gd name="connsiteX4" fmla="*/ 825910 w 1740310"/>
                <a:gd name="connsiteY4" fmla="*/ 236083 h 1179980"/>
                <a:gd name="connsiteX5" fmla="*/ 1111045 w 1740310"/>
                <a:gd name="connsiteY5" fmla="*/ 109 h 1179980"/>
                <a:gd name="connsiteX6" fmla="*/ 1229033 w 1740310"/>
                <a:gd name="connsiteY6" fmla="*/ 265580 h 1179980"/>
                <a:gd name="connsiteX7" fmla="*/ 1238865 w 1740310"/>
                <a:gd name="connsiteY7" fmla="*/ 491722 h 1179980"/>
                <a:gd name="connsiteX8" fmla="*/ 1445342 w 1740310"/>
                <a:gd name="connsiteY8" fmla="*/ 708032 h 1179980"/>
                <a:gd name="connsiteX9" fmla="*/ 1582994 w 1740310"/>
                <a:gd name="connsiteY9" fmla="*/ 973503 h 1179980"/>
                <a:gd name="connsiteX10" fmla="*/ 1740310 w 1740310"/>
                <a:gd name="connsiteY10" fmla="*/ 1179980 h 117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0310" h="1179980">
                  <a:moveTo>
                    <a:pt x="0" y="1150483"/>
                  </a:moveTo>
                  <a:cubicBezTo>
                    <a:pt x="5736" y="1068548"/>
                    <a:pt x="11472" y="986613"/>
                    <a:pt x="88491" y="924342"/>
                  </a:cubicBezTo>
                  <a:cubicBezTo>
                    <a:pt x="165510" y="862071"/>
                    <a:pt x="378542" y="852239"/>
                    <a:pt x="462116" y="776858"/>
                  </a:cubicBezTo>
                  <a:cubicBezTo>
                    <a:pt x="545690" y="701477"/>
                    <a:pt x="529304" y="562187"/>
                    <a:pt x="589936" y="472058"/>
                  </a:cubicBezTo>
                  <a:cubicBezTo>
                    <a:pt x="650568" y="381929"/>
                    <a:pt x="739059" y="314741"/>
                    <a:pt x="825910" y="236083"/>
                  </a:cubicBezTo>
                  <a:cubicBezTo>
                    <a:pt x="912762" y="157425"/>
                    <a:pt x="1043858" y="-4807"/>
                    <a:pt x="1111045" y="109"/>
                  </a:cubicBezTo>
                  <a:cubicBezTo>
                    <a:pt x="1178232" y="5025"/>
                    <a:pt x="1207730" y="183645"/>
                    <a:pt x="1229033" y="265580"/>
                  </a:cubicBezTo>
                  <a:cubicBezTo>
                    <a:pt x="1250336" y="347515"/>
                    <a:pt x="1202814" y="417980"/>
                    <a:pt x="1238865" y="491722"/>
                  </a:cubicBezTo>
                  <a:cubicBezTo>
                    <a:pt x="1274916" y="565464"/>
                    <a:pt x="1387987" y="627735"/>
                    <a:pt x="1445342" y="708032"/>
                  </a:cubicBezTo>
                  <a:cubicBezTo>
                    <a:pt x="1502697" y="788329"/>
                    <a:pt x="1533833" y="894845"/>
                    <a:pt x="1582994" y="973503"/>
                  </a:cubicBezTo>
                  <a:cubicBezTo>
                    <a:pt x="1632155" y="1052161"/>
                    <a:pt x="1686232" y="1116070"/>
                    <a:pt x="1740310" y="11799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7FBE406-A5D8-E577-4EE2-C0A15C25F06F}"/>
              </a:ext>
            </a:extLst>
          </p:cNvPr>
          <p:cNvSpPr txBox="1"/>
          <p:nvPr/>
        </p:nvSpPr>
        <p:spPr>
          <a:xfrm>
            <a:off x="6054906" y="55626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one sided because counts are always positive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50567-B1EE-3905-5FEA-063E4C6DE651}"/>
              </a:ext>
            </a:extLst>
          </p:cNvPr>
          <p:cNvSpPr txBox="1"/>
          <p:nvPr/>
        </p:nvSpPr>
        <p:spPr>
          <a:xfrm>
            <a:off x="278458" y="1192768"/>
            <a:ext cx="276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Perform the measurements</a:t>
            </a:r>
          </a:p>
        </p:txBody>
      </p:sp>
    </p:spTree>
    <p:extLst>
      <p:ext uri="{BB962C8B-B14F-4D97-AF65-F5344CB8AC3E}">
        <p14:creationId xmlns:p14="http://schemas.microsoft.com/office/powerpoint/2010/main" val="3609787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933F5-B889-FFA0-51CF-96009574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263D-2117-8357-2191-976D84F4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826" y="45769"/>
            <a:ext cx="3027870" cy="639762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60066"/>
                </a:solidFill>
              </a:rPr>
              <a:t>Step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EA886-56DC-8DA7-7A33-92E28E7E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24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6860F6-A6B6-30A8-2164-D94FD8C9DCED}"/>
              </a:ext>
            </a:extLst>
          </p:cNvPr>
          <p:cNvCxnSpPr/>
          <p:nvPr/>
        </p:nvCxnSpPr>
        <p:spPr>
          <a:xfrm>
            <a:off x="2905826" y="867124"/>
            <a:ext cx="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F8C34BC-235F-29E5-8FBB-727FBA3AB52B}"/>
              </a:ext>
            </a:extLst>
          </p:cNvPr>
          <p:cNvSpPr txBox="1"/>
          <p:nvPr/>
        </p:nvSpPr>
        <p:spPr>
          <a:xfrm>
            <a:off x="316592" y="188636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37D99-FEF8-DAC6-A6E4-3ED30643F816}"/>
              </a:ext>
            </a:extLst>
          </p:cNvPr>
          <p:cNvSpPr txBox="1"/>
          <p:nvPr/>
        </p:nvSpPr>
        <p:spPr>
          <a:xfrm>
            <a:off x="316592" y="317816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24F5E-A4F3-4C7D-8C83-03B6B7F28E8B}"/>
              </a:ext>
            </a:extLst>
          </p:cNvPr>
          <p:cNvSpPr txBox="1"/>
          <p:nvPr/>
        </p:nvSpPr>
        <p:spPr>
          <a:xfrm>
            <a:off x="316592" y="448592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F4E49E-08FD-3B76-F384-9895FD5558E5}"/>
              </a:ext>
            </a:extLst>
          </p:cNvPr>
          <p:cNvSpPr txBox="1"/>
          <p:nvPr/>
        </p:nvSpPr>
        <p:spPr>
          <a:xfrm>
            <a:off x="357904" y="5810969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899C9A-0C82-8B46-2CBD-5FEFCB8C28A5}"/>
              </a:ext>
            </a:extLst>
          </p:cNvPr>
          <p:cNvGrpSpPr/>
          <p:nvPr/>
        </p:nvGrpSpPr>
        <p:grpSpPr>
          <a:xfrm rot="10800000">
            <a:off x="989307" y="5875798"/>
            <a:ext cx="2362200" cy="635396"/>
            <a:chOff x="1371600" y="4004843"/>
            <a:chExt cx="2362200" cy="63539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CD5C3B-67CC-9AD7-4957-2A312660841C}"/>
                </a:ext>
              </a:extLst>
            </p:cNvPr>
            <p:cNvCxnSpPr/>
            <p:nvPr/>
          </p:nvCxnSpPr>
          <p:spPr>
            <a:xfrm>
              <a:off x="1371600" y="4634552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5C963AED-C4FC-041F-0F1A-0C3B5F8C4DB2}"/>
                </a:ext>
              </a:extLst>
            </p:cNvPr>
            <p:cNvSpPr/>
            <p:nvPr/>
          </p:nvSpPr>
          <p:spPr>
            <a:xfrm>
              <a:off x="1596788" y="4004843"/>
              <a:ext cx="1746913" cy="635396"/>
            </a:xfrm>
            <a:custGeom>
              <a:avLst/>
              <a:gdLst>
                <a:gd name="connsiteX0" fmla="*/ 0 w 1746913"/>
                <a:gd name="connsiteY0" fmla="*/ 635396 h 635396"/>
                <a:gd name="connsiteX1" fmla="*/ 54591 w 1746913"/>
                <a:gd name="connsiteY1" fmla="*/ 389736 h 635396"/>
                <a:gd name="connsiteX2" fmla="*/ 245660 w 1746913"/>
                <a:gd name="connsiteY2" fmla="*/ 307850 h 635396"/>
                <a:gd name="connsiteX3" fmla="*/ 300251 w 1746913"/>
                <a:gd name="connsiteY3" fmla="*/ 212315 h 635396"/>
                <a:gd name="connsiteX4" fmla="*/ 491319 w 1746913"/>
                <a:gd name="connsiteY4" fmla="*/ 34894 h 635396"/>
                <a:gd name="connsiteX5" fmla="*/ 736979 w 1746913"/>
                <a:gd name="connsiteY5" fmla="*/ 7599 h 635396"/>
                <a:gd name="connsiteX6" fmla="*/ 941696 w 1746913"/>
                <a:gd name="connsiteY6" fmla="*/ 130429 h 635396"/>
                <a:gd name="connsiteX7" fmla="*/ 1146412 w 1746913"/>
                <a:gd name="connsiteY7" fmla="*/ 198667 h 635396"/>
                <a:gd name="connsiteX8" fmla="*/ 1337481 w 1746913"/>
                <a:gd name="connsiteY8" fmla="*/ 307850 h 635396"/>
                <a:gd name="connsiteX9" fmla="*/ 1528549 w 1746913"/>
                <a:gd name="connsiteY9" fmla="*/ 335145 h 635396"/>
                <a:gd name="connsiteX10" fmla="*/ 1665027 w 1746913"/>
                <a:gd name="connsiteY10" fmla="*/ 417032 h 635396"/>
                <a:gd name="connsiteX11" fmla="*/ 1746913 w 1746913"/>
                <a:gd name="connsiteY11" fmla="*/ 635396 h 63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913" h="635396">
                  <a:moveTo>
                    <a:pt x="0" y="635396"/>
                  </a:moveTo>
                  <a:cubicBezTo>
                    <a:pt x="6824" y="539861"/>
                    <a:pt x="13648" y="444327"/>
                    <a:pt x="54591" y="389736"/>
                  </a:cubicBezTo>
                  <a:cubicBezTo>
                    <a:pt x="95534" y="335145"/>
                    <a:pt x="204717" y="337420"/>
                    <a:pt x="245660" y="307850"/>
                  </a:cubicBezTo>
                  <a:cubicBezTo>
                    <a:pt x="286603" y="278280"/>
                    <a:pt x="259308" y="257808"/>
                    <a:pt x="300251" y="212315"/>
                  </a:cubicBezTo>
                  <a:cubicBezTo>
                    <a:pt x="341194" y="166822"/>
                    <a:pt x="418531" y="69013"/>
                    <a:pt x="491319" y="34894"/>
                  </a:cubicBezTo>
                  <a:cubicBezTo>
                    <a:pt x="564107" y="775"/>
                    <a:pt x="661916" y="-8323"/>
                    <a:pt x="736979" y="7599"/>
                  </a:cubicBezTo>
                  <a:cubicBezTo>
                    <a:pt x="812042" y="23521"/>
                    <a:pt x="873457" y="98584"/>
                    <a:pt x="941696" y="130429"/>
                  </a:cubicBezTo>
                  <a:cubicBezTo>
                    <a:pt x="1009935" y="162274"/>
                    <a:pt x="1080448" y="169097"/>
                    <a:pt x="1146412" y="198667"/>
                  </a:cubicBezTo>
                  <a:cubicBezTo>
                    <a:pt x="1212376" y="228237"/>
                    <a:pt x="1273792" y="285104"/>
                    <a:pt x="1337481" y="307850"/>
                  </a:cubicBezTo>
                  <a:cubicBezTo>
                    <a:pt x="1401170" y="330596"/>
                    <a:pt x="1473958" y="316948"/>
                    <a:pt x="1528549" y="335145"/>
                  </a:cubicBezTo>
                  <a:cubicBezTo>
                    <a:pt x="1583140" y="353342"/>
                    <a:pt x="1628633" y="366990"/>
                    <a:pt x="1665027" y="417032"/>
                  </a:cubicBezTo>
                  <a:cubicBezTo>
                    <a:pt x="1701421" y="467074"/>
                    <a:pt x="1724167" y="551235"/>
                    <a:pt x="1746913" y="63539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2311AB-013C-3EF5-2739-07A1A3F41C4D}"/>
              </a:ext>
            </a:extLst>
          </p:cNvPr>
          <p:cNvGrpSpPr/>
          <p:nvPr/>
        </p:nvGrpSpPr>
        <p:grpSpPr>
          <a:xfrm rot="16200000">
            <a:off x="1532497" y="1465966"/>
            <a:ext cx="1674602" cy="1090003"/>
            <a:chOff x="4678907" y="2627685"/>
            <a:chExt cx="2362200" cy="109000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38C671B-8142-4547-743A-CFD4FCA65168}"/>
                </a:ext>
              </a:extLst>
            </p:cNvPr>
            <p:cNvCxnSpPr/>
            <p:nvPr/>
          </p:nvCxnSpPr>
          <p:spPr>
            <a:xfrm>
              <a:off x="4678907" y="3698544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D5A2E88F-7E39-8ECB-927F-3AD44A0E728F}"/>
                </a:ext>
              </a:extLst>
            </p:cNvPr>
            <p:cNvSpPr/>
            <p:nvPr/>
          </p:nvSpPr>
          <p:spPr>
            <a:xfrm>
              <a:off x="5080109" y="2627685"/>
              <a:ext cx="1217695" cy="1090003"/>
            </a:xfrm>
            <a:custGeom>
              <a:avLst/>
              <a:gdLst>
                <a:gd name="connsiteX0" fmla="*/ 10506 w 1217695"/>
                <a:gd name="connsiteY0" fmla="*/ 1084506 h 1090003"/>
                <a:gd name="connsiteX1" fmla="*/ 10506 w 1217695"/>
                <a:gd name="connsiteY1" fmla="*/ 907085 h 1090003"/>
                <a:gd name="connsiteX2" fmla="*/ 119688 w 1217695"/>
                <a:gd name="connsiteY2" fmla="*/ 688721 h 1090003"/>
                <a:gd name="connsiteX3" fmla="*/ 133336 w 1217695"/>
                <a:gd name="connsiteY3" fmla="*/ 524948 h 1090003"/>
                <a:gd name="connsiteX4" fmla="*/ 256166 w 1217695"/>
                <a:gd name="connsiteY4" fmla="*/ 320231 h 1090003"/>
                <a:gd name="connsiteX5" fmla="*/ 419939 w 1217695"/>
                <a:gd name="connsiteY5" fmla="*/ 238345 h 1090003"/>
                <a:gd name="connsiteX6" fmla="*/ 529121 w 1217695"/>
                <a:gd name="connsiteY6" fmla="*/ 74572 h 1090003"/>
                <a:gd name="connsiteX7" fmla="*/ 665598 w 1217695"/>
                <a:gd name="connsiteY7" fmla="*/ 6333 h 1090003"/>
                <a:gd name="connsiteX8" fmla="*/ 747485 w 1217695"/>
                <a:gd name="connsiteY8" fmla="*/ 224697 h 1090003"/>
                <a:gd name="connsiteX9" fmla="*/ 815724 w 1217695"/>
                <a:gd name="connsiteY9" fmla="*/ 306584 h 1090003"/>
                <a:gd name="connsiteX10" fmla="*/ 938554 w 1217695"/>
                <a:gd name="connsiteY10" fmla="*/ 579539 h 1090003"/>
                <a:gd name="connsiteX11" fmla="*/ 1088679 w 1217695"/>
                <a:gd name="connsiteY11" fmla="*/ 756960 h 1090003"/>
                <a:gd name="connsiteX12" fmla="*/ 1211509 w 1217695"/>
                <a:gd name="connsiteY12" fmla="*/ 961676 h 1090003"/>
                <a:gd name="connsiteX13" fmla="*/ 1197861 w 1217695"/>
                <a:gd name="connsiteY13" fmla="*/ 1084506 h 1090003"/>
                <a:gd name="connsiteX14" fmla="*/ 1184213 w 1217695"/>
                <a:gd name="connsiteY14" fmla="*/ 1057211 h 109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7695" h="1090003">
                  <a:moveTo>
                    <a:pt x="10506" y="1084506"/>
                  </a:moveTo>
                  <a:cubicBezTo>
                    <a:pt x="1407" y="1028777"/>
                    <a:pt x="-7691" y="973049"/>
                    <a:pt x="10506" y="907085"/>
                  </a:cubicBezTo>
                  <a:cubicBezTo>
                    <a:pt x="28703" y="841121"/>
                    <a:pt x="99216" y="752411"/>
                    <a:pt x="119688" y="688721"/>
                  </a:cubicBezTo>
                  <a:cubicBezTo>
                    <a:pt x="140160" y="625031"/>
                    <a:pt x="110590" y="586363"/>
                    <a:pt x="133336" y="524948"/>
                  </a:cubicBezTo>
                  <a:cubicBezTo>
                    <a:pt x="156082" y="463533"/>
                    <a:pt x="208399" y="367998"/>
                    <a:pt x="256166" y="320231"/>
                  </a:cubicBezTo>
                  <a:cubicBezTo>
                    <a:pt x="303933" y="272464"/>
                    <a:pt x="374447" y="279288"/>
                    <a:pt x="419939" y="238345"/>
                  </a:cubicBezTo>
                  <a:cubicBezTo>
                    <a:pt x="465432" y="197402"/>
                    <a:pt x="488178" y="113241"/>
                    <a:pt x="529121" y="74572"/>
                  </a:cubicBezTo>
                  <a:cubicBezTo>
                    <a:pt x="570064" y="35903"/>
                    <a:pt x="629204" y="-18688"/>
                    <a:pt x="665598" y="6333"/>
                  </a:cubicBezTo>
                  <a:cubicBezTo>
                    <a:pt x="701992" y="31354"/>
                    <a:pt x="722464" y="174655"/>
                    <a:pt x="747485" y="224697"/>
                  </a:cubicBezTo>
                  <a:cubicBezTo>
                    <a:pt x="772506" y="274739"/>
                    <a:pt x="783879" y="247444"/>
                    <a:pt x="815724" y="306584"/>
                  </a:cubicBezTo>
                  <a:cubicBezTo>
                    <a:pt x="847569" y="365724"/>
                    <a:pt x="893062" y="504476"/>
                    <a:pt x="938554" y="579539"/>
                  </a:cubicBezTo>
                  <a:cubicBezTo>
                    <a:pt x="984047" y="654602"/>
                    <a:pt x="1043187" y="693271"/>
                    <a:pt x="1088679" y="756960"/>
                  </a:cubicBezTo>
                  <a:cubicBezTo>
                    <a:pt x="1134171" y="820649"/>
                    <a:pt x="1193312" y="907085"/>
                    <a:pt x="1211509" y="961676"/>
                  </a:cubicBezTo>
                  <a:cubicBezTo>
                    <a:pt x="1229706" y="1016267"/>
                    <a:pt x="1202410" y="1068584"/>
                    <a:pt x="1197861" y="1084506"/>
                  </a:cubicBezTo>
                  <a:cubicBezTo>
                    <a:pt x="1193312" y="1100428"/>
                    <a:pt x="1188762" y="1078819"/>
                    <a:pt x="1184213" y="105721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1B2F8D-8616-08E3-A6F2-3251D7C7824B}"/>
              </a:ext>
            </a:extLst>
          </p:cNvPr>
          <p:cNvGrpSpPr/>
          <p:nvPr/>
        </p:nvGrpSpPr>
        <p:grpSpPr>
          <a:xfrm rot="14112482">
            <a:off x="1322528" y="3043672"/>
            <a:ext cx="1905000" cy="1397470"/>
            <a:chOff x="6575323" y="2557642"/>
            <a:chExt cx="1905000" cy="139747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EEF18E-0870-4791-342F-2C276A25AEAB}"/>
                </a:ext>
              </a:extLst>
            </p:cNvPr>
            <p:cNvCxnSpPr>
              <a:cxnSpLocks/>
            </p:cNvCxnSpPr>
            <p:nvPr/>
          </p:nvCxnSpPr>
          <p:spPr>
            <a:xfrm>
              <a:off x="6575323" y="3955112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18EA7D-91A1-1889-E252-32BF3F606BB4}"/>
                </a:ext>
              </a:extLst>
            </p:cNvPr>
            <p:cNvSpPr/>
            <p:nvPr/>
          </p:nvSpPr>
          <p:spPr>
            <a:xfrm>
              <a:off x="6823587" y="2557642"/>
              <a:ext cx="1612490" cy="1385093"/>
            </a:xfrm>
            <a:custGeom>
              <a:avLst/>
              <a:gdLst>
                <a:gd name="connsiteX0" fmla="*/ 0 w 1612490"/>
                <a:gd name="connsiteY0" fmla="*/ 1385093 h 1385093"/>
                <a:gd name="connsiteX1" fmla="*/ 186813 w 1612490"/>
                <a:gd name="connsiteY1" fmla="*/ 913145 h 1385093"/>
                <a:gd name="connsiteX2" fmla="*/ 186813 w 1612490"/>
                <a:gd name="connsiteY2" fmla="*/ 913145 h 1385093"/>
                <a:gd name="connsiteX3" fmla="*/ 530942 w 1612490"/>
                <a:gd name="connsiteY3" fmla="*/ 706668 h 1385093"/>
                <a:gd name="connsiteX4" fmla="*/ 658761 w 1612490"/>
                <a:gd name="connsiteY4" fmla="*/ 136397 h 1385093"/>
                <a:gd name="connsiteX5" fmla="*/ 845574 w 1612490"/>
                <a:gd name="connsiteY5" fmla="*/ 8577 h 1385093"/>
                <a:gd name="connsiteX6" fmla="*/ 1012723 w 1612490"/>
                <a:gd name="connsiteY6" fmla="*/ 303545 h 1385093"/>
                <a:gd name="connsiteX7" fmla="*/ 1189703 w 1612490"/>
                <a:gd name="connsiteY7" fmla="*/ 696835 h 1385093"/>
                <a:gd name="connsiteX8" fmla="*/ 1484671 w 1612490"/>
                <a:gd name="connsiteY8" fmla="*/ 903313 h 1385093"/>
                <a:gd name="connsiteX9" fmla="*/ 1524000 w 1612490"/>
                <a:gd name="connsiteY9" fmla="*/ 1119623 h 1385093"/>
                <a:gd name="connsiteX10" fmla="*/ 1592826 w 1612490"/>
                <a:gd name="connsiteY10" fmla="*/ 1326100 h 1385093"/>
                <a:gd name="connsiteX11" fmla="*/ 1612490 w 1612490"/>
                <a:gd name="connsiteY11" fmla="*/ 1385093 h 138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490" h="1385093">
                  <a:moveTo>
                    <a:pt x="0" y="1385093"/>
                  </a:moveTo>
                  <a:lnTo>
                    <a:pt x="186813" y="913145"/>
                  </a:lnTo>
                  <a:lnTo>
                    <a:pt x="186813" y="913145"/>
                  </a:lnTo>
                  <a:cubicBezTo>
                    <a:pt x="244168" y="878732"/>
                    <a:pt x="452284" y="836126"/>
                    <a:pt x="530942" y="706668"/>
                  </a:cubicBezTo>
                  <a:cubicBezTo>
                    <a:pt x="609600" y="577210"/>
                    <a:pt x="606322" y="252745"/>
                    <a:pt x="658761" y="136397"/>
                  </a:cubicBezTo>
                  <a:cubicBezTo>
                    <a:pt x="711200" y="20049"/>
                    <a:pt x="786580" y="-19281"/>
                    <a:pt x="845574" y="8577"/>
                  </a:cubicBezTo>
                  <a:cubicBezTo>
                    <a:pt x="904568" y="36435"/>
                    <a:pt x="955368" y="188835"/>
                    <a:pt x="1012723" y="303545"/>
                  </a:cubicBezTo>
                  <a:cubicBezTo>
                    <a:pt x="1070078" y="418255"/>
                    <a:pt x="1111045" y="596874"/>
                    <a:pt x="1189703" y="696835"/>
                  </a:cubicBezTo>
                  <a:cubicBezTo>
                    <a:pt x="1268361" y="796796"/>
                    <a:pt x="1428955" y="832848"/>
                    <a:pt x="1484671" y="903313"/>
                  </a:cubicBezTo>
                  <a:cubicBezTo>
                    <a:pt x="1540387" y="973778"/>
                    <a:pt x="1505974" y="1049159"/>
                    <a:pt x="1524000" y="1119623"/>
                  </a:cubicBezTo>
                  <a:cubicBezTo>
                    <a:pt x="1542026" y="1190087"/>
                    <a:pt x="1592826" y="1326100"/>
                    <a:pt x="1592826" y="1326100"/>
                  </a:cubicBezTo>
                  <a:lnTo>
                    <a:pt x="1612490" y="1385093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F2BFFF-B596-C3BD-15F5-A59CCA2CDD14}"/>
              </a:ext>
            </a:extLst>
          </p:cNvPr>
          <p:cNvGrpSpPr/>
          <p:nvPr/>
        </p:nvGrpSpPr>
        <p:grpSpPr>
          <a:xfrm rot="12862245">
            <a:off x="1247816" y="4599932"/>
            <a:ext cx="2178052" cy="1179980"/>
            <a:chOff x="6508748" y="658652"/>
            <a:chExt cx="2178052" cy="11799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780B35C-A48A-47F2-AF1D-A196A84B953B}"/>
                </a:ext>
              </a:extLst>
            </p:cNvPr>
            <p:cNvCxnSpPr>
              <a:cxnSpLocks/>
            </p:cNvCxnSpPr>
            <p:nvPr/>
          </p:nvCxnSpPr>
          <p:spPr>
            <a:xfrm>
              <a:off x="6508748" y="1825146"/>
              <a:ext cx="21780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E1B93D2-93E7-5F37-5537-41EFE2261749}"/>
                </a:ext>
              </a:extLst>
            </p:cNvPr>
            <p:cNvSpPr/>
            <p:nvPr/>
          </p:nvSpPr>
          <p:spPr>
            <a:xfrm>
              <a:off x="6794090" y="658652"/>
              <a:ext cx="1740310" cy="1179980"/>
            </a:xfrm>
            <a:custGeom>
              <a:avLst/>
              <a:gdLst>
                <a:gd name="connsiteX0" fmla="*/ 0 w 1740310"/>
                <a:gd name="connsiteY0" fmla="*/ 1150483 h 1179980"/>
                <a:gd name="connsiteX1" fmla="*/ 88491 w 1740310"/>
                <a:gd name="connsiteY1" fmla="*/ 924342 h 1179980"/>
                <a:gd name="connsiteX2" fmla="*/ 462116 w 1740310"/>
                <a:gd name="connsiteY2" fmla="*/ 776858 h 1179980"/>
                <a:gd name="connsiteX3" fmla="*/ 589936 w 1740310"/>
                <a:gd name="connsiteY3" fmla="*/ 472058 h 1179980"/>
                <a:gd name="connsiteX4" fmla="*/ 825910 w 1740310"/>
                <a:gd name="connsiteY4" fmla="*/ 236083 h 1179980"/>
                <a:gd name="connsiteX5" fmla="*/ 1111045 w 1740310"/>
                <a:gd name="connsiteY5" fmla="*/ 109 h 1179980"/>
                <a:gd name="connsiteX6" fmla="*/ 1229033 w 1740310"/>
                <a:gd name="connsiteY6" fmla="*/ 265580 h 1179980"/>
                <a:gd name="connsiteX7" fmla="*/ 1238865 w 1740310"/>
                <a:gd name="connsiteY7" fmla="*/ 491722 h 1179980"/>
                <a:gd name="connsiteX8" fmla="*/ 1445342 w 1740310"/>
                <a:gd name="connsiteY8" fmla="*/ 708032 h 1179980"/>
                <a:gd name="connsiteX9" fmla="*/ 1582994 w 1740310"/>
                <a:gd name="connsiteY9" fmla="*/ 973503 h 1179980"/>
                <a:gd name="connsiteX10" fmla="*/ 1740310 w 1740310"/>
                <a:gd name="connsiteY10" fmla="*/ 1179980 h 117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0310" h="1179980">
                  <a:moveTo>
                    <a:pt x="0" y="1150483"/>
                  </a:moveTo>
                  <a:cubicBezTo>
                    <a:pt x="5736" y="1068548"/>
                    <a:pt x="11472" y="986613"/>
                    <a:pt x="88491" y="924342"/>
                  </a:cubicBezTo>
                  <a:cubicBezTo>
                    <a:pt x="165510" y="862071"/>
                    <a:pt x="378542" y="852239"/>
                    <a:pt x="462116" y="776858"/>
                  </a:cubicBezTo>
                  <a:cubicBezTo>
                    <a:pt x="545690" y="701477"/>
                    <a:pt x="529304" y="562187"/>
                    <a:pt x="589936" y="472058"/>
                  </a:cubicBezTo>
                  <a:cubicBezTo>
                    <a:pt x="650568" y="381929"/>
                    <a:pt x="739059" y="314741"/>
                    <a:pt x="825910" y="236083"/>
                  </a:cubicBezTo>
                  <a:cubicBezTo>
                    <a:pt x="912762" y="157425"/>
                    <a:pt x="1043858" y="-4807"/>
                    <a:pt x="1111045" y="109"/>
                  </a:cubicBezTo>
                  <a:cubicBezTo>
                    <a:pt x="1178232" y="5025"/>
                    <a:pt x="1207730" y="183645"/>
                    <a:pt x="1229033" y="265580"/>
                  </a:cubicBezTo>
                  <a:cubicBezTo>
                    <a:pt x="1250336" y="347515"/>
                    <a:pt x="1202814" y="417980"/>
                    <a:pt x="1238865" y="491722"/>
                  </a:cubicBezTo>
                  <a:cubicBezTo>
                    <a:pt x="1274916" y="565464"/>
                    <a:pt x="1387987" y="627735"/>
                    <a:pt x="1445342" y="708032"/>
                  </a:cubicBezTo>
                  <a:cubicBezTo>
                    <a:pt x="1502697" y="788329"/>
                    <a:pt x="1533833" y="894845"/>
                    <a:pt x="1582994" y="973503"/>
                  </a:cubicBezTo>
                  <a:cubicBezTo>
                    <a:pt x="1632155" y="1052161"/>
                    <a:pt x="1686232" y="1116070"/>
                    <a:pt x="1740310" y="11799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B859AD-491C-C516-8448-3D5E0D8D2838}"/>
              </a:ext>
            </a:extLst>
          </p:cNvPr>
          <p:cNvGrpSpPr/>
          <p:nvPr/>
        </p:nvGrpSpPr>
        <p:grpSpPr>
          <a:xfrm>
            <a:off x="5549936" y="938036"/>
            <a:ext cx="2784987" cy="1342974"/>
            <a:chOff x="5600663" y="337350"/>
            <a:chExt cx="2784987" cy="134297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A86399-CB86-F7B2-8CB1-D7F6D74FB6BE}"/>
                </a:ext>
              </a:extLst>
            </p:cNvPr>
            <p:cNvCxnSpPr/>
            <p:nvPr/>
          </p:nvCxnSpPr>
          <p:spPr>
            <a:xfrm>
              <a:off x="5600663" y="1535979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D894E3A-81E5-BE33-6BA5-878BBB4A9ACE}"/>
                </a:ext>
              </a:extLst>
            </p:cNvPr>
            <p:cNvSpPr/>
            <p:nvPr/>
          </p:nvSpPr>
          <p:spPr>
            <a:xfrm>
              <a:off x="5848928" y="337350"/>
              <a:ext cx="2536722" cy="1342974"/>
            </a:xfrm>
            <a:custGeom>
              <a:avLst/>
              <a:gdLst>
                <a:gd name="connsiteX0" fmla="*/ 0 w 2536722"/>
                <a:gd name="connsiteY0" fmla="*/ 1213377 h 1342974"/>
                <a:gd name="connsiteX1" fmla="*/ 68825 w 2536722"/>
                <a:gd name="connsiteY1" fmla="*/ 1105223 h 1342974"/>
                <a:gd name="connsiteX2" fmla="*/ 206477 w 2536722"/>
                <a:gd name="connsiteY2" fmla="*/ 1183881 h 1342974"/>
                <a:gd name="connsiteX3" fmla="*/ 363793 w 2536722"/>
                <a:gd name="connsiteY3" fmla="*/ 1292035 h 1342974"/>
                <a:gd name="connsiteX4" fmla="*/ 471948 w 2536722"/>
                <a:gd name="connsiteY4" fmla="*/ 1164216 h 1342974"/>
                <a:gd name="connsiteX5" fmla="*/ 550606 w 2536722"/>
                <a:gd name="connsiteY5" fmla="*/ 1085558 h 1342974"/>
                <a:gd name="connsiteX6" fmla="*/ 688258 w 2536722"/>
                <a:gd name="connsiteY6" fmla="*/ 1174048 h 1342974"/>
                <a:gd name="connsiteX7" fmla="*/ 668593 w 2536722"/>
                <a:gd name="connsiteY7" fmla="*/ 1203545 h 1342974"/>
                <a:gd name="connsiteX8" fmla="*/ 806245 w 2536722"/>
                <a:gd name="connsiteY8" fmla="*/ 1124887 h 1342974"/>
                <a:gd name="connsiteX9" fmla="*/ 855406 w 2536722"/>
                <a:gd name="connsiteY9" fmla="*/ 1046229 h 1342974"/>
                <a:gd name="connsiteX10" fmla="*/ 1012722 w 2536722"/>
                <a:gd name="connsiteY10" fmla="*/ 1144552 h 1342974"/>
                <a:gd name="connsiteX11" fmla="*/ 1061883 w 2536722"/>
                <a:gd name="connsiteY11" fmla="*/ 1193713 h 1342974"/>
                <a:gd name="connsiteX12" fmla="*/ 1081548 w 2536722"/>
                <a:gd name="connsiteY12" fmla="*/ 1282203 h 1342974"/>
                <a:gd name="connsiteX13" fmla="*/ 1160206 w 2536722"/>
                <a:gd name="connsiteY13" fmla="*/ 1174048 h 1342974"/>
                <a:gd name="connsiteX14" fmla="*/ 1170038 w 2536722"/>
                <a:gd name="connsiteY14" fmla="*/ 888913 h 1342974"/>
                <a:gd name="connsiteX15" fmla="*/ 1170038 w 2536722"/>
                <a:gd name="connsiteY15" fmla="*/ 574281 h 1342974"/>
                <a:gd name="connsiteX16" fmla="*/ 1268361 w 2536722"/>
                <a:gd name="connsiteY16" fmla="*/ 82668 h 1342974"/>
                <a:gd name="connsiteX17" fmla="*/ 1288025 w 2536722"/>
                <a:gd name="connsiteY17" fmla="*/ 13842 h 1342974"/>
                <a:gd name="connsiteX18" fmla="*/ 1376516 w 2536722"/>
                <a:gd name="connsiteY18" fmla="*/ 230152 h 1342974"/>
                <a:gd name="connsiteX19" fmla="*/ 1376516 w 2536722"/>
                <a:gd name="connsiteY19" fmla="*/ 426797 h 1342974"/>
                <a:gd name="connsiteX20" fmla="*/ 1465006 w 2536722"/>
                <a:gd name="connsiteY20" fmla="*/ 731597 h 1342974"/>
                <a:gd name="connsiteX21" fmla="*/ 1484670 w 2536722"/>
                <a:gd name="connsiteY21" fmla="*/ 1006900 h 1342974"/>
                <a:gd name="connsiteX22" fmla="*/ 1543664 w 2536722"/>
                <a:gd name="connsiteY22" fmla="*/ 1282203 h 1342974"/>
                <a:gd name="connsiteX23" fmla="*/ 1641987 w 2536722"/>
                <a:gd name="connsiteY23" fmla="*/ 1341197 h 1342974"/>
                <a:gd name="connsiteX24" fmla="*/ 1710812 w 2536722"/>
                <a:gd name="connsiteY24" fmla="*/ 1242874 h 1342974"/>
                <a:gd name="connsiteX25" fmla="*/ 1789470 w 2536722"/>
                <a:gd name="connsiteY25" fmla="*/ 1164216 h 1342974"/>
                <a:gd name="connsiteX26" fmla="*/ 1897625 w 2536722"/>
                <a:gd name="connsiteY26" fmla="*/ 1154384 h 1342974"/>
                <a:gd name="connsiteX27" fmla="*/ 2035277 w 2536722"/>
                <a:gd name="connsiteY27" fmla="*/ 1262539 h 1342974"/>
                <a:gd name="connsiteX28" fmla="*/ 2192593 w 2536722"/>
                <a:gd name="connsiteY28" fmla="*/ 1124887 h 1342974"/>
                <a:gd name="connsiteX29" fmla="*/ 2300748 w 2536722"/>
                <a:gd name="connsiteY29" fmla="*/ 1242874 h 1342974"/>
                <a:gd name="connsiteX30" fmla="*/ 2428567 w 2536722"/>
                <a:gd name="connsiteY30" fmla="*/ 1164216 h 1342974"/>
                <a:gd name="connsiteX31" fmla="*/ 2536722 w 2536722"/>
                <a:gd name="connsiteY31" fmla="*/ 1164216 h 1342974"/>
                <a:gd name="connsiteX32" fmla="*/ 2536722 w 2536722"/>
                <a:gd name="connsiteY32" fmla="*/ 1164216 h 13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6722" h="1342974">
                  <a:moveTo>
                    <a:pt x="0" y="1213377"/>
                  </a:moveTo>
                  <a:cubicBezTo>
                    <a:pt x="17206" y="1161758"/>
                    <a:pt x="34412" y="1110139"/>
                    <a:pt x="68825" y="1105223"/>
                  </a:cubicBezTo>
                  <a:cubicBezTo>
                    <a:pt x="103238" y="1100307"/>
                    <a:pt x="157316" y="1152746"/>
                    <a:pt x="206477" y="1183881"/>
                  </a:cubicBezTo>
                  <a:cubicBezTo>
                    <a:pt x="255638" y="1215016"/>
                    <a:pt x="319548" y="1295313"/>
                    <a:pt x="363793" y="1292035"/>
                  </a:cubicBezTo>
                  <a:cubicBezTo>
                    <a:pt x="408038" y="1288758"/>
                    <a:pt x="440813" y="1198629"/>
                    <a:pt x="471948" y="1164216"/>
                  </a:cubicBezTo>
                  <a:cubicBezTo>
                    <a:pt x="503084" y="1129803"/>
                    <a:pt x="514554" y="1083919"/>
                    <a:pt x="550606" y="1085558"/>
                  </a:cubicBezTo>
                  <a:cubicBezTo>
                    <a:pt x="586658" y="1087197"/>
                    <a:pt x="688258" y="1174048"/>
                    <a:pt x="688258" y="1174048"/>
                  </a:cubicBezTo>
                  <a:cubicBezTo>
                    <a:pt x="707922" y="1193712"/>
                    <a:pt x="648928" y="1211739"/>
                    <a:pt x="668593" y="1203545"/>
                  </a:cubicBezTo>
                  <a:cubicBezTo>
                    <a:pt x="688258" y="1195351"/>
                    <a:pt x="775109" y="1151106"/>
                    <a:pt x="806245" y="1124887"/>
                  </a:cubicBezTo>
                  <a:cubicBezTo>
                    <a:pt x="837381" y="1098668"/>
                    <a:pt x="820993" y="1042951"/>
                    <a:pt x="855406" y="1046229"/>
                  </a:cubicBezTo>
                  <a:cubicBezTo>
                    <a:pt x="889819" y="1049507"/>
                    <a:pt x="978309" y="1119971"/>
                    <a:pt x="1012722" y="1144552"/>
                  </a:cubicBezTo>
                  <a:cubicBezTo>
                    <a:pt x="1047135" y="1169133"/>
                    <a:pt x="1050412" y="1170771"/>
                    <a:pt x="1061883" y="1193713"/>
                  </a:cubicBezTo>
                  <a:cubicBezTo>
                    <a:pt x="1073354" y="1216655"/>
                    <a:pt x="1065161" y="1285481"/>
                    <a:pt x="1081548" y="1282203"/>
                  </a:cubicBezTo>
                  <a:cubicBezTo>
                    <a:pt x="1097935" y="1278926"/>
                    <a:pt x="1145458" y="1239596"/>
                    <a:pt x="1160206" y="1174048"/>
                  </a:cubicBezTo>
                  <a:cubicBezTo>
                    <a:pt x="1174954" y="1108500"/>
                    <a:pt x="1168399" y="988874"/>
                    <a:pt x="1170038" y="888913"/>
                  </a:cubicBezTo>
                  <a:cubicBezTo>
                    <a:pt x="1171677" y="788952"/>
                    <a:pt x="1153651" y="708655"/>
                    <a:pt x="1170038" y="574281"/>
                  </a:cubicBezTo>
                  <a:cubicBezTo>
                    <a:pt x="1186425" y="439907"/>
                    <a:pt x="1248697" y="176074"/>
                    <a:pt x="1268361" y="82668"/>
                  </a:cubicBezTo>
                  <a:cubicBezTo>
                    <a:pt x="1288025" y="-10738"/>
                    <a:pt x="1269999" y="-10739"/>
                    <a:pt x="1288025" y="13842"/>
                  </a:cubicBezTo>
                  <a:cubicBezTo>
                    <a:pt x="1306051" y="38423"/>
                    <a:pt x="1361768" y="161326"/>
                    <a:pt x="1376516" y="230152"/>
                  </a:cubicBezTo>
                  <a:cubicBezTo>
                    <a:pt x="1391264" y="298978"/>
                    <a:pt x="1361768" y="343223"/>
                    <a:pt x="1376516" y="426797"/>
                  </a:cubicBezTo>
                  <a:cubicBezTo>
                    <a:pt x="1391264" y="510371"/>
                    <a:pt x="1446980" y="634913"/>
                    <a:pt x="1465006" y="731597"/>
                  </a:cubicBezTo>
                  <a:cubicBezTo>
                    <a:pt x="1483032" y="828281"/>
                    <a:pt x="1471560" y="915132"/>
                    <a:pt x="1484670" y="1006900"/>
                  </a:cubicBezTo>
                  <a:cubicBezTo>
                    <a:pt x="1497780" y="1098668"/>
                    <a:pt x="1517444" y="1226487"/>
                    <a:pt x="1543664" y="1282203"/>
                  </a:cubicBezTo>
                  <a:cubicBezTo>
                    <a:pt x="1569884" y="1337919"/>
                    <a:pt x="1614129" y="1347752"/>
                    <a:pt x="1641987" y="1341197"/>
                  </a:cubicBezTo>
                  <a:cubicBezTo>
                    <a:pt x="1669845" y="1334642"/>
                    <a:pt x="1686232" y="1272371"/>
                    <a:pt x="1710812" y="1242874"/>
                  </a:cubicBezTo>
                  <a:cubicBezTo>
                    <a:pt x="1735392" y="1213377"/>
                    <a:pt x="1758335" y="1178964"/>
                    <a:pt x="1789470" y="1164216"/>
                  </a:cubicBezTo>
                  <a:cubicBezTo>
                    <a:pt x="1820606" y="1149468"/>
                    <a:pt x="1856657" y="1137997"/>
                    <a:pt x="1897625" y="1154384"/>
                  </a:cubicBezTo>
                  <a:cubicBezTo>
                    <a:pt x="1938593" y="1170771"/>
                    <a:pt x="1986116" y="1267455"/>
                    <a:pt x="2035277" y="1262539"/>
                  </a:cubicBezTo>
                  <a:cubicBezTo>
                    <a:pt x="2084438" y="1257623"/>
                    <a:pt x="2148348" y="1128164"/>
                    <a:pt x="2192593" y="1124887"/>
                  </a:cubicBezTo>
                  <a:cubicBezTo>
                    <a:pt x="2236838" y="1121609"/>
                    <a:pt x="2261419" y="1236319"/>
                    <a:pt x="2300748" y="1242874"/>
                  </a:cubicBezTo>
                  <a:cubicBezTo>
                    <a:pt x="2340077" y="1249429"/>
                    <a:pt x="2389238" y="1177326"/>
                    <a:pt x="2428567" y="1164216"/>
                  </a:cubicBezTo>
                  <a:cubicBezTo>
                    <a:pt x="2467896" y="1151106"/>
                    <a:pt x="2536722" y="1164216"/>
                    <a:pt x="2536722" y="1164216"/>
                  </a:cubicBezTo>
                  <a:lnTo>
                    <a:pt x="2536722" y="116421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3222AE4-BF8C-99A8-7D85-0F1DF9BD8BDD}"/>
              </a:ext>
            </a:extLst>
          </p:cNvPr>
          <p:cNvGrpSpPr/>
          <p:nvPr/>
        </p:nvGrpSpPr>
        <p:grpSpPr>
          <a:xfrm>
            <a:off x="5644598" y="2303466"/>
            <a:ext cx="2961056" cy="1137660"/>
            <a:chOff x="5698127" y="1922038"/>
            <a:chExt cx="2961056" cy="113766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1FFDF13-CA0A-470C-F690-BF11A038054F}"/>
                </a:ext>
              </a:extLst>
            </p:cNvPr>
            <p:cNvCxnSpPr>
              <a:cxnSpLocks/>
            </p:cNvCxnSpPr>
            <p:nvPr/>
          </p:nvCxnSpPr>
          <p:spPr>
            <a:xfrm>
              <a:off x="5698127" y="2981407"/>
              <a:ext cx="29610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D116DCA-871C-483B-6496-3042BBF17306}"/>
                </a:ext>
              </a:extLst>
            </p:cNvPr>
            <p:cNvSpPr/>
            <p:nvPr/>
          </p:nvSpPr>
          <p:spPr>
            <a:xfrm>
              <a:off x="5926429" y="1922038"/>
              <a:ext cx="2487561" cy="1137660"/>
            </a:xfrm>
            <a:custGeom>
              <a:avLst/>
              <a:gdLst>
                <a:gd name="connsiteX0" fmla="*/ 0 w 2487561"/>
                <a:gd name="connsiteY0" fmla="*/ 1047079 h 1137660"/>
                <a:gd name="connsiteX1" fmla="*/ 245806 w 2487561"/>
                <a:gd name="connsiteY1" fmla="*/ 1135569 h 1137660"/>
                <a:gd name="connsiteX2" fmla="*/ 304800 w 2487561"/>
                <a:gd name="connsiteY2" fmla="*/ 968421 h 1137660"/>
                <a:gd name="connsiteX3" fmla="*/ 393290 w 2487561"/>
                <a:gd name="connsiteY3" fmla="*/ 988085 h 1137660"/>
                <a:gd name="connsiteX4" fmla="*/ 462116 w 2487561"/>
                <a:gd name="connsiteY4" fmla="*/ 1115904 h 1137660"/>
                <a:gd name="connsiteX5" fmla="*/ 668593 w 2487561"/>
                <a:gd name="connsiteY5" fmla="*/ 1017582 h 1137660"/>
                <a:gd name="connsiteX6" fmla="*/ 717754 w 2487561"/>
                <a:gd name="connsiteY6" fmla="*/ 938924 h 1137660"/>
                <a:gd name="connsiteX7" fmla="*/ 924232 w 2487561"/>
                <a:gd name="connsiteY7" fmla="*/ 1027414 h 1137660"/>
                <a:gd name="connsiteX8" fmla="*/ 934064 w 2487561"/>
                <a:gd name="connsiteY8" fmla="*/ 1135569 h 1137660"/>
                <a:gd name="connsiteX9" fmla="*/ 1061883 w 2487561"/>
                <a:gd name="connsiteY9" fmla="*/ 1047079 h 1137660"/>
                <a:gd name="connsiteX10" fmla="*/ 1091380 w 2487561"/>
                <a:gd name="connsiteY10" fmla="*/ 732446 h 1137660"/>
                <a:gd name="connsiteX11" fmla="*/ 1150374 w 2487561"/>
                <a:gd name="connsiteY11" fmla="*/ 417814 h 1137660"/>
                <a:gd name="connsiteX12" fmla="*/ 1179871 w 2487561"/>
                <a:gd name="connsiteY12" fmla="*/ 132679 h 1137660"/>
                <a:gd name="connsiteX13" fmla="*/ 1238864 w 2487561"/>
                <a:gd name="connsiteY13" fmla="*/ 4859 h 1137660"/>
                <a:gd name="connsiteX14" fmla="*/ 1317522 w 2487561"/>
                <a:gd name="connsiteY14" fmla="*/ 289995 h 1137660"/>
                <a:gd name="connsiteX15" fmla="*/ 1366683 w 2487561"/>
                <a:gd name="connsiteY15" fmla="*/ 624292 h 1137660"/>
                <a:gd name="connsiteX16" fmla="*/ 1356851 w 2487561"/>
                <a:gd name="connsiteY16" fmla="*/ 997917 h 1137660"/>
                <a:gd name="connsiteX17" fmla="*/ 1504335 w 2487561"/>
                <a:gd name="connsiteY17" fmla="*/ 1106072 h 1137660"/>
                <a:gd name="connsiteX18" fmla="*/ 1671483 w 2487561"/>
                <a:gd name="connsiteY18" fmla="*/ 1125737 h 1137660"/>
                <a:gd name="connsiteX19" fmla="*/ 1720645 w 2487561"/>
                <a:gd name="connsiteY19" fmla="*/ 1007750 h 1137660"/>
                <a:gd name="connsiteX20" fmla="*/ 1769806 w 2487561"/>
                <a:gd name="connsiteY20" fmla="*/ 978253 h 1137660"/>
                <a:gd name="connsiteX21" fmla="*/ 1956619 w 2487561"/>
                <a:gd name="connsiteY21" fmla="*/ 1086408 h 1137660"/>
                <a:gd name="connsiteX22" fmla="*/ 2123767 w 2487561"/>
                <a:gd name="connsiteY22" fmla="*/ 1037246 h 1137660"/>
                <a:gd name="connsiteX23" fmla="*/ 2182761 w 2487561"/>
                <a:gd name="connsiteY23" fmla="*/ 938924 h 1137660"/>
                <a:gd name="connsiteX24" fmla="*/ 2261419 w 2487561"/>
                <a:gd name="connsiteY24" fmla="*/ 1027414 h 1137660"/>
                <a:gd name="connsiteX25" fmla="*/ 2349909 w 2487561"/>
                <a:gd name="connsiteY25" fmla="*/ 1115904 h 1137660"/>
                <a:gd name="connsiteX26" fmla="*/ 2418735 w 2487561"/>
                <a:gd name="connsiteY26" fmla="*/ 1037246 h 1137660"/>
                <a:gd name="connsiteX27" fmla="*/ 2487561 w 2487561"/>
                <a:gd name="connsiteY27" fmla="*/ 1037246 h 113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87561" h="1137660">
                  <a:moveTo>
                    <a:pt x="0" y="1047079"/>
                  </a:moveTo>
                  <a:cubicBezTo>
                    <a:pt x="97503" y="1097879"/>
                    <a:pt x="195006" y="1148679"/>
                    <a:pt x="245806" y="1135569"/>
                  </a:cubicBezTo>
                  <a:cubicBezTo>
                    <a:pt x="296606" y="1122459"/>
                    <a:pt x="280219" y="993002"/>
                    <a:pt x="304800" y="968421"/>
                  </a:cubicBezTo>
                  <a:cubicBezTo>
                    <a:pt x="329381" y="943840"/>
                    <a:pt x="367071" y="963505"/>
                    <a:pt x="393290" y="988085"/>
                  </a:cubicBezTo>
                  <a:cubicBezTo>
                    <a:pt x="419509" y="1012665"/>
                    <a:pt x="416232" y="1110988"/>
                    <a:pt x="462116" y="1115904"/>
                  </a:cubicBezTo>
                  <a:cubicBezTo>
                    <a:pt x="508000" y="1120820"/>
                    <a:pt x="625987" y="1047079"/>
                    <a:pt x="668593" y="1017582"/>
                  </a:cubicBezTo>
                  <a:cubicBezTo>
                    <a:pt x="711199" y="988085"/>
                    <a:pt x="675148" y="937285"/>
                    <a:pt x="717754" y="938924"/>
                  </a:cubicBezTo>
                  <a:cubicBezTo>
                    <a:pt x="760360" y="940563"/>
                    <a:pt x="888180" y="994640"/>
                    <a:pt x="924232" y="1027414"/>
                  </a:cubicBezTo>
                  <a:cubicBezTo>
                    <a:pt x="960284" y="1060188"/>
                    <a:pt x="911122" y="1132292"/>
                    <a:pt x="934064" y="1135569"/>
                  </a:cubicBezTo>
                  <a:cubicBezTo>
                    <a:pt x="957006" y="1138847"/>
                    <a:pt x="1035664" y="1114266"/>
                    <a:pt x="1061883" y="1047079"/>
                  </a:cubicBezTo>
                  <a:cubicBezTo>
                    <a:pt x="1088102" y="979892"/>
                    <a:pt x="1076632" y="837323"/>
                    <a:pt x="1091380" y="732446"/>
                  </a:cubicBezTo>
                  <a:cubicBezTo>
                    <a:pt x="1106128" y="627569"/>
                    <a:pt x="1135625" y="517775"/>
                    <a:pt x="1150374" y="417814"/>
                  </a:cubicBezTo>
                  <a:cubicBezTo>
                    <a:pt x="1165123" y="317853"/>
                    <a:pt x="1165123" y="201505"/>
                    <a:pt x="1179871" y="132679"/>
                  </a:cubicBezTo>
                  <a:cubicBezTo>
                    <a:pt x="1194619" y="63853"/>
                    <a:pt x="1215922" y="-21360"/>
                    <a:pt x="1238864" y="4859"/>
                  </a:cubicBezTo>
                  <a:cubicBezTo>
                    <a:pt x="1261806" y="31078"/>
                    <a:pt x="1296219" y="186756"/>
                    <a:pt x="1317522" y="289995"/>
                  </a:cubicBezTo>
                  <a:cubicBezTo>
                    <a:pt x="1338825" y="393234"/>
                    <a:pt x="1360128" y="506305"/>
                    <a:pt x="1366683" y="624292"/>
                  </a:cubicBezTo>
                  <a:cubicBezTo>
                    <a:pt x="1373238" y="742279"/>
                    <a:pt x="1333909" y="917620"/>
                    <a:pt x="1356851" y="997917"/>
                  </a:cubicBezTo>
                  <a:cubicBezTo>
                    <a:pt x="1379793" y="1078214"/>
                    <a:pt x="1451896" y="1084769"/>
                    <a:pt x="1504335" y="1106072"/>
                  </a:cubicBezTo>
                  <a:cubicBezTo>
                    <a:pt x="1556774" y="1127375"/>
                    <a:pt x="1635431" y="1142124"/>
                    <a:pt x="1671483" y="1125737"/>
                  </a:cubicBezTo>
                  <a:cubicBezTo>
                    <a:pt x="1707535" y="1109350"/>
                    <a:pt x="1704258" y="1032331"/>
                    <a:pt x="1720645" y="1007750"/>
                  </a:cubicBezTo>
                  <a:cubicBezTo>
                    <a:pt x="1737032" y="983169"/>
                    <a:pt x="1730477" y="965143"/>
                    <a:pt x="1769806" y="978253"/>
                  </a:cubicBezTo>
                  <a:cubicBezTo>
                    <a:pt x="1809135" y="991363"/>
                    <a:pt x="1897626" y="1076576"/>
                    <a:pt x="1956619" y="1086408"/>
                  </a:cubicBezTo>
                  <a:cubicBezTo>
                    <a:pt x="2015612" y="1096240"/>
                    <a:pt x="2086077" y="1061827"/>
                    <a:pt x="2123767" y="1037246"/>
                  </a:cubicBezTo>
                  <a:cubicBezTo>
                    <a:pt x="2161457" y="1012665"/>
                    <a:pt x="2159819" y="940563"/>
                    <a:pt x="2182761" y="938924"/>
                  </a:cubicBezTo>
                  <a:cubicBezTo>
                    <a:pt x="2205703" y="937285"/>
                    <a:pt x="2233561" y="997917"/>
                    <a:pt x="2261419" y="1027414"/>
                  </a:cubicBezTo>
                  <a:cubicBezTo>
                    <a:pt x="2289277" y="1056911"/>
                    <a:pt x="2323690" y="1114265"/>
                    <a:pt x="2349909" y="1115904"/>
                  </a:cubicBezTo>
                  <a:cubicBezTo>
                    <a:pt x="2376128" y="1117543"/>
                    <a:pt x="2395793" y="1050356"/>
                    <a:pt x="2418735" y="1037246"/>
                  </a:cubicBezTo>
                  <a:cubicBezTo>
                    <a:pt x="2441677" y="1024136"/>
                    <a:pt x="2464619" y="1030691"/>
                    <a:pt x="2487561" y="103724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BA50C5-EA42-0384-8B10-D65CEDA3E27B}"/>
              </a:ext>
            </a:extLst>
          </p:cNvPr>
          <p:cNvSpPr txBox="1"/>
          <p:nvPr/>
        </p:nvSpPr>
        <p:spPr>
          <a:xfrm>
            <a:off x="8184705" y="1251380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5A60E-7EEF-DEA7-2CB5-9280C5A20464}"/>
              </a:ext>
            </a:extLst>
          </p:cNvPr>
          <p:cNvSpPr txBox="1"/>
          <p:nvPr/>
        </p:nvSpPr>
        <p:spPr>
          <a:xfrm>
            <a:off x="8190819" y="234475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IN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D0A703-7882-553B-C80D-8637E182A632}"/>
              </a:ext>
            </a:extLst>
          </p:cNvPr>
          <p:cNvGrpSpPr/>
          <p:nvPr/>
        </p:nvGrpSpPr>
        <p:grpSpPr>
          <a:xfrm>
            <a:off x="5795399" y="3906489"/>
            <a:ext cx="2765024" cy="1214294"/>
            <a:chOff x="5848928" y="3525061"/>
            <a:chExt cx="2765024" cy="121429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7BFBDE8-E27D-1CD6-592E-D1C63C1CE762}"/>
                </a:ext>
              </a:extLst>
            </p:cNvPr>
            <p:cNvCxnSpPr/>
            <p:nvPr/>
          </p:nvCxnSpPr>
          <p:spPr>
            <a:xfrm>
              <a:off x="5848928" y="4541897"/>
              <a:ext cx="2765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AC2A018-9931-622D-98A6-D6118AD546F3}"/>
                </a:ext>
              </a:extLst>
            </p:cNvPr>
            <p:cNvSpPr/>
            <p:nvPr/>
          </p:nvSpPr>
          <p:spPr>
            <a:xfrm>
              <a:off x="6037006" y="3525061"/>
              <a:ext cx="2399071" cy="1214294"/>
            </a:xfrm>
            <a:custGeom>
              <a:avLst/>
              <a:gdLst>
                <a:gd name="connsiteX0" fmla="*/ 0 w 2399071"/>
                <a:gd name="connsiteY0" fmla="*/ 987945 h 1214294"/>
                <a:gd name="connsiteX1" fmla="*/ 206478 w 2399071"/>
                <a:gd name="connsiteY1" fmla="*/ 889623 h 1214294"/>
                <a:gd name="connsiteX2" fmla="*/ 363794 w 2399071"/>
                <a:gd name="connsiteY2" fmla="*/ 1046939 h 1214294"/>
                <a:gd name="connsiteX3" fmla="*/ 452284 w 2399071"/>
                <a:gd name="connsiteY3" fmla="*/ 899455 h 1214294"/>
                <a:gd name="connsiteX4" fmla="*/ 580104 w 2399071"/>
                <a:gd name="connsiteY4" fmla="*/ 1017442 h 1214294"/>
                <a:gd name="connsiteX5" fmla="*/ 707923 w 2399071"/>
                <a:gd name="connsiteY5" fmla="*/ 1214087 h 1214294"/>
                <a:gd name="connsiteX6" fmla="*/ 825910 w 2399071"/>
                <a:gd name="connsiteY6" fmla="*/ 978113 h 1214294"/>
                <a:gd name="connsiteX7" fmla="*/ 904568 w 2399071"/>
                <a:gd name="connsiteY7" fmla="*/ 712642 h 1214294"/>
                <a:gd name="connsiteX8" fmla="*/ 1052052 w 2399071"/>
                <a:gd name="connsiteY8" fmla="*/ 171868 h 1214294"/>
                <a:gd name="connsiteX9" fmla="*/ 1140542 w 2399071"/>
                <a:gd name="connsiteY9" fmla="*/ 4720 h 1214294"/>
                <a:gd name="connsiteX10" fmla="*/ 1248697 w 2399071"/>
                <a:gd name="connsiteY10" fmla="*/ 319352 h 1214294"/>
                <a:gd name="connsiteX11" fmla="*/ 1288026 w 2399071"/>
                <a:gd name="connsiteY11" fmla="*/ 722474 h 1214294"/>
                <a:gd name="connsiteX12" fmla="*/ 1376517 w 2399071"/>
                <a:gd name="connsiteY12" fmla="*/ 1007610 h 1214294"/>
                <a:gd name="connsiteX13" fmla="*/ 1435510 w 2399071"/>
                <a:gd name="connsiteY13" fmla="*/ 1066604 h 1214294"/>
                <a:gd name="connsiteX14" fmla="*/ 1533833 w 2399071"/>
                <a:gd name="connsiteY14" fmla="*/ 978113 h 1214294"/>
                <a:gd name="connsiteX15" fmla="*/ 1799304 w 2399071"/>
                <a:gd name="connsiteY15" fmla="*/ 1086268 h 1214294"/>
                <a:gd name="connsiteX16" fmla="*/ 1897626 w 2399071"/>
                <a:gd name="connsiteY16" fmla="*/ 958449 h 1214294"/>
                <a:gd name="connsiteX17" fmla="*/ 2035278 w 2399071"/>
                <a:gd name="connsiteY17" fmla="*/ 1096100 h 1214294"/>
                <a:gd name="connsiteX18" fmla="*/ 2251588 w 2399071"/>
                <a:gd name="connsiteY18" fmla="*/ 928952 h 1214294"/>
                <a:gd name="connsiteX19" fmla="*/ 2399071 w 2399071"/>
                <a:gd name="connsiteY19" fmla="*/ 1066604 h 121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99071" h="1214294">
                  <a:moveTo>
                    <a:pt x="0" y="987945"/>
                  </a:moveTo>
                  <a:cubicBezTo>
                    <a:pt x="72923" y="933868"/>
                    <a:pt x="145846" y="879791"/>
                    <a:pt x="206478" y="889623"/>
                  </a:cubicBezTo>
                  <a:cubicBezTo>
                    <a:pt x="267110" y="899455"/>
                    <a:pt x="322826" y="1045300"/>
                    <a:pt x="363794" y="1046939"/>
                  </a:cubicBezTo>
                  <a:cubicBezTo>
                    <a:pt x="404762" y="1048578"/>
                    <a:pt x="416232" y="904371"/>
                    <a:pt x="452284" y="899455"/>
                  </a:cubicBezTo>
                  <a:cubicBezTo>
                    <a:pt x="488336" y="894539"/>
                    <a:pt x="537497" y="965003"/>
                    <a:pt x="580104" y="1017442"/>
                  </a:cubicBezTo>
                  <a:cubicBezTo>
                    <a:pt x="622711" y="1069881"/>
                    <a:pt x="666955" y="1220642"/>
                    <a:pt x="707923" y="1214087"/>
                  </a:cubicBezTo>
                  <a:cubicBezTo>
                    <a:pt x="748891" y="1207532"/>
                    <a:pt x="793136" y="1061687"/>
                    <a:pt x="825910" y="978113"/>
                  </a:cubicBezTo>
                  <a:cubicBezTo>
                    <a:pt x="858684" y="894539"/>
                    <a:pt x="866878" y="847016"/>
                    <a:pt x="904568" y="712642"/>
                  </a:cubicBezTo>
                  <a:cubicBezTo>
                    <a:pt x="942258" y="578268"/>
                    <a:pt x="1012723" y="289855"/>
                    <a:pt x="1052052" y="171868"/>
                  </a:cubicBezTo>
                  <a:cubicBezTo>
                    <a:pt x="1091381" y="53881"/>
                    <a:pt x="1107768" y="-19861"/>
                    <a:pt x="1140542" y="4720"/>
                  </a:cubicBezTo>
                  <a:cubicBezTo>
                    <a:pt x="1173316" y="29301"/>
                    <a:pt x="1224116" y="199726"/>
                    <a:pt x="1248697" y="319352"/>
                  </a:cubicBezTo>
                  <a:cubicBezTo>
                    <a:pt x="1273278" y="438978"/>
                    <a:pt x="1266723" y="607764"/>
                    <a:pt x="1288026" y="722474"/>
                  </a:cubicBezTo>
                  <a:cubicBezTo>
                    <a:pt x="1309329" y="837184"/>
                    <a:pt x="1351936" y="950255"/>
                    <a:pt x="1376517" y="1007610"/>
                  </a:cubicBezTo>
                  <a:cubicBezTo>
                    <a:pt x="1401098" y="1064965"/>
                    <a:pt x="1409291" y="1071520"/>
                    <a:pt x="1435510" y="1066604"/>
                  </a:cubicBezTo>
                  <a:cubicBezTo>
                    <a:pt x="1461729" y="1061688"/>
                    <a:pt x="1473201" y="974836"/>
                    <a:pt x="1533833" y="978113"/>
                  </a:cubicBezTo>
                  <a:cubicBezTo>
                    <a:pt x="1594465" y="981390"/>
                    <a:pt x="1738672" y="1089545"/>
                    <a:pt x="1799304" y="1086268"/>
                  </a:cubicBezTo>
                  <a:cubicBezTo>
                    <a:pt x="1859936" y="1082991"/>
                    <a:pt x="1858297" y="956810"/>
                    <a:pt x="1897626" y="958449"/>
                  </a:cubicBezTo>
                  <a:cubicBezTo>
                    <a:pt x="1936955" y="960088"/>
                    <a:pt x="1976284" y="1101016"/>
                    <a:pt x="2035278" y="1096100"/>
                  </a:cubicBezTo>
                  <a:cubicBezTo>
                    <a:pt x="2094272" y="1091184"/>
                    <a:pt x="2190956" y="933868"/>
                    <a:pt x="2251588" y="928952"/>
                  </a:cubicBezTo>
                  <a:cubicBezTo>
                    <a:pt x="2312220" y="924036"/>
                    <a:pt x="2355645" y="995320"/>
                    <a:pt x="2399071" y="106660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DECC98F-C7BE-AE30-C678-214AACB4896B}"/>
              </a:ext>
            </a:extLst>
          </p:cNvPr>
          <p:cNvSpPr txBox="1"/>
          <p:nvPr/>
        </p:nvSpPr>
        <p:spPr>
          <a:xfrm>
            <a:off x="8190819" y="371880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E2F507D-22E8-C278-80EF-739493CCFAD5}"/>
              </a:ext>
            </a:extLst>
          </p:cNvPr>
          <p:cNvGrpSpPr/>
          <p:nvPr/>
        </p:nvGrpSpPr>
        <p:grpSpPr>
          <a:xfrm>
            <a:off x="5809517" y="5233518"/>
            <a:ext cx="2428717" cy="1277676"/>
            <a:chOff x="6037006" y="4928800"/>
            <a:chExt cx="2428717" cy="127767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6A9365-DC1E-E525-0715-04B6F26E9884}"/>
                </a:ext>
              </a:extLst>
            </p:cNvPr>
            <p:cNvCxnSpPr/>
            <p:nvPr/>
          </p:nvCxnSpPr>
          <p:spPr>
            <a:xfrm>
              <a:off x="6037006" y="6096000"/>
              <a:ext cx="24287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2FC5818-072A-A8CD-0C9F-3E32C61F8539}"/>
                </a:ext>
              </a:extLst>
            </p:cNvPr>
            <p:cNvSpPr/>
            <p:nvPr/>
          </p:nvSpPr>
          <p:spPr>
            <a:xfrm>
              <a:off x="6302477" y="4928800"/>
              <a:ext cx="2084439" cy="1277676"/>
            </a:xfrm>
            <a:custGeom>
              <a:avLst/>
              <a:gdLst>
                <a:gd name="connsiteX0" fmla="*/ 0 w 2084439"/>
                <a:gd name="connsiteY0" fmla="*/ 1108206 h 1277676"/>
                <a:gd name="connsiteX1" fmla="*/ 353962 w 2084439"/>
                <a:gd name="connsiteY1" fmla="*/ 1206529 h 1277676"/>
                <a:gd name="connsiteX2" fmla="*/ 452284 w 2084439"/>
                <a:gd name="connsiteY2" fmla="*/ 1049213 h 1277676"/>
                <a:gd name="connsiteX3" fmla="*/ 560439 w 2084439"/>
                <a:gd name="connsiteY3" fmla="*/ 1245858 h 1277676"/>
                <a:gd name="connsiteX4" fmla="*/ 698091 w 2084439"/>
                <a:gd name="connsiteY4" fmla="*/ 1167200 h 1277676"/>
                <a:gd name="connsiteX5" fmla="*/ 894736 w 2084439"/>
                <a:gd name="connsiteY5" fmla="*/ 665755 h 1277676"/>
                <a:gd name="connsiteX6" fmla="*/ 924233 w 2084439"/>
                <a:gd name="connsiteY6" fmla="*/ 144645 h 1277676"/>
                <a:gd name="connsiteX7" fmla="*/ 1022555 w 2084439"/>
                <a:gd name="connsiteY7" fmla="*/ 16826 h 1277676"/>
                <a:gd name="connsiteX8" fmla="*/ 1219200 w 2084439"/>
                <a:gd name="connsiteY8" fmla="*/ 449445 h 1277676"/>
                <a:gd name="connsiteX9" fmla="*/ 1268362 w 2084439"/>
                <a:gd name="connsiteY9" fmla="*/ 823071 h 1277676"/>
                <a:gd name="connsiteX10" fmla="*/ 1347020 w 2084439"/>
                <a:gd name="connsiteY10" fmla="*/ 1157368 h 1277676"/>
                <a:gd name="connsiteX11" fmla="*/ 1465007 w 2084439"/>
                <a:gd name="connsiteY11" fmla="*/ 1275355 h 1277676"/>
                <a:gd name="connsiteX12" fmla="*/ 1582994 w 2084439"/>
                <a:gd name="connsiteY12" fmla="*/ 1177032 h 1277676"/>
                <a:gd name="connsiteX13" fmla="*/ 1651820 w 2084439"/>
                <a:gd name="connsiteY13" fmla="*/ 1068877 h 1277676"/>
                <a:gd name="connsiteX14" fmla="*/ 1769807 w 2084439"/>
                <a:gd name="connsiteY14" fmla="*/ 1196697 h 1277676"/>
                <a:gd name="connsiteX15" fmla="*/ 1897626 w 2084439"/>
                <a:gd name="connsiteY15" fmla="*/ 1275355 h 1277676"/>
                <a:gd name="connsiteX16" fmla="*/ 1995949 w 2084439"/>
                <a:gd name="connsiteY16" fmla="*/ 1108206 h 1277676"/>
                <a:gd name="connsiteX17" fmla="*/ 2084439 w 2084439"/>
                <a:gd name="connsiteY17" fmla="*/ 1147535 h 127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4439" h="1277676">
                  <a:moveTo>
                    <a:pt x="0" y="1108206"/>
                  </a:moveTo>
                  <a:cubicBezTo>
                    <a:pt x="139290" y="1162283"/>
                    <a:pt x="278581" y="1216361"/>
                    <a:pt x="353962" y="1206529"/>
                  </a:cubicBezTo>
                  <a:cubicBezTo>
                    <a:pt x="429343" y="1196697"/>
                    <a:pt x="417871" y="1042658"/>
                    <a:pt x="452284" y="1049213"/>
                  </a:cubicBezTo>
                  <a:cubicBezTo>
                    <a:pt x="486697" y="1055768"/>
                    <a:pt x="519471" y="1226193"/>
                    <a:pt x="560439" y="1245858"/>
                  </a:cubicBezTo>
                  <a:cubicBezTo>
                    <a:pt x="601407" y="1265523"/>
                    <a:pt x="642375" y="1263884"/>
                    <a:pt x="698091" y="1167200"/>
                  </a:cubicBezTo>
                  <a:cubicBezTo>
                    <a:pt x="753807" y="1070516"/>
                    <a:pt x="857046" y="836181"/>
                    <a:pt x="894736" y="665755"/>
                  </a:cubicBezTo>
                  <a:cubicBezTo>
                    <a:pt x="932426" y="495329"/>
                    <a:pt x="902930" y="252800"/>
                    <a:pt x="924233" y="144645"/>
                  </a:cubicBezTo>
                  <a:cubicBezTo>
                    <a:pt x="945536" y="36490"/>
                    <a:pt x="973394" y="-33974"/>
                    <a:pt x="1022555" y="16826"/>
                  </a:cubicBezTo>
                  <a:cubicBezTo>
                    <a:pt x="1071716" y="67626"/>
                    <a:pt x="1178232" y="315071"/>
                    <a:pt x="1219200" y="449445"/>
                  </a:cubicBezTo>
                  <a:cubicBezTo>
                    <a:pt x="1260168" y="583819"/>
                    <a:pt x="1247059" y="705084"/>
                    <a:pt x="1268362" y="823071"/>
                  </a:cubicBezTo>
                  <a:cubicBezTo>
                    <a:pt x="1289665" y="941058"/>
                    <a:pt x="1314246" y="1081987"/>
                    <a:pt x="1347020" y="1157368"/>
                  </a:cubicBezTo>
                  <a:cubicBezTo>
                    <a:pt x="1379794" y="1232749"/>
                    <a:pt x="1425678" y="1272078"/>
                    <a:pt x="1465007" y="1275355"/>
                  </a:cubicBezTo>
                  <a:cubicBezTo>
                    <a:pt x="1504336" y="1278632"/>
                    <a:pt x="1551859" y="1211445"/>
                    <a:pt x="1582994" y="1177032"/>
                  </a:cubicBezTo>
                  <a:cubicBezTo>
                    <a:pt x="1614130" y="1142619"/>
                    <a:pt x="1620685" y="1065600"/>
                    <a:pt x="1651820" y="1068877"/>
                  </a:cubicBezTo>
                  <a:cubicBezTo>
                    <a:pt x="1682955" y="1072154"/>
                    <a:pt x="1728839" y="1162284"/>
                    <a:pt x="1769807" y="1196697"/>
                  </a:cubicBezTo>
                  <a:cubicBezTo>
                    <a:pt x="1810775" y="1231110"/>
                    <a:pt x="1859936" y="1290103"/>
                    <a:pt x="1897626" y="1275355"/>
                  </a:cubicBezTo>
                  <a:cubicBezTo>
                    <a:pt x="1935316" y="1260607"/>
                    <a:pt x="1964814" y="1129509"/>
                    <a:pt x="1995949" y="1108206"/>
                  </a:cubicBezTo>
                  <a:cubicBezTo>
                    <a:pt x="2027085" y="1086903"/>
                    <a:pt x="2055762" y="1117219"/>
                    <a:pt x="2084439" y="11475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2C9AB68-3E56-A055-2247-6428BEE2A38B}"/>
              </a:ext>
            </a:extLst>
          </p:cNvPr>
          <p:cNvSpPr txBox="1"/>
          <p:nvPr/>
        </p:nvSpPr>
        <p:spPr>
          <a:xfrm>
            <a:off x="8238234" y="512078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</a:t>
            </a:r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F412A3-275D-D21F-CE5D-EA0D6554F50E}"/>
              </a:ext>
            </a:extLst>
          </p:cNvPr>
          <p:cNvCxnSpPr/>
          <p:nvPr/>
        </p:nvCxnSpPr>
        <p:spPr>
          <a:xfrm>
            <a:off x="3275864" y="2176598"/>
            <a:ext cx="1904142" cy="0"/>
          </a:xfrm>
          <a:prstGeom prst="straightConnector1">
            <a:avLst/>
          </a:prstGeom>
          <a:ln w="34925">
            <a:solidFill>
              <a:srgbClr val="C00000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4D0172-22AD-1A2E-B54C-9487E182B022}"/>
              </a:ext>
            </a:extLst>
          </p:cNvPr>
          <p:cNvCxnSpPr/>
          <p:nvPr/>
        </p:nvCxnSpPr>
        <p:spPr>
          <a:xfrm>
            <a:off x="3328826" y="3362835"/>
            <a:ext cx="1904142" cy="0"/>
          </a:xfrm>
          <a:prstGeom prst="straightConnector1">
            <a:avLst/>
          </a:prstGeom>
          <a:ln w="34925">
            <a:solidFill>
              <a:srgbClr val="C00000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E3EF95-F39A-726D-9102-38289C387C47}"/>
              </a:ext>
            </a:extLst>
          </p:cNvPr>
          <p:cNvCxnSpPr/>
          <p:nvPr/>
        </p:nvCxnSpPr>
        <p:spPr>
          <a:xfrm>
            <a:off x="3328826" y="4724828"/>
            <a:ext cx="1904142" cy="0"/>
          </a:xfrm>
          <a:prstGeom prst="straightConnector1">
            <a:avLst/>
          </a:prstGeom>
          <a:ln w="34925">
            <a:solidFill>
              <a:srgbClr val="C00000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8043AF6-CA73-F964-49CC-EC30E70DEE31}"/>
              </a:ext>
            </a:extLst>
          </p:cNvPr>
          <p:cNvCxnSpPr/>
          <p:nvPr/>
        </p:nvCxnSpPr>
        <p:spPr>
          <a:xfrm>
            <a:off x="3422388" y="6096000"/>
            <a:ext cx="1904142" cy="0"/>
          </a:xfrm>
          <a:prstGeom prst="straightConnector1">
            <a:avLst/>
          </a:prstGeom>
          <a:ln w="34925">
            <a:solidFill>
              <a:srgbClr val="C00000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018F477-2641-7748-7895-0B403F1DF089}"/>
              </a:ext>
            </a:extLst>
          </p:cNvPr>
          <p:cNvSpPr txBox="1"/>
          <p:nvPr/>
        </p:nvSpPr>
        <p:spPr>
          <a:xfrm>
            <a:off x="4013774" y="2095955"/>
            <a:ext cx="428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FT</a:t>
            </a:r>
            <a:endParaRPr lang="en-IN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FFF998-AD3C-C313-EFC0-3C313DA7ECBB}"/>
              </a:ext>
            </a:extLst>
          </p:cNvPr>
          <p:cNvSpPr txBox="1"/>
          <p:nvPr/>
        </p:nvSpPr>
        <p:spPr>
          <a:xfrm>
            <a:off x="4032952" y="3503363"/>
            <a:ext cx="428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FT</a:t>
            </a:r>
            <a:endParaRPr lang="en-IN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7C6CAF-FC9E-FB50-7A0B-45D1D45E9FBA}"/>
              </a:ext>
            </a:extLst>
          </p:cNvPr>
          <p:cNvSpPr txBox="1"/>
          <p:nvPr/>
        </p:nvSpPr>
        <p:spPr>
          <a:xfrm>
            <a:off x="4013774" y="4816801"/>
            <a:ext cx="428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FT</a:t>
            </a:r>
            <a:endParaRPr lang="en-IN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5A0B27-DC1A-D565-6E50-DE721703F0FD}"/>
              </a:ext>
            </a:extLst>
          </p:cNvPr>
          <p:cNvSpPr txBox="1"/>
          <p:nvPr/>
        </p:nvSpPr>
        <p:spPr>
          <a:xfrm>
            <a:off x="4096175" y="6156295"/>
            <a:ext cx="428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FT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5C717-E163-9AF5-CA0C-0229AEC5228D}"/>
              </a:ext>
            </a:extLst>
          </p:cNvPr>
          <p:cNvSpPr txBox="1"/>
          <p:nvPr/>
        </p:nvSpPr>
        <p:spPr>
          <a:xfrm>
            <a:off x="57244" y="287154"/>
            <a:ext cx="318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Obtain 1D Fourier transforms of individual measured data</a:t>
            </a:r>
          </a:p>
        </p:txBody>
      </p:sp>
    </p:spTree>
    <p:extLst>
      <p:ext uri="{BB962C8B-B14F-4D97-AF65-F5344CB8AC3E}">
        <p14:creationId xmlns:p14="http://schemas.microsoft.com/office/powerpoint/2010/main" val="397679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0BBB3-09F2-CF2C-F214-A3CC409A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77DE4-6E73-8281-E4DD-7F27E44C8839}"/>
              </a:ext>
            </a:extLst>
          </p:cNvPr>
          <p:cNvSpPr/>
          <p:nvPr/>
        </p:nvSpPr>
        <p:spPr>
          <a:xfrm>
            <a:off x="2743200" y="1905000"/>
            <a:ext cx="3962400" cy="3276600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FA6257-82F5-FE76-7411-E5D249A1DABB}"/>
              </a:ext>
            </a:extLst>
          </p:cNvPr>
          <p:cNvGrpSpPr/>
          <p:nvPr/>
        </p:nvGrpSpPr>
        <p:grpSpPr>
          <a:xfrm rot="16200000">
            <a:off x="2837199" y="2954829"/>
            <a:ext cx="2784987" cy="1342974"/>
            <a:chOff x="5600663" y="337350"/>
            <a:chExt cx="2784987" cy="13429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C2927C7-BD86-6F02-42F6-734BA8DA57C6}"/>
                </a:ext>
              </a:extLst>
            </p:cNvPr>
            <p:cNvCxnSpPr/>
            <p:nvPr/>
          </p:nvCxnSpPr>
          <p:spPr>
            <a:xfrm>
              <a:off x="5600663" y="1535979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19CDB85-888F-0189-358C-2370929C3CFA}"/>
                </a:ext>
              </a:extLst>
            </p:cNvPr>
            <p:cNvSpPr/>
            <p:nvPr/>
          </p:nvSpPr>
          <p:spPr>
            <a:xfrm>
              <a:off x="5848928" y="337350"/>
              <a:ext cx="2536722" cy="1342974"/>
            </a:xfrm>
            <a:custGeom>
              <a:avLst/>
              <a:gdLst>
                <a:gd name="connsiteX0" fmla="*/ 0 w 2536722"/>
                <a:gd name="connsiteY0" fmla="*/ 1213377 h 1342974"/>
                <a:gd name="connsiteX1" fmla="*/ 68825 w 2536722"/>
                <a:gd name="connsiteY1" fmla="*/ 1105223 h 1342974"/>
                <a:gd name="connsiteX2" fmla="*/ 206477 w 2536722"/>
                <a:gd name="connsiteY2" fmla="*/ 1183881 h 1342974"/>
                <a:gd name="connsiteX3" fmla="*/ 363793 w 2536722"/>
                <a:gd name="connsiteY3" fmla="*/ 1292035 h 1342974"/>
                <a:gd name="connsiteX4" fmla="*/ 471948 w 2536722"/>
                <a:gd name="connsiteY4" fmla="*/ 1164216 h 1342974"/>
                <a:gd name="connsiteX5" fmla="*/ 550606 w 2536722"/>
                <a:gd name="connsiteY5" fmla="*/ 1085558 h 1342974"/>
                <a:gd name="connsiteX6" fmla="*/ 688258 w 2536722"/>
                <a:gd name="connsiteY6" fmla="*/ 1174048 h 1342974"/>
                <a:gd name="connsiteX7" fmla="*/ 668593 w 2536722"/>
                <a:gd name="connsiteY7" fmla="*/ 1203545 h 1342974"/>
                <a:gd name="connsiteX8" fmla="*/ 806245 w 2536722"/>
                <a:gd name="connsiteY8" fmla="*/ 1124887 h 1342974"/>
                <a:gd name="connsiteX9" fmla="*/ 855406 w 2536722"/>
                <a:gd name="connsiteY9" fmla="*/ 1046229 h 1342974"/>
                <a:gd name="connsiteX10" fmla="*/ 1012722 w 2536722"/>
                <a:gd name="connsiteY10" fmla="*/ 1144552 h 1342974"/>
                <a:gd name="connsiteX11" fmla="*/ 1061883 w 2536722"/>
                <a:gd name="connsiteY11" fmla="*/ 1193713 h 1342974"/>
                <a:gd name="connsiteX12" fmla="*/ 1081548 w 2536722"/>
                <a:gd name="connsiteY12" fmla="*/ 1282203 h 1342974"/>
                <a:gd name="connsiteX13" fmla="*/ 1160206 w 2536722"/>
                <a:gd name="connsiteY13" fmla="*/ 1174048 h 1342974"/>
                <a:gd name="connsiteX14" fmla="*/ 1170038 w 2536722"/>
                <a:gd name="connsiteY14" fmla="*/ 888913 h 1342974"/>
                <a:gd name="connsiteX15" fmla="*/ 1170038 w 2536722"/>
                <a:gd name="connsiteY15" fmla="*/ 574281 h 1342974"/>
                <a:gd name="connsiteX16" fmla="*/ 1268361 w 2536722"/>
                <a:gd name="connsiteY16" fmla="*/ 82668 h 1342974"/>
                <a:gd name="connsiteX17" fmla="*/ 1288025 w 2536722"/>
                <a:gd name="connsiteY17" fmla="*/ 13842 h 1342974"/>
                <a:gd name="connsiteX18" fmla="*/ 1376516 w 2536722"/>
                <a:gd name="connsiteY18" fmla="*/ 230152 h 1342974"/>
                <a:gd name="connsiteX19" fmla="*/ 1376516 w 2536722"/>
                <a:gd name="connsiteY19" fmla="*/ 426797 h 1342974"/>
                <a:gd name="connsiteX20" fmla="*/ 1465006 w 2536722"/>
                <a:gd name="connsiteY20" fmla="*/ 731597 h 1342974"/>
                <a:gd name="connsiteX21" fmla="*/ 1484670 w 2536722"/>
                <a:gd name="connsiteY21" fmla="*/ 1006900 h 1342974"/>
                <a:gd name="connsiteX22" fmla="*/ 1543664 w 2536722"/>
                <a:gd name="connsiteY22" fmla="*/ 1282203 h 1342974"/>
                <a:gd name="connsiteX23" fmla="*/ 1641987 w 2536722"/>
                <a:gd name="connsiteY23" fmla="*/ 1341197 h 1342974"/>
                <a:gd name="connsiteX24" fmla="*/ 1710812 w 2536722"/>
                <a:gd name="connsiteY24" fmla="*/ 1242874 h 1342974"/>
                <a:gd name="connsiteX25" fmla="*/ 1789470 w 2536722"/>
                <a:gd name="connsiteY25" fmla="*/ 1164216 h 1342974"/>
                <a:gd name="connsiteX26" fmla="*/ 1897625 w 2536722"/>
                <a:gd name="connsiteY26" fmla="*/ 1154384 h 1342974"/>
                <a:gd name="connsiteX27" fmla="*/ 2035277 w 2536722"/>
                <a:gd name="connsiteY27" fmla="*/ 1262539 h 1342974"/>
                <a:gd name="connsiteX28" fmla="*/ 2192593 w 2536722"/>
                <a:gd name="connsiteY28" fmla="*/ 1124887 h 1342974"/>
                <a:gd name="connsiteX29" fmla="*/ 2300748 w 2536722"/>
                <a:gd name="connsiteY29" fmla="*/ 1242874 h 1342974"/>
                <a:gd name="connsiteX30" fmla="*/ 2428567 w 2536722"/>
                <a:gd name="connsiteY30" fmla="*/ 1164216 h 1342974"/>
                <a:gd name="connsiteX31" fmla="*/ 2536722 w 2536722"/>
                <a:gd name="connsiteY31" fmla="*/ 1164216 h 1342974"/>
                <a:gd name="connsiteX32" fmla="*/ 2536722 w 2536722"/>
                <a:gd name="connsiteY32" fmla="*/ 1164216 h 13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6722" h="1342974">
                  <a:moveTo>
                    <a:pt x="0" y="1213377"/>
                  </a:moveTo>
                  <a:cubicBezTo>
                    <a:pt x="17206" y="1161758"/>
                    <a:pt x="34412" y="1110139"/>
                    <a:pt x="68825" y="1105223"/>
                  </a:cubicBezTo>
                  <a:cubicBezTo>
                    <a:pt x="103238" y="1100307"/>
                    <a:pt x="157316" y="1152746"/>
                    <a:pt x="206477" y="1183881"/>
                  </a:cubicBezTo>
                  <a:cubicBezTo>
                    <a:pt x="255638" y="1215016"/>
                    <a:pt x="319548" y="1295313"/>
                    <a:pt x="363793" y="1292035"/>
                  </a:cubicBezTo>
                  <a:cubicBezTo>
                    <a:pt x="408038" y="1288758"/>
                    <a:pt x="440813" y="1198629"/>
                    <a:pt x="471948" y="1164216"/>
                  </a:cubicBezTo>
                  <a:cubicBezTo>
                    <a:pt x="503084" y="1129803"/>
                    <a:pt x="514554" y="1083919"/>
                    <a:pt x="550606" y="1085558"/>
                  </a:cubicBezTo>
                  <a:cubicBezTo>
                    <a:pt x="586658" y="1087197"/>
                    <a:pt x="688258" y="1174048"/>
                    <a:pt x="688258" y="1174048"/>
                  </a:cubicBezTo>
                  <a:cubicBezTo>
                    <a:pt x="707922" y="1193712"/>
                    <a:pt x="648928" y="1211739"/>
                    <a:pt x="668593" y="1203545"/>
                  </a:cubicBezTo>
                  <a:cubicBezTo>
                    <a:pt x="688258" y="1195351"/>
                    <a:pt x="775109" y="1151106"/>
                    <a:pt x="806245" y="1124887"/>
                  </a:cubicBezTo>
                  <a:cubicBezTo>
                    <a:pt x="837381" y="1098668"/>
                    <a:pt x="820993" y="1042951"/>
                    <a:pt x="855406" y="1046229"/>
                  </a:cubicBezTo>
                  <a:cubicBezTo>
                    <a:pt x="889819" y="1049507"/>
                    <a:pt x="978309" y="1119971"/>
                    <a:pt x="1012722" y="1144552"/>
                  </a:cubicBezTo>
                  <a:cubicBezTo>
                    <a:pt x="1047135" y="1169133"/>
                    <a:pt x="1050412" y="1170771"/>
                    <a:pt x="1061883" y="1193713"/>
                  </a:cubicBezTo>
                  <a:cubicBezTo>
                    <a:pt x="1073354" y="1216655"/>
                    <a:pt x="1065161" y="1285481"/>
                    <a:pt x="1081548" y="1282203"/>
                  </a:cubicBezTo>
                  <a:cubicBezTo>
                    <a:pt x="1097935" y="1278926"/>
                    <a:pt x="1145458" y="1239596"/>
                    <a:pt x="1160206" y="1174048"/>
                  </a:cubicBezTo>
                  <a:cubicBezTo>
                    <a:pt x="1174954" y="1108500"/>
                    <a:pt x="1168399" y="988874"/>
                    <a:pt x="1170038" y="888913"/>
                  </a:cubicBezTo>
                  <a:cubicBezTo>
                    <a:pt x="1171677" y="788952"/>
                    <a:pt x="1153651" y="708655"/>
                    <a:pt x="1170038" y="574281"/>
                  </a:cubicBezTo>
                  <a:cubicBezTo>
                    <a:pt x="1186425" y="439907"/>
                    <a:pt x="1248697" y="176074"/>
                    <a:pt x="1268361" y="82668"/>
                  </a:cubicBezTo>
                  <a:cubicBezTo>
                    <a:pt x="1288025" y="-10738"/>
                    <a:pt x="1269999" y="-10739"/>
                    <a:pt x="1288025" y="13842"/>
                  </a:cubicBezTo>
                  <a:cubicBezTo>
                    <a:pt x="1306051" y="38423"/>
                    <a:pt x="1361768" y="161326"/>
                    <a:pt x="1376516" y="230152"/>
                  </a:cubicBezTo>
                  <a:cubicBezTo>
                    <a:pt x="1391264" y="298978"/>
                    <a:pt x="1361768" y="343223"/>
                    <a:pt x="1376516" y="426797"/>
                  </a:cubicBezTo>
                  <a:cubicBezTo>
                    <a:pt x="1391264" y="510371"/>
                    <a:pt x="1446980" y="634913"/>
                    <a:pt x="1465006" y="731597"/>
                  </a:cubicBezTo>
                  <a:cubicBezTo>
                    <a:pt x="1483032" y="828281"/>
                    <a:pt x="1471560" y="915132"/>
                    <a:pt x="1484670" y="1006900"/>
                  </a:cubicBezTo>
                  <a:cubicBezTo>
                    <a:pt x="1497780" y="1098668"/>
                    <a:pt x="1517444" y="1226487"/>
                    <a:pt x="1543664" y="1282203"/>
                  </a:cubicBezTo>
                  <a:cubicBezTo>
                    <a:pt x="1569884" y="1337919"/>
                    <a:pt x="1614129" y="1347752"/>
                    <a:pt x="1641987" y="1341197"/>
                  </a:cubicBezTo>
                  <a:cubicBezTo>
                    <a:pt x="1669845" y="1334642"/>
                    <a:pt x="1686232" y="1272371"/>
                    <a:pt x="1710812" y="1242874"/>
                  </a:cubicBezTo>
                  <a:cubicBezTo>
                    <a:pt x="1735392" y="1213377"/>
                    <a:pt x="1758335" y="1178964"/>
                    <a:pt x="1789470" y="1164216"/>
                  </a:cubicBezTo>
                  <a:cubicBezTo>
                    <a:pt x="1820606" y="1149468"/>
                    <a:pt x="1856657" y="1137997"/>
                    <a:pt x="1897625" y="1154384"/>
                  </a:cubicBezTo>
                  <a:cubicBezTo>
                    <a:pt x="1938593" y="1170771"/>
                    <a:pt x="1986116" y="1267455"/>
                    <a:pt x="2035277" y="1262539"/>
                  </a:cubicBezTo>
                  <a:cubicBezTo>
                    <a:pt x="2084438" y="1257623"/>
                    <a:pt x="2148348" y="1128164"/>
                    <a:pt x="2192593" y="1124887"/>
                  </a:cubicBezTo>
                  <a:cubicBezTo>
                    <a:pt x="2236838" y="1121609"/>
                    <a:pt x="2261419" y="1236319"/>
                    <a:pt x="2300748" y="1242874"/>
                  </a:cubicBezTo>
                  <a:cubicBezTo>
                    <a:pt x="2340077" y="1249429"/>
                    <a:pt x="2389238" y="1177326"/>
                    <a:pt x="2428567" y="1164216"/>
                  </a:cubicBezTo>
                  <a:cubicBezTo>
                    <a:pt x="2467896" y="1151106"/>
                    <a:pt x="2536722" y="1164216"/>
                    <a:pt x="2536722" y="1164216"/>
                  </a:cubicBezTo>
                  <a:lnTo>
                    <a:pt x="2536722" y="116421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6B6B69C-ACDE-326B-30D8-DD9AADD5F530}"/>
              </a:ext>
            </a:extLst>
          </p:cNvPr>
          <p:cNvGrpSpPr/>
          <p:nvPr/>
        </p:nvGrpSpPr>
        <p:grpSpPr>
          <a:xfrm rot="12621481">
            <a:off x="2842396" y="3336803"/>
            <a:ext cx="2961056" cy="1137660"/>
            <a:chOff x="5698127" y="1922038"/>
            <a:chExt cx="2961056" cy="113766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64475AE-3AB5-D44C-444F-FD8990902930}"/>
                </a:ext>
              </a:extLst>
            </p:cNvPr>
            <p:cNvCxnSpPr>
              <a:cxnSpLocks/>
            </p:cNvCxnSpPr>
            <p:nvPr/>
          </p:nvCxnSpPr>
          <p:spPr>
            <a:xfrm>
              <a:off x="5698127" y="2981407"/>
              <a:ext cx="29610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EA054D9-49D6-0C6F-A3CA-560A7AC6F2EB}"/>
                </a:ext>
              </a:extLst>
            </p:cNvPr>
            <p:cNvSpPr/>
            <p:nvPr/>
          </p:nvSpPr>
          <p:spPr>
            <a:xfrm>
              <a:off x="5926429" y="1922038"/>
              <a:ext cx="2487561" cy="1137660"/>
            </a:xfrm>
            <a:custGeom>
              <a:avLst/>
              <a:gdLst>
                <a:gd name="connsiteX0" fmla="*/ 0 w 2487561"/>
                <a:gd name="connsiteY0" fmla="*/ 1047079 h 1137660"/>
                <a:gd name="connsiteX1" fmla="*/ 245806 w 2487561"/>
                <a:gd name="connsiteY1" fmla="*/ 1135569 h 1137660"/>
                <a:gd name="connsiteX2" fmla="*/ 304800 w 2487561"/>
                <a:gd name="connsiteY2" fmla="*/ 968421 h 1137660"/>
                <a:gd name="connsiteX3" fmla="*/ 393290 w 2487561"/>
                <a:gd name="connsiteY3" fmla="*/ 988085 h 1137660"/>
                <a:gd name="connsiteX4" fmla="*/ 462116 w 2487561"/>
                <a:gd name="connsiteY4" fmla="*/ 1115904 h 1137660"/>
                <a:gd name="connsiteX5" fmla="*/ 668593 w 2487561"/>
                <a:gd name="connsiteY5" fmla="*/ 1017582 h 1137660"/>
                <a:gd name="connsiteX6" fmla="*/ 717754 w 2487561"/>
                <a:gd name="connsiteY6" fmla="*/ 938924 h 1137660"/>
                <a:gd name="connsiteX7" fmla="*/ 924232 w 2487561"/>
                <a:gd name="connsiteY7" fmla="*/ 1027414 h 1137660"/>
                <a:gd name="connsiteX8" fmla="*/ 934064 w 2487561"/>
                <a:gd name="connsiteY8" fmla="*/ 1135569 h 1137660"/>
                <a:gd name="connsiteX9" fmla="*/ 1061883 w 2487561"/>
                <a:gd name="connsiteY9" fmla="*/ 1047079 h 1137660"/>
                <a:gd name="connsiteX10" fmla="*/ 1091380 w 2487561"/>
                <a:gd name="connsiteY10" fmla="*/ 732446 h 1137660"/>
                <a:gd name="connsiteX11" fmla="*/ 1150374 w 2487561"/>
                <a:gd name="connsiteY11" fmla="*/ 417814 h 1137660"/>
                <a:gd name="connsiteX12" fmla="*/ 1179871 w 2487561"/>
                <a:gd name="connsiteY12" fmla="*/ 132679 h 1137660"/>
                <a:gd name="connsiteX13" fmla="*/ 1238864 w 2487561"/>
                <a:gd name="connsiteY13" fmla="*/ 4859 h 1137660"/>
                <a:gd name="connsiteX14" fmla="*/ 1317522 w 2487561"/>
                <a:gd name="connsiteY14" fmla="*/ 289995 h 1137660"/>
                <a:gd name="connsiteX15" fmla="*/ 1366683 w 2487561"/>
                <a:gd name="connsiteY15" fmla="*/ 624292 h 1137660"/>
                <a:gd name="connsiteX16" fmla="*/ 1356851 w 2487561"/>
                <a:gd name="connsiteY16" fmla="*/ 997917 h 1137660"/>
                <a:gd name="connsiteX17" fmla="*/ 1504335 w 2487561"/>
                <a:gd name="connsiteY17" fmla="*/ 1106072 h 1137660"/>
                <a:gd name="connsiteX18" fmla="*/ 1671483 w 2487561"/>
                <a:gd name="connsiteY18" fmla="*/ 1125737 h 1137660"/>
                <a:gd name="connsiteX19" fmla="*/ 1720645 w 2487561"/>
                <a:gd name="connsiteY19" fmla="*/ 1007750 h 1137660"/>
                <a:gd name="connsiteX20" fmla="*/ 1769806 w 2487561"/>
                <a:gd name="connsiteY20" fmla="*/ 978253 h 1137660"/>
                <a:gd name="connsiteX21" fmla="*/ 1956619 w 2487561"/>
                <a:gd name="connsiteY21" fmla="*/ 1086408 h 1137660"/>
                <a:gd name="connsiteX22" fmla="*/ 2123767 w 2487561"/>
                <a:gd name="connsiteY22" fmla="*/ 1037246 h 1137660"/>
                <a:gd name="connsiteX23" fmla="*/ 2182761 w 2487561"/>
                <a:gd name="connsiteY23" fmla="*/ 938924 h 1137660"/>
                <a:gd name="connsiteX24" fmla="*/ 2261419 w 2487561"/>
                <a:gd name="connsiteY24" fmla="*/ 1027414 h 1137660"/>
                <a:gd name="connsiteX25" fmla="*/ 2349909 w 2487561"/>
                <a:gd name="connsiteY25" fmla="*/ 1115904 h 1137660"/>
                <a:gd name="connsiteX26" fmla="*/ 2418735 w 2487561"/>
                <a:gd name="connsiteY26" fmla="*/ 1037246 h 1137660"/>
                <a:gd name="connsiteX27" fmla="*/ 2487561 w 2487561"/>
                <a:gd name="connsiteY27" fmla="*/ 1037246 h 113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87561" h="1137660">
                  <a:moveTo>
                    <a:pt x="0" y="1047079"/>
                  </a:moveTo>
                  <a:cubicBezTo>
                    <a:pt x="97503" y="1097879"/>
                    <a:pt x="195006" y="1148679"/>
                    <a:pt x="245806" y="1135569"/>
                  </a:cubicBezTo>
                  <a:cubicBezTo>
                    <a:pt x="296606" y="1122459"/>
                    <a:pt x="280219" y="993002"/>
                    <a:pt x="304800" y="968421"/>
                  </a:cubicBezTo>
                  <a:cubicBezTo>
                    <a:pt x="329381" y="943840"/>
                    <a:pt x="367071" y="963505"/>
                    <a:pt x="393290" y="988085"/>
                  </a:cubicBezTo>
                  <a:cubicBezTo>
                    <a:pt x="419509" y="1012665"/>
                    <a:pt x="416232" y="1110988"/>
                    <a:pt x="462116" y="1115904"/>
                  </a:cubicBezTo>
                  <a:cubicBezTo>
                    <a:pt x="508000" y="1120820"/>
                    <a:pt x="625987" y="1047079"/>
                    <a:pt x="668593" y="1017582"/>
                  </a:cubicBezTo>
                  <a:cubicBezTo>
                    <a:pt x="711199" y="988085"/>
                    <a:pt x="675148" y="937285"/>
                    <a:pt x="717754" y="938924"/>
                  </a:cubicBezTo>
                  <a:cubicBezTo>
                    <a:pt x="760360" y="940563"/>
                    <a:pt x="888180" y="994640"/>
                    <a:pt x="924232" y="1027414"/>
                  </a:cubicBezTo>
                  <a:cubicBezTo>
                    <a:pt x="960284" y="1060188"/>
                    <a:pt x="911122" y="1132292"/>
                    <a:pt x="934064" y="1135569"/>
                  </a:cubicBezTo>
                  <a:cubicBezTo>
                    <a:pt x="957006" y="1138847"/>
                    <a:pt x="1035664" y="1114266"/>
                    <a:pt x="1061883" y="1047079"/>
                  </a:cubicBezTo>
                  <a:cubicBezTo>
                    <a:pt x="1088102" y="979892"/>
                    <a:pt x="1076632" y="837323"/>
                    <a:pt x="1091380" y="732446"/>
                  </a:cubicBezTo>
                  <a:cubicBezTo>
                    <a:pt x="1106128" y="627569"/>
                    <a:pt x="1135625" y="517775"/>
                    <a:pt x="1150374" y="417814"/>
                  </a:cubicBezTo>
                  <a:cubicBezTo>
                    <a:pt x="1165123" y="317853"/>
                    <a:pt x="1165123" y="201505"/>
                    <a:pt x="1179871" y="132679"/>
                  </a:cubicBezTo>
                  <a:cubicBezTo>
                    <a:pt x="1194619" y="63853"/>
                    <a:pt x="1215922" y="-21360"/>
                    <a:pt x="1238864" y="4859"/>
                  </a:cubicBezTo>
                  <a:cubicBezTo>
                    <a:pt x="1261806" y="31078"/>
                    <a:pt x="1296219" y="186756"/>
                    <a:pt x="1317522" y="289995"/>
                  </a:cubicBezTo>
                  <a:cubicBezTo>
                    <a:pt x="1338825" y="393234"/>
                    <a:pt x="1360128" y="506305"/>
                    <a:pt x="1366683" y="624292"/>
                  </a:cubicBezTo>
                  <a:cubicBezTo>
                    <a:pt x="1373238" y="742279"/>
                    <a:pt x="1333909" y="917620"/>
                    <a:pt x="1356851" y="997917"/>
                  </a:cubicBezTo>
                  <a:cubicBezTo>
                    <a:pt x="1379793" y="1078214"/>
                    <a:pt x="1451896" y="1084769"/>
                    <a:pt x="1504335" y="1106072"/>
                  </a:cubicBezTo>
                  <a:cubicBezTo>
                    <a:pt x="1556774" y="1127375"/>
                    <a:pt x="1635431" y="1142124"/>
                    <a:pt x="1671483" y="1125737"/>
                  </a:cubicBezTo>
                  <a:cubicBezTo>
                    <a:pt x="1707535" y="1109350"/>
                    <a:pt x="1704258" y="1032331"/>
                    <a:pt x="1720645" y="1007750"/>
                  </a:cubicBezTo>
                  <a:cubicBezTo>
                    <a:pt x="1737032" y="983169"/>
                    <a:pt x="1730477" y="965143"/>
                    <a:pt x="1769806" y="978253"/>
                  </a:cubicBezTo>
                  <a:cubicBezTo>
                    <a:pt x="1809135" y="991363"/>
                    <a:pt x="1897626" y="1076576"/>
                    <a:pt x="1956619" y="1086408"/>
                  </a:cubicBezTo>
                  <a:cubicBezTo>
                    <a:pt x="2015612" y="1096240"/>
                    <a:pt x="2086077" y="1061827"/>
                    <a:pt x="2123767" y="1037246"/>
                  </a:cubicBezTo>
                  <a:cubicBezTo>
                    <a:pt x="2161457" y="1012665"/>
                    <a:pt x="2159819" y="940563"/>
                    <a:pt x="2182761" y="938924"/>
                  </a:cubicBezTo>
                  <a:cubicBezTo>
                    <a:pt x="2205703" y="937285"/>
                    <a:pt x="2233561" y="997917"/>
                    <a:pt x="2261419" y="1027414"/>
                  </a:cubicBezTo>
                  <a:cubicBezTo>
                    <a:pt x="2289277" y="1056911"/>
                    <a:pt x="2323690" y="1114265"/>
                    <a:pt x="2349909" y="1115904"/>
                  </a:cubicBezTo>
                  <a:cubicBezTo>
                    <a:pt x="2376128" y="1117543"/>
                    <a:pt x="2395793" y="1050356"/>
                    <a:pt x="2418735" y="1037246"/>
                  </a:cubicBezTo>
                  <a:cubicBezTo>
                    <a:pt x="2441677" y="1024136"/>
                    <a:pt x="2464619" y="1030691"/>
                    <a:pt x="2487561" y="103724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811BF0-3B40-13DA-A763-585690D15FD7}"/>
              </a:ext>
            </a:extLst>
          </p:cNvPr>
          <p:cNvGrpSpPr/>
          <p:nvPr/>
        </p:nvGrpSpPr>
        <p:grpSpPr>
          <a:xfrm rot="11759409">
            <a:off x="3096846" y="3302753"/>
            <a:ext cx="2765024" cy="1214294"/>
            <a:chOff x="5848928" y="3525061"/>
            <a:chExt cx="2765024" cy="12142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2C26D9A-0BB2-BB9E-7002-3F9FA0CF1AF5}"/>
                </a:ext>
              </a:extLst>
            </p:cNvPr>
            <p:cNvCxnSpPr/>
            <p:nvPr/>
          </p:nvCxnSpPr>
          <p:spPr>
            <a:xfrm>
              <a:off x="5848928" y="4541897"/>
              <a:ext cx="2765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D5FD79F-1BA2-EEB1-44AB-00B63474FA7D}"/>
                </a:ext>
              </a:extLst>
            </p:cNvPr>
            <p:cNvSpPr/>
            <p:nvPr/>
          </p:nvSpPr>
          <p:spPr>
            <a:xfrm>
              <a:off x="6037006" y="3525061"/>
              <a:ext cx="2399071" cy="1214294"/>
            </a:xfrm>
            <a:custGeom>
              <a:avLst/>
              <a:gdLst>
                <a:gd name="connsiteX0" fmla="*/ 0 w 2399071"/>
                <a:gd name="connsiteY0" fmla="*/ 987945 h 1214294"/>
                <a:gd name="connsiteX1" fmla="*/ 206478 w 2399071"/>
                <a:gd name="connsiteY1" fmla="*/ 889623 h 1214294"/>
                <a:gd name="connsiteX2" fmla="*/ 363794 w 2399071"/>
                <a:gd name="connsiteY2" fmla="*/ 1046939 h 1214294"/>
                <a:gd name="connsiteX3" fmla="*/ 452284 w 2399071"/>
                <a:gd name="connsiteY3" fmla="*/ 899455 h 1214294"/>
                <a:gd name="connsiteX4" fmla="*/ 580104 w 2399071"/>
                <a:gd name="connsiteY4" fmla="*/ 1017442 h 1214294"/>
                <a:gd name="connsiteX5" fmla="*/ 707923 w 2399071"/>
                <a:gd name="connsiteY5" fmla="*/ 1214087 h 1214294"/>
                <a:gd name="connsiteX6" fmla="*/ 825910 w 2399071"/>
                <a:gd name="connsiteY6" fmla="*/ 978113 h 1214294"/>
                <a:gd name="connsiteX7" fmla="*/ 904568 w 2399071"/>
                <a:gd name="connsiteY7" fmla="*/ 712642 h 1214294"/>
                <a:gd name="connsiteX8" fmla="*/ 1052052 w 2399071"/>
                <a:gd name="connsiteY8" fmla="*/ 171868 h 1214294"/>
                <a:gd name="connsiteX9" fmla="*/ 1140542 w 2399071"/>
                <a:gd name="connsiteY9" fmla="*/ 4720 h 1214294"/>
                <a:gd name="connsiteX10" fmla="*/ 1248697 w 2399071"/>
                <a:gd name="connsiteY10" fmla="*/ 319352 h 1214294"/>
                <a:gd name="connsiteX11" fmla="*/ 1288026 w 2399071"/>
                <a:gd name="connsiteY11" fmla="*/ 722474 h 1214294"/>
                <a:gd name="connsiteX12" fmla="*/ 1376517 w 2399071"/>
                <a:gd name="connsiteY12" fmla="*/ 1007610 h 1214294"/>
                <a:gd name="connsiteX13" fmla="*/ 1435510 w 2399071"/>
                <a:gd name="connsiteY13" fmla="*/ 1066604 h 1214294"/>
                <a:gd name="connsiteX14" fmla="*/ 1533833 w 2399071"/>
                <a:gd name="connsiteY14" fmla="*/ 978113 h 1214294"/>
                <a:gd name="connsiteX15" fmla="*/ 1799304 w 2399071"/>
                <a:gd name="connsiteY15" fmla="*/ 1086268 h 1214294"/>
                <a:gd name="connsiteX16" fmla="*/ 1897626 w 2399071"/>
                <a:gd name="connsiteY16" fmla="*/ 958449 h 1214294"/>
                <a:gd name="connsiteX17" fmla="*/ 2035278 w 2399071"/>
                <a:gd name="connsiteY17" fmla="*/ 1096100 h 1214294"/>
                <a:gd name="connsiteX18" fmla="*/ 2251588 w 2399071"/>
                <a:gd name="connsiteY18" fmla="*/ 928952 h 1214294"/>
                <a:gd name="connsiteX19" fmla="*/ 2399071 w 2399071"/>
                <a:gd name="connsiteY19" fmla="*/ 1066604 h 121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99071" h="1214294">
                  <a:moveTo>
                    <a:pt x="0" y="987945"/>
                  </a:moveTo>
                  <a:cubicBezTo>
                    <a:pt x="72923" y="933868"/>
                    <a:pt x="145846" y="879791"/>
                    <a:pt x="206478" y="889623"/>
                  </a:cubicBezTo>
                  <a:cubicBezTo>
                    <a:pt x="267110" y="899455"/>
                    <a:pt x="322826" y="1045300"/>
                    <a:pt x="363794" y="1046939"/>
                  </a:cubicBezTo>
                  <a:cubicBezTo>
                    <a:pt x="404762" y="1048578"/>
                    <a:pt x="416232" y="904371"/>
                    <a:pt x="452284" y="899455"/>
                  </a:cubicBezTo>
                  <a:cubicBezTo>
                    <a:pt x="488336" y="894539"/>
                    <a:pt x="537497" y="965003"/>
                    <a:pt x="580104" y="1017442"/>
                  </a:cubicBezTo>
                  <a:cubicBezTo>
                    <a:pt x="622711" y="1069881"/>
                    <a:pt x="666955" y="1220642"/>
                    <a:pt x="707923" y="1214087"/>
                  </a:cubicBezTo>
                  <a:cubicBezTo>
                    <a:pt x="748891" y="1207532"/>
                    <a:pt x="793136" y="1061687"/>
                    <a:pt x="825910" y="978113"/>
                  </a:cubicBezTo>
                  <a:cubicBezTo>
                    <a:pt x="858684" y="894539"/>
                    <a:pt x="866878" y="847016"/>
                    <a:pt x="904568" y="712642"/>
                  </a:cubicBezTo>
                  <a:cubicBezTo>
                    <a:pt x="942258" y="578268"/>
                    <a:pt x="1012723" y="289855"/>
                    <a:pt x="1052052" y="171868"/>
                  </a:cubicBezTo>
                  <a:cubicBezTo>
                    <a:pt x="1091381" y="53881"/>
                    <a:pt x="1107768" y="-19861"/>
                    <a:pt x="1140542" y="4720"/>
                  </a:cubicBezTo>
                  <a:cubicBezTo>
                    <a:pt x="1173316" y="29301"/>
                    <a:pt x="1224116" y="199726"/>
                    <a:pt x="1248697" y="319352"/>
                  </a:cubicBezTo>
                  <a:cubicBezTo>
                    <a:pt x="1273278" y="438978"/>
                    <a:pt x="1266723" y="607764"/>
                    <a:pt x="1288026" y="722474"/>
                  </a:cubicBezTo>
                  <a:cubicBezTo>
                    <a:pt x="1309329" y="837184"/>
                    <a:pt x="1351936" y="950255"/>
                    <a:pt x="1376517" y="1007610"/>
                  </a:cubicBezTo>
                  <a:cubicBezTo>
                    <a:pt x="1401098" y="1064965"/>
                    <a:pt x="1409291" y="1071520"/>
                    <a:pt x="1435510" y="1066604"/>
                  </a:cubicBezTo>
                  <a:cubicBezTo>
                    <a:pt x="1461729" y="1061688"/>
                    <a:pt x="1473201" y="974836"/>
                    <a:pt x="1533833" y="978113"/>
                  </a:cubicBezTo>
                  <a:cubicBezTo>
                    <a:pt x="1594465" y="981390"/>
                    <a:pt x="1738672" y="1089545"/>
                    <a:pt x="1799304" y="1086268"/>
                  </a:cubicBezTo>
                  <a:cubicBezTo>
                    <a:pt x="1859936" y="1082991"/>
                    <a:pt x="1858297" y="956810"/>
                    <a:pt x="1897626" y="958449"/>
                  </a:cubicBezTo>
                  <a:cubicBezTo>
                    <a:pt x="1936955" y="960088"/>
                    <a:pt x="1976284" y="1101016"/>
                    <a:pt x="2035278" y="1096100"/>
                  </a:cubicBezTo>
                  <a:cubicBezTo>
                    <a:pt x="2094272" y="1091184"/>
                    <a:pt x="2190956" y="933868"/>
                    <a:pt x="2251588" y="928952"/>
                  </a:cubicBezTo>
                  <a:cubicBezTo>
                    <a:pt x="2312220" y="924036"/>
                    <a:pt x="2355645" y="995320"/>
                    <a:pt x="2399071" y="106660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B3FC59-1893-93E7-66F4-12774A07E0A6}"/>
              </a:ext>
            </a:extLst>
          </p:cNvPr>
          <p:cNvGrpSpPr/>
          <p:nvPr/>
        </p:nvGrpSpPr>
        <p:grpSpPr>
          <a:xfrm rot="10800000">
            <a:off x="3471357" y="3424924"/>
            <a:ext cx="2428717" cy="1277676"/>
            <a:chOff x="6037006" y="4928800"/>
            <a:chExt cx="2428717" cy="127767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6E565F-A66F-A17F-79CD-DB09D3816FDD}"/>
                </a:ext>
              </a:extLst>
            </p:cNvPr>
            <p:cNvCxnSpPr/>
            <p:nvPr/>
          </p:nvCxnSpPr>
          <p:spPr>
            <a:xfrm>
              <a:off x="6037006" y="6096000"/>
              <a:ext cx="24287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DA494DE-693C-635C-9E85-492B8DBC8876}"/>
                </a:ext>
              </a:extLst>
            </p:cNvPr>
            <p:cNvSpPr/>
            <p:nvPr/>
          </p:nvSpPr>
          <p:spPr>
            <a:xfrm>
              <a:off x="6302477" y="4928800"/>
              <a:ext cx="2084439" cy="1277676"/>
            </a:xfrm>
            <a:custGeom>
              <a:avLst/>
              <a:gdLst>
                <a:gd name="connsiteX0" fmla="*/ 0 w 2084439"/>
                <a:gd name="connsiteY0" fmla="*/ 1108206 h 1277676"/>
                <a:gd name="connsiteX1" fmla="*/ 353962 w 2084439"/>
                <a:gd name="connsiteY1" fmla="*/ 1206529 h 1277676"/>
                <a:gd name="connsiteX2" fmla="*/ 452284 w 2084439"/>
                <a:gd name="connsiteY2" fmla="*/ 1049213 h 1277676"/>
                <a:gd name="connsiteX3" fmla="*/ 560439 w 2084439"/>
                <a:gd name="connsiteY3" fmla="*/ 1245858 h 1277676"/>
                <a:gd name="connsiteX4" fmla="*/ 698091 w 2084439"/>
                <a:gd name="connsiteY4" fmla="*/ 1167200 h 1277676"/>
                <a:gd name="connsiteX5" fmla="*/ 894736 w 2084439"/>
                <a:gd name="connsiteY5" fmla="*/ 665755 h 1277676"/>
                <a:gd name="connsiteX6" fmla="*/ 924233 w 2084439"/>
                <a:gd name="connsiteY6" fmla="*/ 144645 h 1277676"/>
                <a:gd name="connsiteX7" fmla="*/ 1022555 w 2084439"/>
                <a:gd name="connsiteY7" fmla="*/ 16826 h 1277676"/>
                <a:gd name="connsiteX8" fmla="*/ 1219200 w 2084439"/>
                <a:gd name="connsiteY8" fmla="*/ 449445 h 1277676"/>
                <a:gd name="connsiteX9" fmla="*/ 1268362 w 2084439"/>
                <a:gd name="connsiteY9" fmla="*/ 823071 h 1277676"/>
                <a:gd name="connsiteX10" fmla="*/ 1347020 w 2084439"/>
                <a:gd name="connsiteY10" fmla="*/ 1157368 h 1277676"/>
                <a:gd name="connsiteX11" fmla="*/ 1465007 w 2084439"/>
                <a:gd name="connsiteY11" fmla="*/ 1275355 h 1277676"/>
                <a:gd name="connsiteX12" fmla="*/ 1582994 w 2084439"/>
                <a:gd name="connsiteY12" fmla="*/ 1177032 h 1277676"/>
                <a:gd name="connsiteX13" fmla="*/ 1651820 w 2084439"/>
                <a:gd name="connsiteY13" fmla="*/ 1068877 h 1277676"/>
                <a:gd name="connsiteX14" fmla="*/ 1769807 w 2084439"/>
                <a:gd name="connsiteY14" fmla="*/ 1196697 h 1277676"/>
                <a:gd name="connsiteX15" fmla="*/ 1897626 w 2084439"/>
                <a:gd name="connsiteY15" fmla="*/ 1275355 h 1277676"/>
                <a:gd name="connsiteX16" fmla="*/ 1995949 w 2084439"/>
                <a:gd name="connsiteY16" fmla="*/ 1108206 h 1277676"/>
                <a:gd name="connsiteX17" fmla="*/ 2084439 w 2084439"/>
                <a:gd name="connsiteY17" fmla="*/ 1147535 h 127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4439" h="1277676">
                  <a:moveTo>
                    <a:pt x="0" y="1108206"/>
                  </a:moveTo>
                  <a:cubicBezTo>
                    <a:pt x="139290" y="1162283"/>
                    <a:pt x="278581" y="1216361"/>
                    <a:pt x="353962" y="1206529"/>
                  </a:cubicBezTo>
                  <a:cubicBezTo>
                    <a:pt x="429343" y="1196697"/>
                    <a:pt x="417871" y="1042658"/>
                    <a:pt x="452284" y="1049213"/>
                  </a:cubicBezTo>
                  <a:cubicBezTo>
                    <a:pt x="486697" y="1055768"/>
                    <a:pt x="519471" y="1226193"/>
                    <a:pt x="560439" y="1245858"/>
                  </a:cubicBezTo>
                  <a:cubicBezTo>
                    <a:pt x="601407" y="1265523"/>
                    <a:pt x="642375" y="1263884"/>
                    <a:pt x="698091" y="1167200"/>
                  </a:cubicBezTo>
                  <a:cubicBezTo>
                    <a:pt x="753807" y="1070516"/>
                    <a:pt x="857046" y="836181"/>
                    <a:pt x="894736" y="665755"/>
                  </a:cubicBezTo>
                  <a:cubicBezTo>
                    <a:pt x="932426" y="495329"/>
                    <a:pt x="902930" y="252800"/>
                    <a:pt x="924233" y="144645"/>
                  </a:cubicBezTo>
                  <a:cubicBezTo>
                    <a:pt x="945536" y="36490"/>
                    <a:pt x="973394" y="-33974"/>
                    <a:pt x="1022555" y="16826"/>
                  </a:cubicBezTo>
                  <a:cubicBezTo>
                    <a:pt x="1071716" y="67626"/>
                    <a:pt x="1178232" y="315071"/>
                    <a:pt x="1219200" y="449445"/>
                  </a:cubicBezTo>
                  <a:cubicBezTo>
                    <a:pt x="1260168" y="583819"/>
                    <a:pt x="1247059" y="705084"/>
                    <a:pt x="1268362" y="823071"/>
                  </a:cubicBezTo>
                  <a:cubicBezTo>
                    <a:pt x="1289665" y="941058"/>
                    <a:pt x="1314246" y="1081987"/>
                    <a:pt x="1347020" y="1157368"/>
                  </a:cubicBezTo>
                  <a:cubicBezTo>
                    <a:pt x="1379794" y="1232749"/>
                    <a:pt x="1425678" y="1272078"/>
                    <a:pt x="1465007" y="1275355"/>
                  </a:cubicBezTo>
                  <a:cubicBezTo>
                    <a:pt x="1504336" y="1278632"/>
                    <a:pt x="1551859" y="1211445"/>
                    <a:pt x="1582994" y="1177032"/>
                  </a:cubicBezTo>
                  <a:cubicBezTo>
                    <a:pt x="1614130" y="1142619"/>
                    <a:pt x="1620685" y="1065600"/>
                    <a:pt x="1651820" y="1068877"/>
                  </a:cubicBezTo>
                  <a:cubicBezTo>
                    <a:pt x="1682955" y="1072154"/>
                    <a:pt x="1728839" y="1162284"/>
                    <a:pt x="1769807" y="1196697"/>
                  </a:cubicBezTo>
                  <a:cubicBezTo>
                    <a:pt x="1810775" y="1231110"/>
                    <a:pt x="1859936" y="1290103"/>
                    <a:pt x="1897626" y="1275355"/>
                  </a:cubicBezTo>
                  <a:cubicBezTo>
                    <a:pt x="1935316" y="1260607"/>
                    <a:pt x="1964814" y="1129509"/>
                    <a:pt x="1995949" y="1108206"/>
                  </a:cubicBezTo>
                  <a:cubicBezTo>
                    <a:pt x="2027085" y="1086903"/>
                    <a:pt x="2055762" y="1117219"/>
                    <a:pt x="2084439" y="11475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73529319-A344-3B9A-D91E-1515F96A7DAF}"/>
              </a:ext>
            </a:extLst>
          </p:cNvPr>
          <p:cNvSpPr txBox="1">
            <a:spLocks/>
          </p:cNvSpPr>
          <p:nvPr/>
        </p:nvSpPr>
        <p:spPr>
          <a:xfrm>
            <a:off x="3009136" y="177996"/>
            <a:ext cx="3027870" cy="6397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rgbClr val="660066"/>
                </a:solidFill>
              </a:rPr>
              <a:t>Step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4CB1B-19A9-C716-B12F-4979DE930F19}"/>
              </a:ext>
            </a:extLst>
          </p:cNvPr>
          <p:cNvSpPr txBox="1"/>
          <p:nvPr/>
        </p:nvSpPr>
        <p:spPr>
          <a:xfrm>
            <a:off x="304800" y="1059801"/>
            <a:ext cx="3686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Stack the Fourier transforms properly</a:t>
            </a:r>
          </a:p>
        </p:txBody>
      </p:sp>
    </p:spTree>
    <p:extLst>
      <p:ext uri="{BB962C8B-B14F-4D97-AF65-F5344CB8AC3E}">
        <p14:creationId xmlns:p14="http://schemas.microsoft.com/office/powerpoint/2010/main" val="335628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32DA-F134-EAB1-D530-432B66D2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65B72-A54D-6DB2-C739-FF95A53A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57D52-C9EA-7F28-8138-424AABCE9370}"/>
              </a:ext>
            </a:extLst>
          </p:cNvPr>
          <p:cNvSpPr/>
          <p:nvPr/>
        </p:nvSpPr>
        <p:spPr>
          <a:xfrm>
            <a:off x="533400" y="2362200"/>
            <a:ext cx="2819400" cy="2514600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85A361-ACE2-4E7F-1747-27FCB5566B1C}"/>
              </a:ext>
            </a:extLst>
          </p:cNvPr>
          <p:cNvGrpSpPr/>
          <p:nvPr/>
        </p:nvGrpSpPr>
        <p:grpSpPr>
          <a:xfrm rot="16200000">
            <a:off x="757538" y="3281891"/>
            <a:ext cx="2137316" cy="955580"/>
            <a:chOff x="5600663" y="337350"/>
            <a:chExt cx="2784987" cy="13429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57B39F2-176B-4769-BCFF-4E2AB73F6D34}"/>
                </a:ext>
              </a:extLst>
            </p:cNvPr>
            <p:cNvCxnSpPr/>
            <p:nvPr/>
          </p:nvCxnSpPr>
          <p:spPr>
            <a:xfrm>
              <a:off x="5600663" y="1535979"/>
              <a:ext cx="2667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DF56E95-01A7-6FC3-2608-955E5A0C2C8B}"/>
                </a:ext>
              </a:extLst>
            </p:cNvPr>
            <p:cNvSpPr/>
            <p:nvPr/>
          </p:nvSpPr>
          <p:spPr>
            <a:xfrm>
              <a:off x="5848928" y="337350"/>
              <a:ext cx="2536722" cy="1342974"/>
            </a:xfrm>
            <a:custGeom>
              <a:avLst/>
              <a:gdLst>
                <a:gd name="connsiteX0" fmla="*/ 0 w 2536722"/>
                <a:gd name="connsiteY0" fmla="*/ 1213377 h 1342974"/>
                <a:gd name="connsiteX1" fmla="*/ 68825 w 2536722"/>
                <a:gd name="connsiteY1" fmla="*/ 1105223 h 1342974"/>
                <a:gd name="connsiteX2" fmla="*/ 206477 w 2536722"/>
                <a:gd name="connsiteY2" fmla="*/ 1183881 h 1342974"/>
                <a:gd name="connsiteX3" fmla="*/ 363793 w 2536722"/>
                <a:gd name="connsiteY3" fmla="*/ 1292035 h 1342974"/>
                <a:gd name="connsiteX4" fmla="*/ 471948 w 2536722"/>
                <a:gd name="connsiteY4" fmla="*/ 1164216 h 1342974"/>
                <a:gd name="connsiteX5" fmla="*/ 550606 w 2536722"/>
                <a:gd name="connsiteY5" fmla="*/ 1085558 h 1342974"/>
                <a:gd name="connsiteX6" fmla="*/ 688258 w 2536722"/>
                <a:gd name="connsiteY6" fmla="*/ 1174048 h 1342974"/>
                <a:gd name="connsiteX7" fmla="*/ 668593 w 2536722"/>
                <a:gd name="connsiteY7" fmla="*/ 1203545 h 1342974"/>
                <a:gd name="connsiteX8" fmla="*/ 806245 w 2536722"/>
                <a:gd name="connsiteY8" fmla="*/ 1124887 h 1342974"/>
                <a:gd name="connsiteX9" fmla="*/ 855406 w 2536722"/>
                <a:gd name="connsiteY9" fmla="*/ 1046229 h 1342974"/>
                <a:gd name="connsiteX10" fmla="*/ 1012722 w 2536722"/>
                <a:gd name="connsiteY10" fmla="*/ 1144552 h 1342974"/>
                <a:gd name="connsiteX11" fmla="*/ 1061883 w 2536722"/>
                <a:gd name="connsiteY11" fmla="*/ 1193713 h 1342974"/>
                <a:gd name="connsiteX12" fmla="*/ 1081548 w 2536722"/>
                <a:gd name="connsiteY12" fmla="*/ 1282203 h 1342974"/>
                <a:gd name="connsiteX13" fmla="*/ 1160206 w 2536722"/>
                <a:gd name="connsiteY13" fmla="*/ 1174048 h 1342974"/>
                <a:gd name="connsiteX14" fmla="*/ 1170038 w 2536722"/>
                <a:gd name="connsiteY14" fmla="*/ 888913 h 1342974"/>
                <a:gd name="connsiteX15" fmla="*/ 1170038 w 2536722"/>
                <a:gd name="connsiteY15" fmla="*/ 574281 h 1342974"/>
                <a:gd name="connsiteX16" fmla="*/ 1268361 w 2536722"/>
                <a:gd name="connsiteY16" fmla="*/ 82668 h 1342974"/>
                <a:gd name="connsiteX17" fmla="*/ 1288025 w 2536722"/>
                <a:gd name="connsiteY17" fmla="*/ 13842 h 1342974"/>
                <a:gd name="connsiteX18" fmla="*/ 1376516 w 2536722"/>
                <a:gd name="connsiteY18" fmla="*/ 230152 h 1342974"/>
                <a:gd name="connsiteX19" fmla="*/ 1376516 w 2536722"/>
                <a:gd name="connsiteY19" fmla="*/ 426797 h 1342974"/>
                <a:gd name="connsiteX20" fmla="*/ 1465006 w 2536722"/>
                <a:gd name="connsiteY20" fmla="*/ 731597 h 1342974"/>
                <a:gd name="connsiteX21" fmla="*/ 1484670 w 2536722"/>
                <a:gd name="connsiteY21" fmla="*/ 1006900 h 1342974"/>
                <a:gd name="connsiteX22" fmla="*/ 1543664 w 2536722"/>
                <a:gd name="connsiteY22" fmla="*/ 1282203 h 1342974"/>
                <a:gd name="connsiteX23" fmla="*/ 1641987 w 2536722"/>
                <a:gd name="connsiteY23" fmla="*/ 1341197 h 1342974"/>
                <a:gd name="connsiteX24" fmla="*/ 1710812 w 2536722"/>
                <a:gd name="connsiteY24" fmla="*/ 1242874 h 1342974"/>
                <a:gd name="connsiteX25" fmla="*/ 1789470 w 2536722"/>
                <a:gd name="connsiteY25" fmla="*/ 1164216 h 1342974"/>
                <a:gd name="connsiteX26" fmla="*/ 1897625 w 2536722"/>
                <a:gd name="connsiteY26" fmla="*/ 1154384 h 1342974"/>
                <a:gd name="connsiteX27" fmla="*/ 2035277 w 2536722"/>
                <a:gd name="connsiteY27" fmla="*/ 1262539 h 1342974"/>
                <a:gd name="connsiteX28" fmla="*/ 2192593 w 2536722"/>
                <a:gd name="connsiteY28" fmla="*/ 1124887 h 1342974"/>
                <a:gd name="connsiteX29" fmla="*/ 2300748 w 2536722"/>
                <a:gd name="connsiteY29" fmla="*/ 1242874 h 1342974"/>
                <a:gd name="connsiteX30" fmla="*/ 2428567 w 2536722"/>
                <a:gd name="connsiteY30" fmla="*/ 1164216 h 1342974"/>
                <a:gd name="connsiteX31" fmla="*/ 2536722 w 2536722"/>
                <a:gd name="connsiteY31" fmla="*/ 1164216 h 1342974"/>
                <a:gd name="connsiteX32" fmla="*/ 2536722 w 2536722"/>
                <a:gd name="connsiteY32" fmla="*/ 1164216 h 13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6722" h="1342974">
                  <a:moveTo>
                    <a:pt x="0" y="1213377"/>
                  </a:moveTo>
                  <a:cubicBezTo>
                    <a:pt x="17206" y="1161758"/>
                    <a:pt x="34412" y="1110139"/>
                    <a:pt x="68825" y="1105223"/>
                  </a:cubicBezTo>
                  <a:cubicBezTo>
                    <a:pt x="103238" y="1100307"/>
                    <a:pt x="157316" y="1152746"/>
                    <a:pt x="206477" y="1183881"/>
                  </a:cubicBezTo>
                  <a:cubicBezTo>
                    <a:pt x="255638" y="1215016"/>
                    <a:pt x="319548" y="1295313"/>
                    <a:pt x="363793" y="1292035"/>
                  </a:cubicBezTo>
                  <a:cubicBezTo>
                    <a:pt x="408038" y="1288758"/>
                    <a:pt x="440813" y="1198629"/>
                    <a:pt x="471948" y="1164216"/>
                  </a:cubicBezTo>
                  <a:cubicBezTo>
                    <a:pt x="503084" y="1129803"/>
                    <a:pt x="514554" y="1083919"/>
                    <a:pt x="550606" y="1085558"/>
                  </a:cubicBezTo>
                  <a:cubicBezTo>
                    <a:pt x="586658" y="1087197"/>
                    <a:pt x="688258" y="1174048"/>
                    <a:pt x="688258" y="1174048"/>
                  </a:cubicBezTo>
                  <a:cubicBezTo>
                    <a:pt x="707922" y="1193712"/>
                    <a:pt x="648928" y="1211739"/>
                    <a:pt x="668593" y="1203545"/>
                  </a:cubicBezTo>
                  <a:cubicBezTo>
                    <a:pt x="688258" y="1195351"/>
                    <a:pt x="775109" y="1151106"/>
                    <a:pt x="806245" y="1124887"/>
                  </a:cubicBezTo>
                  <a:cubicBezTo>
                    <a:pt x="837381" y="1098668"/>
                    <a:pt x="820993" y="1042951"/>
                    <a:pt x="855406" y="1046229"/>
                  </a:cubicBezTo>
                  <a:cubicBezTo>
                    <a:pt x="889819" y="1049507"/>
                    <a:pt x="978309" y="1119971"/>
                    <a:pt x="1012722" y="1144552"/>
                  </a:cubicBezTo>
                  <a:cubicBezTo>
                    <a:pt x="1047135" y="1169133"/>
                    <a:pt x="1050412" y="1170771"/>
                    <a:pt x="1061883" y="1193713"/>
                  </a:cubicBezTo>
                  <a:cubicBezTo>
                    <a:pt x="1073354" y="1216655"/>
                    <a:pt x="1065161" y="1285481"/>
                    <a:pt x="1081548" y="1282203"/>
                  </a:cubicBezTo>
                  <a:cubicBezTo>
                    <a:pt x="1097935" y="1278926"/>
                    <a:pt x="1145458" y="1239596"/>
                    <a:pt x="1160206" y="1174048"/>
                  </a:cubicBezTo>
                  <a:cubicBezTo>
                    <a:pt x="1174954" y="1108500"/>
                    <a:pt x="1168399" y="988874"/>
                    <a:pt x="1170038" y="888913"/>
                  </a:cubicBezTo>
                  <a:cubicBezTo>
                    <a:pt x="1171677" y="788952"/>
                    <a:pt x="1153651" y="708655"/>
                    <a:pt x="1170038" y="574281"/>
                  </a:cubicBezTo>
                  <a:cubicBezTo>
                    <a:pt x="1186425" y="439907"/>
                    <a:pt x="1248697" y="176074"/>
                    <a:pt x="1268361" y="82668"/>
                  </a:cubicBezTo>
                  <a:cubicBezTo>
                    <a:pt x="1288025" y="-10738"/>
                    <a:pt x="1269999" y="-10739"/>
                    <a:pt x="1288025" y="13842"/>
                  </a:cubicBezTo>
                  <a:cubicBezTo>
                    <a:pt x="1306051" y="38423"/>
                    <a:pt x="1361768" y="161326"/>
                    <a:pt x="1376516" y="230152"/>
                  </a:cubicBezTo>
                  <a:cubicBezTo>
                    <a:pt x="1391264" y="298978"/>
                    <a:pt x="1361768" y="343223"/>
                    <a:pt x="1376516" y="426797"/>
                  </a:cubicBezTo>
                  <a:cubicBezTo>
                    <a:pt x="1391264" y="510371"/>
                    <a:pt x="1446980" y="634913"/>
                    <a:pt x="1465006" y="731597"/>
                  </a:cubicBezTo>
                  <a:cubicBezTo>
                    <a:pt x="1483032" y="828281"/>
                    <a:pt x="1471560" y="915132"/>
                    <a:pt x="1484670" y="1006900"/>
                  </a:cubicBezTo>
                  <a:cubicBezTo>
                    <a:pt x="1497780" y="1098668"/>
                    <a:pt x="1517444" y="1226487"/>
                    <a:pt x="1543664" y="1282203"/>
                  </a:cubicBezTo>
                  <a:cubicBezTo>
                    <a:pt x="1569884" y="1337919"/>
                    <a:pt x="1614129" y="1347752"/>
                    <a:pt x="1641987" y="1341197"/>
                  </a:cubicBezTo>
                  <a:cubicBezTo>
                    <a:pt x="1669845" y="1334642"/>
                    <a:pt x="1686232" y="1272371"/>
                    <a:pt x="1710812" y="1242874"/>
                  </a:cubicBezTo>
                  <a:cubicBezTo>
                    <a:pt x="1735392" y="1213377"/>
                    <a:pt x="1758335" y="1178964"/>
                    <a:pt x="1789470" y="1164216"/>
                  </a:cubicBezTo>
                  <a:cubicBezTo>
                    <a:pt x="1820606" y="1149468"/>
                    <a:pt x="1856657" y="1137997"/>
                    <a:pt x="1897625" y="1154384"/>
                  </a:cubicBezTo>
                  <a:cubicBezTo>
                    <a:pt x="1938593" y="1170771"/>
                    <a:pt x="1986116" y="1267455"/>
                    <a:pt x="2035277" y="1262539"/>
                  </a:cubicBezTo>
                  <a:cubicBezTo>
                    <a:pt x="2084438" y="1257623"/>
                    <a:pt x="2148348" y="1128164"/>
                    <a:pt x="2192593" y="1124887"/>
                  </a:cubicBezTo>
                  <a:cubicBezTo>
                    <a:pt x="2236838" y="1121609"/>
                    <a:pt x="2261419" y="1236319"/>
                    <a:pt x="2300748" y="1242874"/>
                  </a:cubicBezTo>
                  <a:cubicBezTo>
                    <a:pt x="2340077" y="1249429"/>
                    <a:pt x="2389238" y="1177326"/>
                    <a:pt x="2428567" y="1164216"/>
                  </a:cubicBezTo>
                  <a:cubicBezTo>
                    <a:pt x="2467896" y="1151106"/>
                    <a:pt x="2536722" y="1164216"/>
                    <a:pt x="2536722" y="1164216"/>
                  </a:cubicBezTo>
                  <a:lnTo>
                    <a:pt x="2536722" y="116421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549A037-7854-54C9-5A2C-46001D651BCB}"/>
              </a:ext>
            </a:extLst>
          </p:cNvPr>
          <p:cNvGrpSpPr/>
          <p:nvPr/>
        </p:nvGrpSpPr>
        <p:grpSpPr>
          <a:xfrm rot="12621481">
            <a:off x="758012" y="3596297"/>
            <a:ext cx="2106905" cy="873088"/>
            <a:chOff x="5698127" y="1922038"/>
            <a:chExt cx="2961056" cy="113766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8A1470D-C84A-3758-1434-1B1EE5A70E66}"/>
                </a:ext>
              </a:extLst>
            </p:cNvPr>
            <p:cNvCxnSpPr>
              <a:cxnSpLocks/>
            </p:cNvCxnSpPr>
            <p:nvPr/>
          </p:nvCxnSpPr>
          <p:spPr>
            <a:xfrm>
              <a:off x="5698127" y="2981407"/>
              <a:ext cx="29610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A88BA17-84D5-7A33-C12E-929E16486915}"/>
                </a:ext>
              </a:extLst>
            </p:cNvPr>
            <p:cNvSpPr/>
            <p:nvPr/>
          </p:nvSpPr>
          <p:spPr>
            <a:xfrm>
              <a:off x="5926429" y="1922038"/>
              <a:ext cx="2487561" cy="1137660"/>
            </a:xfrm>
            <a:custGeom>
              <a:avLst/>
              <a:gdLst>
                <a:gd name="connsiteX0" fmla="*/ 0 w 2487561"/>
                <a:gd name="connsiteY0" fmla="*/ 1047079 h 1137660"/>
                <a:gd name="connsiteX1" fmla="*/ 245806 w 2487561"/>
                <a:gd name="connsiteY1" fmla="*/ 1135569 h 1137660"/>
                <a:gd name="connsiteX2" fmla="*/ 304800 w 2487561"/>
                <a:gd name="connsiteY2" fmla="*/ 968421 h 1137660"/>
                <a:gd name="connsiteX3" fmla="*/ 393290 w 2487561"/>
                <a:gd name="connsiteY3" fmla="*/ 988085 h 1137660"/>
                <a:gd name="connsiteX4" fmla="*/ 462116 w 2487561"/>
                <a:gd name="connsiteY4" fmla="*/ 1115904 h 1137660"/>
                <a:gd name="connsiteX5" fmla="*/ 668593 w 2487561"/>
                <a:gd name="connsiteY5" fmla="*/ 1017582 h 1137660"/>
                <a:gd name="connsiteX6" fmla="*/ 717754 w 2487561"/>
                <a:gd name="connsiteY6" fmla="*/ 938924 h 1137660"/>
                <a:gd name="connsiteX7" fmla="*/ 924232 w 2487561"/>
                <a:gd name="connsiteY7" fmla="*/ 1027414 h 1137660"/>
                <a:gd name="connsiteX8" fmla="*/ 934064 w 2487561"/>
                <a:gd name="connsiteY8" fmla="*/ 1135569 h 1137660"/>
                <a:gd name="connsiteX9" fmla="*/ 1061883 w 2487561"/>
                <a:gd name="connsiteY9" fmla="*/ 1047079 h 1137660"/>
                <a:gd name="connsiteX10" fmla="*/ 1091380 w 2487561"/>
                <a:gd name="connsiteY10" fmla="*/ 732446 h 1137660"/>
                <a:gd name="connsiteX11" fmla="*/ 1150374 w 2487561"/>
                <a:gd name="connsiteY11" fmla="*/ 417814 h 1137660"/>
                <a:gd name="connsiteX12" fmla="*/ 1179871 w 2487561"/>
                <a:gd name="connsiteY12" fmla="*/ 132679 h 1137660"/>
                <a:gd name="connsiteX13" fmla="*/ 1238864 w 2487561"/>
                <a:gd name="connsiteY13" fmla="*/ 4859 h 1137660"/>
                <a:gd name="connsiteX14" fmla="*/ 1317522 w 2487561"/>
                <a:gd name="connsiteY14" fmla="*/ 289995 h 1137660"/>
                <a:gd name="connsiteX15" fmla="*/ 1366683 w 2487561"/>
                <a:gd name="connsiteY15" fmla="*/ 624292 h 1137660"/>
                <a:gd name="connsiteX16" fmla="*/ 1356851 w 2487561"/>
                <a:gd name="connsiteY16" fmla="*/ 997917 h 1137660"/>
                <a:gd name="connsiteX17" fmla="*/ 1504335 w 2487561"/>
                <a:gd name="connsiteY17" fmla="*/ 1106072 h 1137660"/>
                <a:gd name="connsiteX18" fmla="*/ 1671483 w 2487561"/>
                <a:gd name="connsiteY18" fmla="*/ 1125737 h 1137660"/>
                <a:gd name="connsiteX19" fmla="*/ 1720645 w 2487561"/>
                <a:gd name="connsiteY19" fmla="*/ 1007750 h 1137660"/>
                <a:gd name="connsiteX20" fmla="*/ 1769806 w 2487561"/>
                <a:gd name="connsiteY20" fmla="*/ 978253 h 1137660"/>
                <a:gd name="connsiteX21" fmla="*/ 1956619 w 2487561"/>
                <a:gd name="connsiteY21" fmla="*/ 1086408 h 1137660"/>
                <a:gd name="connsiteX22" fmla="*/ 2123767 w 2487561"/>
                <a:gd name="connsiteY22" fmla="*/ 1037246 h 1137660"/>
                <a:gd name="connsiteX23" fmla="*/ 2182761 w 2487561"/>
                <a:gd name="connsiteY23" fmla="*/ 938924 h 1137660"/>
                <a:gd name="connsiteX24" fmla="*/ 2261419 w 2487561"/>
                <a:gd name="connsiteY24" fmla="*/ 1027414 h 1137660"/>
                <a:gd name="connsiteX25" fmla="*/ 2349909 w 2487561"/>
                <a:gd name="connsiteY25" fmla="*/ 1115904 h 1137660"/>
                <a:gd name="connsiteX26" fmla="*/ 2418735 w 2487561"/>
                <a:gd name="connsiteY26" fmla="*/ 1037246 h 1137660"/>
                <a:gd name="connsiteX27" fmla="*/ 2487561 w 2487561"/>
                <a:gd name="connsiteY27" fmla="*/ 1037246 h 113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87561" h="1137660">
                  <a:moveTo>
                    <a:pt x="0" y="1047079"/>
                  </a:moveTo>
                  <a:cubicBezTo>
                    <a:pt x="97503" y="1097879"/>
                    <a:pt x="195006" y="1148679"/>
                    <a:pt x="245806" y="1135569"/>
                  </a:cubicBezTo>
                  <a:cubicBezTo>
                    <a:pt x="296606" y="1122459"/>
                    <a:pt x="280219" y="993002"/>
                    <a:pt x="304800" y="968421"/>
                  </a:cubicBezTo>
                  <a:cubicBezTo>
                    <a:pt x="329381" y="943840"/>
                    <a:pt x="367071" y="963505"/>
                    <a:pt x="393290" y="988085"/>
                  </a:cubicBezTo>
                  <a:cubicBezTo>
                    <a:pt x="419509" y="1012665"/>
                    <a:pt x="416232" y="1110988"/>
                    <a:pt x="462116" y="1115904"/>
                  </a:cubicBezTo>
                  <a:cubicBezTo>
                    <a:pt x="508000" y="1120820"/>
                    <a:pt x="625987" y="1047079"/>
                    <a:pt x="668593" y="1017582"/>
                  </a:cubicBezTo>
                  <a:cubicBezTo>
                    <a:pt x="711199" y="988085"/>
                    <a:pt x="675148" y="937285"/>
                    <a:pt x="717754" y="938924"/>
                  </a:cubicBezTo>
                  <a:cubicBezTo>
                    <a:pt x="760360" y="940563"/>
                    <a:pt x="888180" y="994640"/>
                    <a:pt x="924232" y="1027414"/>
                  </a:cubicBezTo>
                  <a:cubicBezTo>
                    <a:pt x="960284" y="1060188"/>
                    <a:pt x="911122" y="1132292"/>
                    <a:pt x="934064" y="1135569"/>
                  </a:cubicBezTo>
                  <a:cubicBezTo>
                    <a:pt x="957006" y="1138847"/>
                    <a:pt x="1035664" y="1114266"/>
                    <a:pt x="1061883" y="1047079"/>
                  </a:cubicBezTo>
                  <a:cubicBezTo>
                    <a:pt x="1088102" y="979892"/>
                    <a:pt x="1076632" y="837323"/>
                    <a:pt x="1091380" y="732446"/>
                  </a:cubicBezTo>
                  <a:cubicBezTo>
                    <a:pt x="1106128" y="627569"/>
                    <a:pt x="1135625" y="517775"/>
                    <a:pt x="1150374" y="417814"/>
                  </a:cubicBezTo>
                  <a:cubicBezTo>
                    <a:pt x="1165123" y="317853"/>
                    <a:pt x="1165123" y="201505"/>
                    <a:pt x="1179871" y="132679"/>
                  </a:cubicBezTo>
                  <a:cubicBezTo>
                    <a:pt x="1194619" y="63853"/>
                    <a:pt x="1215922" y="-21360"/>
                    <a:pt x="1238864" y="4859"/>
                  </a:cubicBezTo>
                  <a:cubicBezTo>
                    <a:pt x="1261806" y="31078"/>
                    <a:pt x="1296219" y="186756"/>
                    <a:pt x="1317522" y="289995"/>
                  </a:cubicBezTo>
                  <a:cubicBezTo>
                    <a:pt x="1338825" y="393234"/>
                    <a:pt x="1360128" y="506305"/>
                    <a:pt x="1366683" y="624292"/>
                  </a:cubicBezTo>
                  <a:cubicBezTo>
                    <a:pt x="1373238" y="742279"/>
                    <a:pt x="1333909" y="917620"/>
                    <a:pt x="1356851" y="997917"/>
                  </a:cubicBezTo>
                  <a:cubicBezTo>
                    <a:pt x="1379793" y="1078214"/>
                    <a:pt x="1451896" y="1084769"/>
                    <a:pt x="1504335" y="1106072"/>
                  </a:cubicBezTo>
                  <a:cubicBezTo>
                    <a:pt x="1556774" y="1127375"/>
                    <a:pt x="1635431" y="1142124"/>
                    <a:pt x="1671483" y="1125737"/>
                  </a:cubicBezTo>
                  <a:cubicBezTo>
                    <a:pt x="1707535" y="1109350"/>
                    <a:pt x="1704258" y="1032331"/>
                    <a:pt x="1720645" y="1007750"/>
                  </a:cubicBezTo>
                  <a:cubicBezTo>
                    <a:pt x="1737032" y="983169"/>
                    <a:pt x="1730477" y="965143"/>
                    <a:pt x="1769806" y="978253"/>
                  </a:cubicBezTo>
                  <a:cubicBezTo>
                    <a:pt x="1809135" y="991363"/>
                    <a:pt x="1897626" y="1076576"/>
                    <a:pt x="1956619" y="1086408"/>
                  </a:cubicBezTo>
                  <a:cubicBezTo>
                    <a:pt x="2015612" y="1096240"/>
                    <a:pt x="2086077" y="1061827"/>
                    <a:pt x="2123767" y="1037246"/>
                  </a:cubicBezTo>
                  <a:cubicBezTo>
                    <a:pt x="2161457" y="1012665"/>
                    <a:pt x="2159819" y="940563"/>
                    <a:pt x="2182761" y="938924"/>
                  </a:cubicBezTo>
                  <a:cubicBezTo>
                    <a:pt x="2205703" y="937285"/>
                    <a:pt x="2233561" y="997917"/>
                    <a:pt x="2261419" y="1027414"/>
                  </a:cubicBezTo>
                  <a:cubicBezTo>
                    <a:pt x="2289277" y="1056911"/>
                    <a:pt x="2323690" y="1114265"/>
                    <a:pt x="2349909" y="1115904"/>
                  </a:cubicBezTo>
                  <a:cubicBezTo>
                    <a:pt x="2376128" y="1117543"/>
                    <a:pt x="2395793" y="1050356"/>
                    <a:pt x="2418735" y="1037246"/>
                  </a:cubicBezTo>
                  <a:cubicBezTo>
                    <a:pt x="2441677" y="1024136"/>
                    <a:pt x="2464619" y="1030691"/>
                    <a:pt x="2487561" y="103724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91C479-A59A-306A-DE7F-9CB3BCD69B64}"/>
              </a:ext>
            </a:extLst>
          </p:cNvPr>
          <p:cNvGrpSpPr/>
          <p:nvPr/>
        </p:nvGrpSpPr>
        <p:grpSpPr>
          <a:xfrm rot="11759409">
            <a:off x="941372" y="3655558"/>
            <a:ext cx="1967421" cy="931900"/>
            <a:chOff x="5848928" y="3525061"/>
            <a:chExt cx="2765024" cy="12142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78C16FE-490A-86E3-B7FD-440336111BC9}"/>
                </a:ext>
              </a:extLst>
            </p:cNvPr>
            <p:cNvCxnSpPr/>
            <p:nvPr/>
          </p:nvCxnSpPr>
          <p:spPr>
            <a:xfrm>
              <a:off x="5848928" y="4541897"/>
              <a:ext cx="2765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A5C800-3430-3ADC-91BC-999BED42A926}"/>
                </a:ext>
              </a:extLst>
            </p:cNvPr>
            <p:cNvSpPr/>
            <p:nvPr/>
          </p:nvSpPr>
          <p:spPr>
            <a:xfrm>
              <a:off x="6037006" y="3525061"/>
              <a:ext cx="2399071" cy="1214294"/>
            </a:xfrm>
            <a:custGeom>
              <a:avLst/>
              <a:gdLst>
                <a:gd name="connsiteX0" fmla="*/ 0 w 2399071"/>
                <a:gd name="connsiteY0" fmla="*/ 987945 h 1214294"/>
                <a:gd name="connsiteX1" fmla="*/ 206478 w 2399071"/>
                <a:gd name="connsiteY1" fmla="*/ 889623 h 1214294"/>
                <a:gd name="connsiteX2" fmla="*/ 363794 w 2399071"/>
                <a:gd name="connsiteY2" fmla="*/ 1046939 h 1214294"/>
                <a:gd name="connsiteX3" fmla="*/ 452284 w 2399071"/>
                <a:gd name="connsiteY3" fmla="*/ 899455 h 1214294"/>
                <a:gd name="connsiteX4" fmla="*/ 580104 w 2399071"/>
                <a:gd name="connsiteY4" fmla="*/ 1017442 h 1214294"/>
                <a:gd name="connsiteX5" fmla="*/ 707923 w 2399071"/>
                <a:gd name="connsiteY5" fmla="*/ 1214087 h 1214294"/>
                <a:gd name="connsiteX6" fmla="*/ 825910 w 2399071"/>
                <a:gd name="connsiteY6" fmla="*/ 978113 h 1214294"/>
                <a:gd name="connsiteX7" fmla="*/ 904568 w 2399071"/>
                <a:gd name="connsiteY7" fmla="*/ 712642 h 1214294"/>
                <a:gd name="connsiteX8" fmla="*/ 1052052 w 2399071"/>
                <a:gd name="connsiteY8" fmla="*/ 171868 h 1214294"/>
                <a:gd name="connsiteX9" fmla="*/ 1140542 w 2399071"/>
                <a:gd name="connsiteY9" fmla="*/ 4720 h 1214294"/>
                <a:gd name="connsiteX10" fmla="*/ 1248697 w 2399071"/>
                <a:gd name="connsiteY10" fmla="*/ 319352 h 1214294"/>
                <a:gd name="connsiteX11" fmla="*/ 1288026 w 2399071"/>
                <a:gd name="connsiteY11" fmla="*/ 722474 h 1214294"/>
                <a:gd name="connsiteX12" fmla="*/ 1376517 w 2399071"/>
                <a:gd name="connsiteY12" fmla="*/ 1007610 h 1214294"/>
                <a:gd name="connsiteX13" fmla="*/ 1435510 w 2399071"/>
                <a:gd name="connsiteY13" fmla="*/ 1066604 h 1214294"/>
                <a:gd name="connsiteX14" fmla="*/ 1533833 w 2399071"/>
                <a:gd name="connsiteY14" fmla="*/ 978113 h 1214294"/>
                <a:gd name="connsiteX15" fmla="*/ 1799304 w 2399071"/>
                <a:gd name="connsiteY15" fmla="*/ 1086268 h 1214294"/>
                <a:gd name="connsiteX16" fmla="*/ 1897626 w 2399071"/>
                <a:gd name="connsiteY16" fmla="*/ 958449 h 1214294"/>
                <a:gd name="connsiteX17" fmla="*/ 2035278 w 2399071"/>
                <a:gd name="connsiteY17" fmla="*/ 1096100 h 1214294"/>
                <a:gd name="connsiteX18" fmla="*/ 2251588 w 2399071"/>
                <a:gd name="connsiteY18" fmla="*/ 928952 h 1214294"/>
                <a:gd name="connsiteX19" fmla="*/ 2399071 w 2399071"/>
                <a:gd name="connsiteY19" fmla="*/ 1066604 h 121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99071" h="1214294">
                  <a:moveTo>
                    <a:pt x="0" y="987945"/>
                  </a:moveTo>
                  <a:cubicBezTo>
                    <a:pt x="72923" y="933868"/>
                    <a:pt x="145846" y="879791"/>
                    <a:pt x="206478" y="889623"/>
                  </a:cubicBezTo>
                  <a:cubicBezTo>
                    <a:pt x="267110" y="899455"/>
                    <a:pt x="322826" y="1045300"/>
                    <a:pt x="363794" y="1046939"/>
                  </a:cubicBezTo>
                  <a:cubicBezTo>
                    <a:pt x="404762" y="1048578"/>
                    <a:pt x="416232" y="904371"/>
                    <a:pt x="452284" y="899455"/>
                  </a:cubicBezTo>
                  <a:cubicBezTo>
                    <a:pt x="488336" y="894539"/>
                    <a:pt x="537497" y="965003"/>
                    <a:pt x="580104" y="1017442"/>
                  </a:cubicBezTo>
                  <a:cubicBezTo>
                    <a:pt x="622711" y="1069881"/>
                    <a:pt x="666955" y="1220642"/>
                    <a:pt x="707923" y="1214087"/>
                  </a:cubicBezTo>
                  <a:cubicBezTo>
                    <a:pt x="748891" y="1207532"/>
                    <a:pt x="793136" y="1061687"/>
                    <a:pt x="825910" y="978113"/>
                  </a:cubicBezTo>
                  <a:cubicBezTo>
                    <a:pt x="858684" y="894539"/>
                    <a:pt x="866878" y="847016"/>
                    <a:pt x="904568" y="712642"/>
                  </a:cubicBezTo>
                  <a:cubicBezTo>
                    <a:pt x="942258" y="578268"/>
                    <a:pt x="1012723" y="289855"/>
                    <a:pt x="1052052" y="171868"/>
                  </a:cubicBezTo>
                  <a:cubicBezTo>
                    <a:pt x="1091381" y="53881"/>
                    <a:pt x="1107768" y="-19861"/>
                    <a:pt x="1140542" y="4720"/>
                  </a:cubicBezTo>
                  <a:cubicBezTo>
                    <a:pt x="1173316" y="29301"/>
                    <a:pt x="1224116" y="199726"/>
                    <a:pt x="1248697" y="319352"/>
                  </a:cubicBezTo>
                  <a:cubicBezTo>
                    <a:pt x="1273278" y="438978"/>
                    <a:pt x="1266723" y="607764"/>
                    <a:pt x="1288026" y="722474"/>
                  </a:cubicBezTo>
                  <a:cubicBezTo>
                    <a:pt x="1309329" y="837184"/>
                    <a:pt x="1351936" y="950255"/>
                    <a:pt x="1376517" y="1007610"/>
                  </a:cubicBezTo>
                  <a:cubicBezTo>
                    <a:pt x="1401098" y="1064965"/>
                    <a:pt x="1409291" y="1071520"/>
                    <a:pt x="1435510" y="1066604"/>
                  </a:cubicBezTo>
                  <a:cubicBezTo>
                    <a:pt x="1461729" y="1061688"/>
                    <a:pt x="1473201" y="974836"/>
                    <a:pt x="1533833" y="978113"/>
                  </a:cubicBezTo>
                  <a:cubicBezTo>
                    <a:pt x="1594465" y="981390"/>
                    <a:pt x="1738672" y="1089545"/>
                    <a:pt x="1799304" y="1086268"/>
                  </a:cubicBezTo>
                  <a:cubicBezTo>
                    <a:pt x="1859936" y="1082991"/>
                    <a:pt x="1858297" y="956810"/>
                    <a:pt x="1897626" y="958449"/>
                  </a:cubicBezTo>
                  <a:cubicBezTo>
                    <a:pt x="1936955" y="960088"/>
                    <a:pt x="1976284" y="1101016"/>
                    <a:pt x="2035278" y="1096100"/>
                  </a:cubicBezTo>
                  <a:cubicBezTo>
                    <a:pt x="2094272" y="1091184"/>
                    <a:pt x="2190956" y="933868"/>
                    <a:pt x="2251588" y="928952"/>
                  </a:cubicBezTo>
                  <a:cubicBezTo>
                    <a:pt x="2312220" y="924036"/>
                    <a:pt x="2355645" y="995320"/>
                    <a:pt x="2399071" y="106660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CAF5E2-50CD-5C86-08B4-F4B8226CA83D}"/>
              </a:ext>
            </a:extLst>
          </p:cNvPr>
          <p:cNvGrpSpPr/>
          <p:nvPr/>
        </p:nvGrpSpPr>
        <p:grpSpPr>
          <a:xfrm rot="10800000">
            <a:off x="1261557" y="3882124"/>
            <a:ext cx="1728126" cy="980542"/>
            <a:chOff x="6037006" y="4928800"/>
            <a:chExt cx="2428717" cy="127767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7EE101-7C1C-0D19-63AE-3E2D22F61D8D}"/>
                </a:ext>
              </a:extLst>
            </p:cNvPr>
            <p:cNvCxnSpPr/>
            <p:nvPr/>
          </p:nvCxnSpPr>
          <p:spPr>
            <a:xfrm>
              <a:off x="6037006" y="6096000"/>
              <a:ext cx="24287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B28EA4-80FF-6C2F-2547-56B8D9CF5E3E}"/>
                </a:ext>
              </a:extLst>
            </p:cNvPr>
            <p:cNvSpPr/>
            <p:nvPr/>
          </p:nvSpPr>
          <p:spPr>
            <a:xfrm>
              <a:off x="6302477" y="4928800"/>
              <a:ext cx="2084439" cy="1277676"/>
            </a:xfrm>
            <a:custGeom>
              <a:avLst/>
              <a:gdLst>
                <a:gd name="connsiteX0" fmla="*/ 0 w 2084439"/>
                <a:gd name="connsiteY0" fmla="*/ 1108206 h 1277676"/>
                <a:gd name="connsiteX1" fmla="*/ 353962 w 2084439"/>
                <a:gd name="connsiteY1" fmla="*/ 1206529 h 1277676"/>
                <a:gd name="connsiteX2" fmla="*/ 452284 w 2084439"/>
                <a:gd name="connsiteY2" fmla="*/ 1049213 h 1277676"/>
                <a:gd name="connsiteX3" fmla="*/ 560439 w 2084439"/>
                <a:gd name="connsiteY3" fmla="*/ 1245858 h 1277676"/>
                <a:gd name="connsiteX4" fmla="*/ 698091 w 2084439"/>
                <a:gd name="connsiteY4" fmla="*/ 1167200 h 1277676"/>
                <a:gd name="connsiteX5" fmla="*/ 894736 w 2084439"/>
                <a:gd name="connsiteY5" fmla="*/ 665755 h 1277676"/>
                <a:gd name="connsiteX6" fmla="*/ 924233 w 2084439"/>
                <a:gd name="connsiteY6" fmla="*/ 144645 h 1277676"/>
                <a:gd name="connsiteX7" fmla="*/ 1022555 w 2084439"/>
                <a:gd name="connsiteY7" fmla="*/ 16826 h 1277676"/>
                <a:gd name="connsiteX8" fmla="*/ 1219200 w 2084439"/>
                <a:gd name="connsiteY8" fmla="*/ 449445 h 1277676"/>
                <a:gd name="connsiteX9" fmla="*/ 1268362 w 2084439"/>
                <a:gd name="connsiteY9" fmla="*/ 823071 h 1277676"/>
                <a:gd name="connsiteX10" fmla="*/ 1347020 w 2084439"/>
                <a:gd name="connsiteY10" fmla="*/ 1157368 h 1277676"/>
                <a:gd name="connsiteX11" fmla="*/ 1465007 w 2084439"/>
                <a:gd name="connsiteY11" fmla="*/ 1275355 h 1277676"/>
                <a:gd name="connsiteX12" fmla="*/ 1582994 w 2084439"/>
                <a:gd name="connsiteY12" fmla="*/ 1177032 h 1277676"/>
                <a:gd name="connsiteX13" fmla="*/ 1651820 w 2084439"/>
                <a:gd name="connsiteY13" fmla="*/ 1068877 h 1277676"/>
                <a:gd name="connsiteX14" fmla="*/ 1769807 w 2084439"/>
                <a:gd name="connsiteY14" fmla="*/ 1196697 h 1277676"/>
                <a:gd name="connsiteX15" fmla="*/ 1897626 w 2084439"/>
                <a:gd name="connsiteY15" fmla="*/ 1275355 h 1277676"/>
                <a:gd name="connsiteX16" fmla="*/ 1995949 w 2084439"/>
                <a:gd name="connsiteY16" fmla="*/ 1108206 h 1277676"/>
                <a:gd name="connsiteX17" fmla="*/ 2084439 w 2084439"/>
                <a:gd name="connsiteY17" fmla="*/ 1147535 h 127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4439" h="1277676">
                  <a:moveTo>
                    <a:pt x="0" y="1108206"/>
                  </a:moveTo>
                  <a:cubicBezTo>
                    <a:pt x="139290" y="1162283"/>
                    <a:pt x="278581" y="1216361"/>
                    <a:pt x="353962" y="1206529"/>
                  </a:cubicBezTo>
                  <a:cubicBezTo>
                    <a:pt x="429343" y="1196697"/>
                    <a:pt x="417871" y="1042658"/>
                    <a:pt x="452284" y="1049213"/>
                  </a:cubicBezTo>
                  <a:cubicBezTo>
                    <a:pt x="486697" y="1055768"/>
                    <a:pt x="519471" y="1226193"/>
                    <a:pt x="560439" y="1245858"/>
                  </a:cubicBezTo>
                  <a:cubicBezTo>
                    <a:pt x="601407" y="1265523"/>
                    <a:pt x="642375" y="1263884"/>
                    <a:pt x="698091" y="1167200"/>
                  </a:cubicBezTo>
                  <a:cubicBezTo>
                    <a:pt x="753807" y="1070516"/>
                    <a:pt x="857046" y="836181"/>
                    <a:pt x="894736" y="665755"/>
                  </a:cubicBezTo>
                  <a:cubicBezTo>
                    <a:pt x="932426" y="495329"/>
                    <a:pt x="902930" y="252800"/>
                    <a:pt x="924233" y="144645"/>
                  </a:cubicBezTo>
                  <a:cubicBezTo>
                    <a:pt x="945536" y="36490"/>
                    <a:pt x="973394" y="-33974"/>
                    <a:pt x="1022555" y="16826"/>
                  </a:cubicBezTo>
                  <a:cubicBezTo>
                    <a:pt x="1071716" y="67626"/>
                    <a:pt x="1178232" y="315071"/>
                    <a:pt x="1219200" y="449445"/>
                  </a:cubicBezTo>
                  <a:cubicBezTo>
                    <a:pt x="1260168" y="583819"/>
                    <a:pt x="1247059" y="705084"/>
                    <a:pt x="1268362" y="823071"/>
                  </a:cubicBezTo>
                  <a:cubicBezTo>
                    <a:pt x="1289665" y="941058"/>
                    <a:pt x="1314246" y="1081987"/>
                    <a:pt x="1347020" y="1157368"/>
                  </a:cubicBezTo>
                  <a:cubicBezTo>
                    <a:pt x="1379794" y="1232749"/>
                    <a:pt x="1425678" y="1272078"/>
                    <a:pt x="1465007" y="1275355"/>
                  </a:cubicBezTo>
                  <a:cubicBezTo>
                    <a:pt x="1504336" y="1278632"/>
                    <a:pt x="1551859" y="1211445"/>
                    <a:pt x="1582994" y="1177032"/>
                  </a:cubicBezTo>
                  <a:cubicBezTo>
                    <a:pt x="1614130" y="1142619"/>
                    <a:pt x="1620685" y="1065600"/>
                    <a:pt x="1651820" y="1068877"/>
                  </a:cubicBezTo>
                  <a:cubicBezTo>
                    <a:pt x="1682955" y="1072154"/>
                    <a:pt x="1728839" y="1162284"/>
                    <a:pt x="1769807" y="1196697"/>
                  </a:cubicBezTo>
                  <a:cubicBezTo>
                    <a:pt x="1810775" y="1231110"/>
                    <a:pt x="1859936" y="1290103"/>
                    <a:pt x="1897626" y="1275355"/>
                  </a:cubicBezTo>
                  <a:cubicBezTo>
                    <a:pt x="1935316" y="1260607"/>
                    <a:pt x="1964814" y="1129509"/>
                    <a:pt x="1995949" y="1108206"/>
                  </a:cubicBezTo>
                  <a:cubicBezTo>
                    <a:pt x="2027085" y="1086903"/>
                    <a:pt x="2055762" y="1117219"/>
                    <a:pt x="2084439" y="11475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2F1E3DA-E26B-7F24-37C6-2B4AAAF3A3AF}"/>
              </a:ext>
            </a:extLst>
          </p:cNvPr>
          <p:cNvSpPr txBox="1">
            <a:spLocks/>
          </p:cNvSpPr>
          <p:nvPr/>
        </p:nvSpPr>
        <p:spPr>
          <a:xfrm>
            <a:off x="3009136" y="177996"/>
            <a:ext cx="3027870" cy="6397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>
                <a:solidFill>
                  <a:srgbClr val="660066"/>
                </a:solidFill>
              </a:rPr>
              <a:t>Step 5</a:t>
            </a:r>
            <a:endParaRPr lang="en-IN" sz="4000" dirty="0">
              <a:solidFill>
                <a:srgbClr val="660066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F71D32-7594-2F14-C97C-7A7E2BBDD7DB}"/>
              </a:ext>
            </a:extLst>
          </p:cNvPr>
          <p:cNvSpPr/>
          <p:nvPr/>
        </p:nvSpPr>
        <p:spPr>
          <a:xfrm>
            <a:off x="5715000" y="2362200"/>
            <a:ext cx="2743200" cy="2438400"/>
          </a:xfrm>
          <a:prstGeom prst="rect">
            <a:avLst/>
          </a:prstGeom>
          <a:solidFill>
            <a:schemeClr val="accent1">
              <a:alpha val="27000"/>
            </a:schemeClr>
          </a:solidFill>
          <a:ln>
            <a:solidFill>
              <a:schemeClr val="accent1">
                <a:shade val="15000"/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42035B1-84B5-CA28-F85F-7430D3C841E7}"/>
              </a:ext>
            </a:extLst>
          </p:cNvPr>
          <p:cNvSpPr/>
          <p:nvPr/>
        </p:nvSpPr>
        <p:spPr>
          <a:xfrm>
            <a:off x="3931527" y="3429000"/>
            <a:ext cx="1280945" cy="537908"/>
          </a:xfrm>
          <a:prstGeom prst="rightArrow">
            <a:avLst/>
          </a:prstGeom>
          <a:solidFill>
            <a:schemeClr val="accent2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13C146-F021-21FD-E406-59068EBDA610}"/>
              </a:ext>
            </a:extLst>
          </p:cNvPr>
          <p:cNvSpPr txBox="1"/>
          <p:nvPr/>
        </p:nvSpPr>
        <p:spPr>
          <a:xfrm>
            <a:off x="4215506" y="4045710"/>
            <a:ext cx="55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IFT</a:t>
            </a:r>
            <a:endParaRPr lang="en-IN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9EE016-5FD0-87EA-8239-F319F148C8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16" t="3750" r="50956" b="12500"/>
          <a:stretch/>
        </p:blipFill>
        <p:spPr>
          <a:xfrm>
            <a:off x="6179954" y="2662237"/>
            <a:ext cx="1993163" cy="19145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431FDD-ABEE-4966-5814-D5F1C93D98F0}"/>
              </a:ext>
            </a:extLst>
          </p:cNvPr>
          <p:cNvSpPr txBox="1"/>
          <p:nvPr/>
        </p:nvSpPr>
        <p:spPr>
          <a:xfrm>
            <a:off x="244877" y="1279563"/>
            <a:ext cx="3989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Take the inverse Fourier transform in 2D </a:t>
            </a:r>
          </a:p>
        </p:txBody>
      </p:sp>
    </p:spTree>
    <p:extLst>
      <p:ext uri="{BB962C8B-B14F-4D97-AF65-F5344CB8AC3E}">
        <p14:creationId xmlns:p14="http://schemas.microsoft.com/office/powerpoint/2010/main" val="87162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Dirac delta function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CC"/>
                </a:solidFill>
              </a:rPr>
              <a:t>Mathematical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97" y="2282518"/>
            <a:ext cx="3406733" cy="1445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1397043"/>
            <a:ext cx="8229600" cy="888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Can be thought as a line which is zero everywhere and infinite at the origin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4674880"/>
            <a:ext cx="82296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 it is a probability distribution function then-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26" y="5358130"/>
            <a:ext cx="2903220" cy="998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Dirac delta function - Wikipedia">
            <a:extLst>
              <a:ext uri="{FF2B5EF4-FFF2-40B4-BE49-F238E27FC236}">
                <a16:creationId xmlns:a16="http://schemas.microsoft.com/office/drawing/2014/main" id="{B2F76C35-ECA4-121D-90E3-E0C532D40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57400"/>
            <a:ext cx="309562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309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333399"/>
                </a:solidFill>
              </a:rPr>
              <a:t>Common forms of the Dirac delta function</a:t>
            </a:r>
          </a:p>
        </p:txBody>
      </p:sp>
    </p:spTree>
    <p:extLst>
      <p:ext uri="{BB962C8B-B14F-4D97-AF65-F5344CB8AC3E}">
        <p14:creationId xmlns:p14="http://schemas.microsoft.com/office/powerpoint/2010/main" val="1574817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587" y="22860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333399"/>
                </a:solidFill>
              </a:rPr>
              <a:t>Box function as a delta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30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4585387" y="4281615"/>
            <a:ext cx="388620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528486" y="1614615"/>
            <a:ext cx="1" cy="457200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5210431" y="3058296"/>
            <a:ext cx="2586681" cy="1215081"/>
            <a:chOff x="1143000" y="2660822"/>
            <a:chExt cx="2586681" cy="121508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143000" y="3875903"/>
              <a:ext cx="914400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815281" y="3875903"/>
              <a:ext cx="914400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15281" y="2667000"/>
              <a:ext cx="0" cy="1208903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057400" y="2660822"/>
              <a:ext cx="75788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7400" y="2664940"/>
              <a:ext cx="0" cy="1208903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4" name="Group 2053"/>
          <p:cNvGrpSpPr/>
          <p:nvPr/>
        </p:nvGrpSpPr>
        <p:grpSpPr>
          <a:xfrm>
            <a:off x="5233086" y="1774221"/>
            <a:ext cx="2590800" cy="2497095"/>
            <a:chOff x="1295400" y="2669059"/>
            <a:chExt cx="2590800" cy="249709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1295400" y="5166154"/>
              <a:ext cx="1143000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743200" y="2669059"/>
              <a:ext cx="0" cy="2481649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438400" y="2684505"/>
              <a:ext cx="0" cy="2481649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/>
            <p:cNvCxnSpPr/>
            <p:nvPr/>
          </p:nvCxnSpPr>
          <p:spPr>
            <a:xfrm>
              <a:off x="2438400" y="2675238"/>
              <a:ext cx="304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743200" y="5166154"/>
              <a:ext cx="1143000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5" name="TextBox 2054"/>
          <p:cNvSpPr txBox="1"/>
          <p:nvPr/>
        </p:nvSpPr>
        <p:spPr>
          <a:xfrm>
            <a:off x="6737480" y="258392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ε</a:t>
            </a:r>
            <a:endParaRPr lang="en-IN" dirty="0"/>
          </a:p>
        </p:txBody>
      </p:sp>
      <p:cxnSp>
        <p:nvCxnSpPr>
          <p:cNvPr id="2057" name="Straight Arrow Connector 2056"/>
          <p:cNvCxnSpPr/>
          <p:nvPr/>
        </p:nvCxnSpPr>
        <p:spPr>
          <a:xfrm>
            <a:off x="6124831" y="2910015"/>
            <a:ext cx="757881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Arrow Connector 2058"/>
          <p:cNvCxnSpPr/>
          <p:nvPr/>
        </p:nvCxnSpPr>
        <p:spPr>
          <a:xfrm>
            <a:off x="7027944" y="3052117"/>
            <a:ext cx="0" cy="120684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93845" y="353677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1/</a:t>
            </a:r>
            <a:r>
              <a:rPr lang="el-GR" dirty="0"/>
              <a:t>ε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6203023" y="4254154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1535" y="13485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2801" y="431113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cxnSp>
        <p:nvCxnSpPr>
          <p:cNvPr id="2061" name="Straight Arrow Connector 2060"/>
          <p:cNvCxnSpPr/>
          <p:nvPr/>
        </p:nvCxnSpPr>
        <p:spPr>
          <a:xfrm>
            <a:off x="7093845" y="4495800"/>
            <a:ext cx="73004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5867400" y="1996986"/>
            <a:ext cx="0" cy="1248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00633" y="446421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940" y="16698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b(x, </a:t>
            </a:r>
            <a:r>
              <a:rPr lang="el-GR" dirty="0"/>
              <a:t>ε</a:t>
            </a:r>
            <a:r>
              <a:rPr lang="en-IN" dirty="0"/>
              <a:t>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81440"/>
            <a:ext cx="348615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121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0587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333399"/>
                </a:solidFill>
              </a:rPr>
              <a:t>Gaussian function as a delta function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71401"/>
            <a:ext cx="37528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33550"/>
            <a:ext cx="4305300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317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0587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rgbClr val="333399"/>
                </a:solidFill>
              </a:rPr>
              <a:t>Lorentzian</a:t>
            </a:r>
            <a:r>
              <a:rPr lang="en-IN" dirty="0">
                <a:solidFill>
                  <a:srgbClr val="333399"/>
                </a:solidFill>
              </a:rPr>
              <a:t> function as a delta function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33623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28800"/>
            <a:ext cx="4305300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4234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B99EC-8085-D929-5670-442A108F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341824-370E-C31A-070F-06045C4E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87" y="228600"/>
            <a:ext cx="8229600" cy="76199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333399"/>
                </a:solidFill>
              </a:rPr>
              <a:t>Triangular function as a delta function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D4EADF-5E19-BDEB-4076-88508D7E5C65}"/>
              </a:ext>
            </a:extLst>
          </p:cNvPr>
          <p:cNvGrpSpPr/>
          <p:nvPr/>
        </p:nvGrpSpPr>
        <p:grpSpPr>
          <a:xfrm>
            <a:off x="2971800" y="1905000"/>
            <a:ext cx="2819400" cy="2235455"/>
            <a:chOff x="4876800" y="1447800"/>
            <a:chExt cx="2819400" cy="223545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DC8DE75-6DD4-3ACF-629F-5379E07B4C5C}"/>
                </a:ext>
              </a:extLst>
            </p:cNvPr>
            <p:cNvCxnSpPr/>
            <p:nvPr/>
          </p:nvCxnSpPr>
          <p:spPr>
            <a:xfrm>
              <a:off x="6324600" y="1447800"/>
              <a:ext cx="0" cy="175260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0E0E5-C816-0E43-7B1B-4B7D3082AB05}"/>
                </a:ext>
              </a:extLst>
            </p:cNvPr>
            <p:cNvCxnSpPr/>
            <p:nvPr/>
          </p:nvCxnSpPr>
          <p:spPr>
            <a:xfrm>
              <a:off x="5105400" y="3200400"/>
              <a:ext cx="2286000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29A3F5-EAAD-C1B4-6BD1-64F1639A9AC2}"/>
                </a:ext>
              </a:extLst>
            </p:cNvPr>
            <p:cNvCxnSpPr/>
            <p:nvPr/>
          </p:nvCxnSpPr>
          <p:spPr>
            <a:xfrm flipH="1">
              <a:off x="5562600" y="2286000"/>
              <a:ext cx="762000" cy="914400"/>
            </a:xfrm>
            <a:prstGeom prst="line">
              <a:avLst/>
            </a:prstGeom>
            <a:ln w="158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05767B-42C2-E1FE-E220-984174AF244C}"/>
                </a:ext>
              </a:extLst>
            </p:cNvPr>
            <p:cNvCxnSpPr/>
            <p:nvPr/>
          </p:nvCxnSpPr>
          <p:spPr>
            <a:xfrm>
              <a:off x="6324600" y="2286000"/>
              <a:ext cx="685800" cy="914400"/>
            </a:xfrm>
            <a:prstGeom prst="line">
              <a:avLst/>
            </a:prstGeom>
            <a:ln w="158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02CCAF8-4755-8B63-1601-8F0687F42C98}"/>
                </a:ext>
              </a:extLst>
            </p:cNvPr>
            <p:cNvCxnSpPr/>
            <p:nvPr/>
          </p:nvCxnSpPr>
          <p:spPr>
            <a:xfrm>
              <a:off x="4876800" y="3200400"/>
              <a:ext cx="685800" cy="0"/>
            </a:xfrm>
            <a:prstGeom prst="line">
              <a:avLst/>
            </a:prstGeom>
            <a:ln w="158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3D69C6-D66A-CB8E-C889-C20690D2CA24}"/>
                </a:ext>
              </a:extLst>
            </p:cNvPr>
            <p:cNvCxnSpPr/>
            <p:nvPr/>
          </p:nvCxnSpPr>
          <p:spPr>
            <a:xfrm>
              <a:off x="7010400" y="3200400"/>
              <a:ext cx="685800" cy="0"/>
            </a:xfrm>
            <a:prstGeom prst="line">
              <a:avLst/>
            </a:prstGeom>
            <a:ln w="158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94B5A4C-F10B-0D39-326D-F6F3F413E572}"/>
                </a:ext>
              </a:extLst>
            </p:cNvPr>
            <p:cNvCxnSpPr/>
            <p:nvPr/>
          </p:nvCxnSpPr>
          <p:spPr>
            <a:xfrm>
              <a:off x="6096000" y="2286000"/>
              <a:ext cx="0" cy="9144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1EF5EE-10BD-55EB-A147-0EC6D57D3DB6}"/>
                </a:ext>
              </a:extLst>
            </p:cNvPr>
            <p:cNvSpPr txBox="1"/>
            <p:nvPr/>
          </p:nvSpPr>
          <p:spPr>
            <a:xfrm>
              <a:off x="5638800" y="2285999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1/</a:t>
              </a:r>
              <a:r>
                <a:rPr lang="el-GR" dirty="0"/>
                <a:t>ε</a:t>
              </a:r>
              <a:endParaRPr lang="en-IN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C3209CB-DF2C-D4A9-3666-23A8C9897503}"/>
                </a:ext>
              </a:extLst>
            </p:cNvPr>
            <p:cNvCxnSpPr/>
            <p:nvPr/>
          </p:nvCxnSpPr>
          <p:spPr>
            <a:xfrm>
              <a:off x="5562600" y="3313924"/>
              <a:ext cx="1447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D68FC2-3975-385A-6F7A-2967BDF36330}"/>
                </a:ext>
              </a:extLst>
            </p:cNvPr>
            <p:cNvSpPr txBox="1"/>
            <p:nvPr/>
          </p:nvSpPr>
          <p:spPr>
            <a:xfrm>
              <a:off x="6136052" y="3313923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r>
                <a:rPr lang="el-GR" dirty="0"/>
                <a:t>ε</a:t>
              </a:r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40DB7FB-D013-AA8B-C6F7-888B8DEDF37F}"/>
              </a:ext>
            </a:extLst>
          </p:cNvPr>
          <p:cNvSpPr txBox="1"/>
          <p:nvPr/>
        </p:nvSpPr>
        <p:spPr>
          <a:xfrm>
            <a:off x="541176" y="4731604"/>
            <a:ext cx="7078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under the curve is = 2 x base x height = 2 x 2</a:t>
            </a:r>
            <a:r>
              <a:rPr lang="el-GR" dirty="0"/>
              <a:t>ε</a:t>
            </a:r>
            <a:r>
              <a:rPr lang="en-US" dirty="0"/>
              <a:t> x (1/</a:t>
            </a:r>
            <a:r>
              <a:rPr lang="el-GR" dirty="0"/>
              <a:t>ε</a:t>
            </a:r>
            <a:r>
              <a:rPr lang="en-US" dirty="0"/>
              <a:t>) = 1. </a:t>
            </a:r>
          </a:p>
          <a:p>
            <a:endParaRPr lang="en-US" dirty="0"/>
          </a:p>
          <a:p>
            <a:r>
              <a:rPr lang="en-US" dirty="0"/>
              <a:t>So it satisfies the condition of the delta function.</a:t>
            </a:r>
          </a:p>
          <a:p>
            <a:endParaRPr lang="en-US" dirty="0"/>
          </a:p>
          <a:p>
            <a:r>
              <a:rPr lang="en-US" dirty="0"/>
              <a:t>If we impose </a:t>
            </a:r>
            <a:r>
              <a:rPr lang="el-GR" dirty="0"/>
              <a:t>ε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0, the triangular function becomes a delta function. 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208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0587" y="228601"/>
            <a:ext cx="8229600" cy="459466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rgbClr val="333399"/>
                </a:solidFill>
              </a:rPr>
              <a:t>Integral representation of a delta function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636" y="838315"/>
            <a:ext cx="2750820" cy="80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FD7A48-DA6A-4B2D-F992-CAFD4EB04FF2}"/>
              </a:ext>
            </a:extLst>
          </p:cNvPr>
          <p:cNvSpPr txBox="1">
            <a:spLocks/>
          </p:cNvSpPr>
          <p:nvPr/>
        </p:nvSpPr>
        <p:spPr>
          <a:xfrm>
            <a:off x="472399" y="3472645"/>
            <a:ext cx="3978647" cy="70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Inverse Fourier transformation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9F7B0E-5E9F-EFF6-24F2-C91B30B5A1C4}"/>
              </a:ext>
            </a:extLst>
          </p:cNvPr>
          <p:cNvSpPr txBox="1">
            <a:spLocks/>
          </p:cNvSpPr>
          <p:nvPr/>
        </p:nvSpPr>
        <p:spPr>
          <a:xfrm>
            <a:off x="214303" y="1573822"/>
            <a:ext cx="3440331" cy="70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Fourier transformation</a:t>
            </a:r>
            <a:endParaRPr lang="en-IN" sz="2400" baseline="-25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1175B9-016C-7D07-3FB3-443F50F3DE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5" t="6666" r="33703" b="8889"/>
          <a:stretch/>
        </p:blipFill>
        <p:spPr>
          <a:xfrm rot="-5400000">
            <a:off x="2856588" y="1790701"/>
            <a:ext cx="1143000" cy="57911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23D80F-1D4B-55BA-EA77-19F851840B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2" t="6666" r="55925" b="8889"/>
          <a:stretch/>
        </p:blipFill>
        <p:spPr>
          <a:xfrm rot="-5400000">
            <a:off x="2874872" y="-139287"/>
            <a:ext cx="1143001" cy="5791198"/>
          </a:xfrm>
          <a:prstGeom prst="rect">
            <a:avLst/>
          </a:prstGeom>
        </p:spPr>
      </p:pic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4CDC760A-66CF-2AF8-CE7C-888BA66762AD}"/>
              </a:ext>
            </a:extLst>
          </p:cNvPr>
          <p:cNvSpPr/>
          <p:nvPr/>
        </p:nvSpPr>
        <p:spPr>
          <a:xfrm>
            <a:off x="6788020" y="1066800"/>
            <a:ext cx="838200" cy="386322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5F0619E-28F7-59D7-8700-456BBAF10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046" y="5678240"/>
            <a:ext cx="3451860" cy="80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94682C-A67E-EDB0-6046-FF1DF517F711}"/>
              </a:ext>
            </a:extLst>
          </p:cNvPr>
          <p:cNvSpPr txBox="1"/>
          <p:nvPr/>
        </p:nvSpPr>
        <p:spPr>
          <a:xfrm>
            <a:off x="381000" y="5860121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Integral representation generalization- </a:t>
            </a:r>
          </a:p>
        </p:txBody>
      </p:sp>
    </p:spTree>
    <p:extLst>
      <p:ext uri="{BB962C8B-B14F-4D97-AF65-F5344CB8AC3E}">
        <p14:creationId xmlns:p14="http://schemas.microsoft.com/office/powerpoint/2010/main" val="751232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Some properties of the delta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386060"/>
            <a:ext cx="5029200" cy="3392895"/>
          </a:xfrm>
        </p:spPr>
        <p:txBody>
          <a:bodyPr>
            <a:normAutofit/>
          </a:bodyPr>
          <a:lstStyle/>
          <a:p>
            <a:r>
              <a:rPr lang="en-IN" dirty="0"/>
              <a:t>Even function (symmetric)-</a:t>
            </a:r>
          </a:p>
          <a:p>
            <a:endParaRPr lang="en-IN" dirty="0"/>
          </a:p>
          <a:p>
            <a:r>
              <a:rPr lang="en-IN" dirty="0"/>
              <a:t>Scaling-</a:t>
            </a:r>
          </a:p>
          <a:p>
            <a:endParaRPr lang="en-IN" dirty="0"/>
          </a:p>
          <a:p>
            <a:r>
              <a:rPr lang="en-IN" dirty="0"/>
              <a:t>Shifting-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9" y="3527272"/>
            <a:ext cx="423862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25078"/>
            <a:ext cx="2590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86060"/>
            <a:ext cx="21621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3484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Dirac comb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AutoShape 2" descr="Image result for dirac comb"/>
          <p:cNvSpPr>
            <a:spLocks noChangeAspect="1" noChangeArrowheads="1"/>
          </p:cNvSpPr>
          <p:nvPr/>
        </p:nvSpPr>
        <p:spPr bwMode="auto">
          <a:xfrm>
            <a:off x="155575" y="-1570038"/>
            <a:ext cx="520065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mage result for dirac comb"/>
          <p:cNvSpPr>
            <a:spLocks noChangeAspect="1" noChangeArrowheads="1"/>
          </p:cNvSpPr>
          <p:nvPr/>
        </p:nvSpPr>
        <p:spPr bwMode="auto">
          <a:xfrm>
            <a:off x="307975" y="-1417638"/>
            <a:ext cx="520065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8" name="Picture 6" descr="Image result for dirac com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1"/>
            <a:ext cx="374930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 result for dirac com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343400"/>
            <a:ext cx="520065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946576"/>
            <a:ext cx="34575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634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Introduction to Delta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0000CC"/>
                </a:solidFill>
              </a:rPr>
              <a:t>It is a generalized function or a distribution</a:t>
            </a:r>
          </a:p>
          <a:p>
            <a:r>
              <a:rPr lang="en-IN" dirty="0">
                <a:solidFill>
                  <a:srgbClr val="0000CC"/>
                </a:solidFill>
              </a:rPr>
              <a:t>Introduced by Physicist Paul Dirac </a:t>
            </a:r>
          </a:p>
          <a:p>
            <a:r>
              <a:rPr lang="en-IN" dirty="0">
                <a:solidFill>
                  <a:srgbClr val="0000CC"/>
                </a:solidFill>
              </a:rPr>
              <a:t>Denoted by </a:t>
            </a:r>
            <a:r>
              <a:rPr lang="el-GR" dirty="0">
                <a:solidFill>
                  <a:srgbClr val="0000CC"/>
                </a:solidFill>
              </a:rPr>
              <a:t>δ</a:t>
            </a:r>
            <a:endParaRPr lang="en-IN" dirty="0">
              <a:solidFill>
                <a:srgbClr val="0000CC"/>
              </a:solidFill>
            </a:endParaRPr>
          </a:p>
          <a:p>
            <a:r>
              <a:rPr lang="en-IN" dirty="0">
                <a:solidFill>
                  <a:srgbClr val="0000CC"/>
                </a:solidFill>
              </a:rPr>
              <a:t>Very </a:t>
            </a:r>
            <a:r>
              <a:rPr lang="en-IN" dirty="0" err="1">
                <a:solidFill>
                  <a:srgbClr val="0000CC"/>
                </a:solidFill>
              </a:rPr>
              <a:t>very</a:t>
            </a:r>
            <a:r>
              <a:rPr lang="en-IN" dirty="0">
                <a:solidFill>
                  <a:srgbClr val="0000CC"/>
                </a:solidFill>
              </a:rPr>
              <a:t> important and widely used function</a:t>
            </a:r>
          </a:p>
          <a:p>
            <a:r>
              <a:rPr lang="en-IN" dirty="0">
                <a:solidFill>
                  <a:srgbClr val="0000CC"/>
                </a:solidFill>
              </a:rPr>
              <a:t>In physics it is used to model mass density/charge density of a point object</a:t>
            </a:r>
          </a:p>
          <a:p>
            <a:r>
              <a:rPr lang="en-IN" dirty="0">
                <a:solidFill>
                  <a:srgbClr val="0000CC"/>
                </a:solidFill>
              </a:rPr>
              <a:t>In signal processing it is used to model impulse</a:t>
            </a:r>
          </a:p>
          <a:p>
            <a:r>
              <a:rPr lang="en-IN" dirty="0" err="1">
                <a:solidFill>
                  <a:srgbClr val="0000CC"/>
                </a:solidFill>
              </a:rPr>
              <a:t>Kroncecker</a:t>
            </a:r>
            <a:r>
              <a:rPr lang="en-IN" dirty="0">
                <a:solidFill>
                  <a:srgbClr val="0000CC"/>
                </a:solidFill>
              </a:rPr>
              <a:t> delta function which is a discrete analogue of the Dirac delta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27FC-9F4D-4981-B3AF-9784C36C3BB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77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</TotalTime>
  <Words>968</Words>
  <Application>Microsoft Office PowerPoint</Application>
  <PresentationFormat>On-screen Show (4:3)</PresentationFormat>
  <Paragraphs>268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CMR8</vt:lpstr>
      <vt:lpstr>SFRM0800</vt:lpstr>
      <vt:lpstr>Wingdings</vt:lpstr>
      <vt:lpstr>Office Theme</vt:lpstr>
      <vt:lpstr>PowerPoint Presentation</vt:lpstr>
      <vt:lpstr>X-ray CT source-detector geometry</vt:lpstr>
      <vt:lpstr>Measurement setup</vt:lpstr>
      <vt:lpstr>Equation of a straight line</vt:lpstr>
      <vt:lpstr>Radon transformation</vt:lpstr>
      <vt:lpstr>Radon transformation</vt:lpstr>
      <vt:lpstr>Radon transformation</vt:lpstr>
      <vt:lpstr>Radon transformation</vt:lpstr>
      <vt:lpstr>BP image using all projections</vt:lpstr>
      <vt:lpstr>Important points</vt:lpstr>
      <vt:lpstr>Sinogram</vt:lpstr>
      <vt:lpstr>Sinogram</vt:lpstr>
      <vt:lpstr>PowerPoint Presentation</vt:lpstr>
      <vt:lpstr>Sinogram</vt:lpstr>
      <vt:lpstr>Sinogram</vt:lpstr>
      <vt:lpstr>Fourier slice theorem  or Central slice theorem  or Projection slice theorem</vt:lpstr>
      <vt:lpstr>Sinogram to image formation</vt:lpstr>
      <vt:lpstr>Illustration</vt:lpstr>
      <vt:lpstr>Illustration</vt:lpstr>
      <vt:lpstr>Application in image reconstruction</vt:lpstr>
      <vt:lpstr>The Fourier slice theorem step by step</vt:lpstr>
      <vt:lpstr>Step 1</vt:lpstr>
      <vt:lpstr>Step 2</vt:lpstr>
      <vt:lpstr>Step 3</vt:lpstr>
      <vt:lpstr>PowerPoint Presentation</vt:lpstr>
      <vt:lpstr>PowerPoint Presentation</vt:lpstr>
      <vt:lpstr>Dirac delta function</vt:lpstr>
      <vt:lpstr>Mathematical representation</vt:lpstr>
      <vt:lpstr>Common forms of the Dirac delta function</vt:lpstr>
      <vt:lpstr>Box function as a delta function</vt:lpstr>
      <vt:lpstr>Gaussian function as a delta function</vt:lpstr>
      <vt:lpstr>Lorentzian function as a delta function</vt:lpstr>
      <vt:lpstr>Triangular function as a delta function</vt:lpstr>
      <vt:lpstr>Integral representation of a delta function</vt:lpstr>
      <vt:lpstr>Some properties of the delta function</vt:lpstr>
      <vt:lpstr>Dirac comb</vt:lpstr>
      <vt:lpstr>Introduction to Delta function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MRI</dc:title>
  <dc:creator>Ratan</dc:creator>
  <cp:lastModifiedBy>Ratan Saha</cp:lastModifiedBy>
  <cp:revision>219</cp:revision>
  <dcterms:created xsi:type="dcterms:W3CDTF">2016-04-04T22:58:38Z</dcterms:created>
  <dcterms:modified xsi:type="dcterms:W3CDTF">2026-04-24T08:33:21Z</dcterms:modified>
</cp:coreProperties>
</file>