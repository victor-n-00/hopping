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78" r:id="rId2"/>
    <p:sldId id="287" r:id="rId3"/>
    <p:sldId id="286" r:id="rId4"/>
    <p:sldId id="283" r:id="rId5"/>
    <p:sldId id="280" r:id="rId6"/>
    <p:sldId id="288" r:id="rId7"/>
    <p:sldId id="282" r:id="rId8"/>
    <p:sldId id="289" r:id="rId9"/>
    <p:sldId id="284" r:id="rId10"/>
    <p:sldId id="285" r:id="rId11"/>
    <p:sldId id="294" r:id="rId12"/>
    <p:sldId id="292" r:id="rId13"/>
    <p:sldId id="293" r:id="rId14"/>
    <p:sldId id="295" r:id="rId15"/>
    <p:sldId id="296" r:id="rId16"/>
    <p:sldId id="29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E936FD-7219-48C6-86FB-C390A50A59E4}">
          <p14:sldIdLst>
            <p14:sldId id="278"/>
            <p14:sldId id="287"/>
            <p14:sldId id="286"/>
            <p14:sldId id="283"/>
            <p14:sldId id="280"/>
            <p14:sldId id="288"/>
            <p14:sldId id="282"/>
            <p14:sldId id="289"/>
            <p14:sldId id="284"/>
            <p14:sldId id="285"/>
            <p14:sldId id="294"/>
            <p14:sldId id="292"/>
            <p14:sldId id="293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33CC"/>
    <a:srgbClr val="CC0066"/>
    <a:srgbClr val="660066"/>
    <a:srgbClr val="666633"/>
    <a:srgbClr val="CC0000"/>
    <a:srgbClr val="D60093"/>
    <a:srgbClr val="CC6600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84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6B50-0230-47E8-A864-FB968740FB5D}" type="datetimeFigureOut">
              <a:rPr lang="en-IN" smtClean="0"/>
              <a:pPr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867D5-5CCD-4A59-AD28-D7646AD6612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58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053E-2376-4FDE-A97F-A81BA2E5D6BA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468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94895-1C4E-461B-B148-F8DDD3BE2262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8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3B760-EA83-44BA-B85E-EA08F3D60FBE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6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12A2-4463-4963-BF48-923D8AF1C0DC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8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96D8A-5605-4544-9DC8-746FB8357103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47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2C4C-1345-4E3F-BF94-9D96C33E7F67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593A-65C8-4B92-A308-44A50D57BF00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09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57CB-8B61-4E9C-96D2-31AABB1BF023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41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DAA69-F8E8-433B-AE22-B3CF941DDBFF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0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F375-2A72-4956-B92B-CD7D448DC34E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4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83D2-B445-4396-BA6A-656BD891FBA1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01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0807C-3CC4-4880-9EDC-96165A1056E4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4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emf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7.jpeg"/><Relationship Id="rId4" Type="http://schemas.openxmlformats.org/officeDocument/2006/relationships/image" Target="../media/image20.png"/><Relationship Id="rId9" Type="http://schemas.openxmlformats.org/officeDocument/2006/relationships/image" Target="../media/image24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7544" y="2492896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OCT</a:t>
            </a:r>
          </a:p>
        </p:txBody>
      </p:sp>
    </p:spTree>
    <p:extLst>
      <p:ext uri="{BB962C8B-B14F-4D97-AF65-F5344CB8AC3E}">
        <p14:creationId xmlns:p14="http://schemas.microsoft.com/office/powerpoint/2010/main" val="3177502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Eye/retina 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1950583"/>
            <a:ext cx="4572000" cy="4297817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Retina contains different types of cells arranged as layers.</a:t>
            </a:r>
          </a:p>
          <a:p>
            <a:r>
              <a:rPr lang="en-IN" dirty="0"/>
              <a:t>Rod, cones, ganglion and bipolar cells.</a:t>
            </a:r>
          </a:p>
          <a:p>
            <a:r>
              <a:rPr lang="en-IN" dirty="0"/>
              <a:t>Converts optical signal to neural signal.</a:t>
            </a:r>
          </a:p>
          <a:p>
            <a:r>
              <a:rPr lang="en-IN" dirty="0"/>
              <a:t>Optic nerve carries from retina to brain for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67"/>
          <a:stretch/>
        </p:blipFill>
        <p:spPr>
          <a:xfrm>
            <a:off x="228600" y="1353386"/>
            <a:ext cx="4191000" cy="515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6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0" t="8889" r="7553" b="61111"/>
          <a:stretch/>
        </p:blipFill>
        <p:spPr>
          <a:xfrm>
            <a:off x="838200" y="838200"/>
            <a:ext cx="7484533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1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 set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30722" name="Picture 2" descr="Image result for OCT instrumen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19200"/>
            <a:ext cx="3095625" cy="1905000"/>
          </a:xfrm>
          <a:prstGeom prst="rect">
            <a:avLst/>
          </a:prstGeom>
          <a:noFill/>
        </p:spPr>
      </p:pic>
      <p:pic>
        <p:nvPicPr>
          <p:cNvPr id="30724" name="Picture 4" descr="Image result for OCT instrumen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143000"/>
            <a:ext cx="3676650" cy="2505076"/>
          </a:xfrm>
          <a:prstGeom prst="rect">
            <a:avLst/>
          </a:prstGeom>
          <a:noFill/>
        </p:spPr>
      </p:pic>
      <p:pic>
        <p:nvPicPr>
          <p:cNvPr id="30726" name="Picture 6" descr="Image result for OCT instrumen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95475" y="3190302"/>
            <a:ext cx="4429125" cy="35777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435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of tissue layers with 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31746" name="Picture 2" descr="Image result for OCT in ophthalmolog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1219200"/>
            <a:ext cx="5715000" cy="2343151"/>
          </a:xfrm>
          <a:prstGeom prst="rect">
            <a:avLst/>
          </a:prstGeom>
          <a:noFill/>
        </p:spPr>
      </p:pic>
      <p:pic>
        <p:nvPicPr>
          <p:cNvPr id="31748" name="Picture 4" descr="Image result for OCT in ophthalmology"/>
          <p:cNvPicPr>
            <a:picLocks noChangeAspect="1" noChangeArrowheads="1"/>
          </p:cNvPicPr>
          <p:nvPr/>
        </p:nvPicPr>
        <p:blipFill>
          <a:blip r:embed="rId3"/>
          <a:srcRect l="42857"/>
          <a:stretch>
            <a:fillRect/>
          </a:stretch>
        </p:blipFill>
        <p:spPr bwMode="auto">
          <a:xfrm>
            <a:off x="304800" y="1219200"/>
            <a:ext cx="2743200" cy="2628900"/>
          </a:xfrm>
          <a:prstGeom prst="rect">
            <a:avLst/>
          </a:prstGeom>
          <a:noFill/>
        </p:spPr>
      </p:pic>
      <p:sp>
        <p:nvSpPr>
          <p:cNvPr id="31750" name="AutoShape 6" descr="Image result for OCT in ophthalmology"/>
          <p:cNvSpPr>
            <a:spLocks noChangeAspect="1" noChangeArrowheads="1"/>
          </p:cNvSpPr>
          <p:nvPr/>
        </p:nvSpPr>
        <p:spPr bwMode="auto">
          <a:xfrm>
            <a:off x="155575" y="-1706563"/>
            <a:ext cx="6867525" cy="35623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52" name="AutoShape 8" descr="Image result for OCT in ophthalmology"/>
          <p:cNvSpPr>
            <a:spLocks noChangeAspect="1" noChangeArrowheads="1"/>
          </p:cNvSpPr>
          <p:nvPr/>
        </p:nvSpPr>
        <p:spPr bwMode="auto">
          <a:xfrm>
            <a:off x="155575" y="-1706563"/>
            <a:ext cx="6867525" cy="35623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1754" name="Picture 10" descr="Image result for OCT in ophthalmology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4058072"/>
            <a:ext cx="4810125" cy="2495128"/>
          </a:xfrm>
          <a:prstGeom prst="rect">
            <a:avLst/>
          </a:prstGeom>
          <a:noFill/>
        </p:spPr>
      </p:pic>
      <p:pic>
        <p:nvPicPr>
          <p:cNvPr id="31756" name="Picture 12" descr="Related image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86400" y="4629149"/>
            <a:ext cx="2867025" cy="16954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296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2C445E-E702-06E8-6F97-A9B78070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18ED9-21EC-D7D6-7F3F-8C667B16B4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6665" r="5555" b="3334"/>
          <a:stretch/>
        </p:blipFill>
        <p:spPr>
          <a:xfrm>
            <a:off x="931353" y="-381000"/>
            <a:ext cx="3378222" cy="4800653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A575B6-5B8B-9EEE-DE09-6BFE3F530C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4" t="7507" r="5185" b="5826"/>
          <a:stretch/>
        </p:blipFill>
        <p:spPr>
          <a:xfrm>
            <a:off x="4191000" y="2514600"/>
            <a:ext cx="3259647" cy="4622818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86095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1285875" y="5526088"/>
            <a:ext cx="7886700" cy="1158875"/>
            <a:chOff x="714" y="3385"/>
            <a:chExt cx="4968" cy="730"/>
          </a:xfrm>
        </p:grpSpPr>
        <p:grpSp>
          <p:nvGrpSpPr>
            <p:cNvPr id="4101" name="Group 5"/>
            <p:cNvGrpSpPr>
              <a:grpSpLocks/>
            </p:cNvGrpSpPr>
            <p:nvPr/>
          </p:nvGrpSpPr>
          <p:grpSpPr bwMode="auto">
            <a:xfrm>
              <a:off x="714" y="3634"/>
              <a:ext cx="4445" cy="136"/>
              <a:chOff x="714" y="3634"/>
              <a:chExt cx="4445" cy="136"/>
            </a:xfrm>
          </p:grpSpPr>
          <p:sp>
            <p:nvSpPr>
              <p:cNvPr id="4102" name="Line 6"/>
              <p:cNvSpPr>
                <a:spLocks noChangeShapeType="1"/>
              </p:cNvSpPr>
              <p:nvPr/>
            </p:nvSpPr>
            <p:spPr bwMode="auto">
              <a:xfrm rot="5400000">
                <a:off x="2025" y="3702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03" name="Line 7"/>
              <p:cNvSpPr>
                <a:spLocks noChangeShapeType="1"/>
              </p:cNvSpPr>
              <p:nvPr/>
            </p:nvSpPr>
            <p:spPr bwMode="auto">
              <a:xfrm rot="5400000">
                <a:off x="3393" y="3702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04" name="Line 8"/>
              <p:cNvSpPr>
                <a:spLocks noChangeShapeType="1"/>
              </p:cNvSpPr>
              <p:nvPr/>
            </p:nvSpPr>
            <p:spPr bwMode="auto">
              <a:xfrm rot="5400000">
                <a:off x="4762" y="3702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05" name="Line 9"/>
              <p:cNvSpPr>
                <a:spLocks noChangeAspect="1" noChangeShapeType="1"/>
              </p:cNvSpPr>
              <p:nvPr/>
            </p:nvSpPr>
            <p:spPr bwMode="auto">
              <a:xfrm>
                <a:off x="714" y="3702"/>
                <a:ext cx="44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106" name="Rectangle 10"/>
            <p:cNvSpPr>
              <a:spLocks noChangeArrowheads="1"/>
            </p:cNvSpPr>
            <p:nvPr/>
          </p:nvSpPr>
          <p:spPr bwMode="auto">
            <a:xfrm>
              <a:off x="1791" y="3884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>
                  <a:cs typeface="Times New Roman" panose="02020603050405020304" pitchFamily="18" charset="0"/>
                </a:rPr>
                <a:t>1 mm</a:t>
              </a:r>
            </a:p>
          </p:txBody>
        </p:sp>
        <p:sp>
          <p:nvSpPr>
            <p:cNvPr id="4107" name="Rectangle 11"/>
            <p:cNvSpPr>
              <a:spLocks noChangeArrowheads="1"/>
            </p:cNvSpPr>
            <p:nvPr/>
          </p:nvSpPr>
          <p:spPr bwMode="auto">
            <a:xfrm>
              <a:off x="3166" y="3884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>
                  <a:cs typeface="Times New Roman" panose="02020603050405020304" pitchFamily="18" charset="0"/>
                </a:rPr>
                <a:t>1 cm</a:t>
              </a:r>
            </a:p>
          </p:txBody>
        </p:sp>
        <p:sp>
          <p:nvSpPr>
            <p:cNvPr id="4108" name="Rectangle 12"/>
            <p:cNvSpPr>
              <a:spLocks noChangeArrowheads="1"/>
            </p:cNvSpPr>
            <p:nvPr/>
          </p:nvSpPr>
          <p:spPr bwMode="auto">
            <a:xfrm>
              <a:off x="4527" y="3884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en-US">
                  <a:cs typeface="Times New Roman" panose="02020603050405020304" pitchFamily="18" charset="0"/>
                </a:rPr>
                <a:t>10 cm</a:t>
              </a:r>
            </a:p>
          </p:txBody>
        </p:sp>
        <p:sp>
          <p:nvSpPr>
            <p:cNvPr id="4109" name="Rectangle 13"/>
            <p:cNvSpPr>
              <a:spLocks noChangeArrowheads="1"/>
            </p:cNvSpPr>
            <p:nvPr/>
          </p:nvSpPr>
          <p:spPr bwMode="auto">
            <a:xfrm>
              <a:off x="4102" y="3385"/>
              <a:ext cx="15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>
                  <a:cs typeface="Times New Roman" panose="02020603050405020304" pitchFamily="18" charset="0"/>
                </a:rPr>
                <a:t>Penetration depth (log)</a:t>
              </a:r>
            </a:p>
          </p:txBody>
        </p:sp>
      </p:grpSp>
      <p:grpSp>
        <p:nvGrpSpPr>
          <p:cNvPr id="4110" name="Group 14"/>
          <p:cNvGrpSpPr>
            <a:grpSpLocks/>
          </p:cNvGrpSpPr>
          <p:nvPr/>
        </p:nvGrpSpPr>
        <p:grpSpPr bwMode="auto">
          <a:xfrm>
            <a:off x="152400" y="1420813"/>
            <a:ext cx="2146300" cy="4610100"/>
            <a:chOff x="0" y="799"/>
            <a:chExt cx="1352" cy="2904"/>
          </a:xfrm>
        </p:grpSpPr>
        <p:sp>
          <p:nvSpPr>
            <p:cNvPr id="4111" name="Line 15"/>
            <p:cNvSpPr>
              <a:spLocks noChangeAspect="1" noChangeShapeType="1"/>
            </p:cNvSpPr>
            <p:nvPr/>
          </p:nvSpPr>
          <p:spPr bwMode="auto">
            <a:xfrm flipV="1">
              <a:off x="725" y="1026"/>
              <a:ext cx="0" cy="26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2" name="Line 16"/>
            <p:cNvSpPr>
              <a:spLocks noChangeShapeType="1"/>
            </p:cNvSpPr>
            <p:nvPr/>
          </p:nvSpPr>
          <p:spPr bwMode="auto">
            <a:xfrm>
              <a:off x="657" y="1207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3" name="Line 17"/>
            <p:cNvSpPr>
              <a:spLocks noChangeShapeType="1"/>
            </p:cNvSpPr>
            <p:nvPr/>
          </p:nvSpPr>
          <p:spPr bwMode="auto">
            <a:xfrm>
              <a:off x="657" y="1830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4" name="Line 18"/>
            <p:cNvSpPr>
              <a:spLocks noChangeShapeType="1"/>
            </p:cNvSpPr>
            <p:nvPr/>
          </p:nvSpPr>
          <p:spPr bwMode="auto">
            <a:xfrm>
              <a:off x="657" y="2454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5" name="Line 19"/>
            <p:cNvSpPr>
              <a:spLocks noChangeShapeType="1"/>
            </p:cNvSpPr>
            <p:nvPr/>
          </p:nvSpPr>
          <p:spPr bwMode="auto">
            <a:xfrm>
              <a:off x="657" y="3078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16" name="Rectangle 20"/>
            <p:cNvSpPr>
              <a:spLocks noChangeArrowheads="1"/>
            </p:cNvSpPr>
            <p:nvPr/>
          </p:nvSpPr>
          <p:spPr bwMode="auto">
            <a:xfrm>
              <a:off x="23" y="2976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r" eaLnBrk="0" hangingPunct="0"/>
              <a:r>
                <a:rPr lang="en-US">
                  <a:cs typeface="Times New Roman" panose="02020603050405020304" pitchFamily="18" charset="0"/>
                </a:rPr>
                <a:t>1 </a:t>
              </a:r>
              <a:r>
                <a:rPr lang="en-US">
                  <a:latin typeface="Symbol" panose="05050102010706020507" pitchFamily="18" charset="2"/>
                  <a:cs typeface="Times New Roman" panose="02020603050405020304" pitchFamily="18" charset="0"/>
                </a:rPr>
                <a:t>m</a:t>
              </a:r>
              <a:r>
                <a:rPr lang="en-US"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4117" name="Rectangle 21"/>
            <p:cNvSpPr>
              <a:spLocks noChangeArrowheads="1"/>
            </p:cNvSpPr>
            <p:nvPr/>
          </p:nvSpPr>
          <p:spPr bwMode="auto">
            <a:xfrm>
              <a:off x="23" y="2352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r" eaLnBrk="0" hangingPunct="0"/>
              <a:r>
                <a:rPr lang="en-US">
                  <a:cs typeface="Times New Roman" panose="02020603050405020304" pitchFamily="18" charset="0"/>
                </a:rPr>
                <a:t>10 </a:t>
              </a:r>
              <a:r>
                <a:rPr lang="en-US">
                  <a:latin typeface="Symbol" panose="05050102010706020507" pitchFamily="18" charset="2"/>
                  <a:cs typeface="Times New Roman" panose="02020603050405020304" pitchFamily="18" charset="0"/>
                </a:rPr>
                <a:t>m</a:t>
              </a:r>
              <a:r>
                <a:rPr lang="en-US"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4118" name="Rectangle 22"/>
            <p:cNvSpPr>
              <a:spLocks noChangeArrowheads="1"/>
            </p:cNvSpPr>
            <p:nvPr/>
          </p:nvSpPr>
          <p:spPr bwMode="auto">
            <a:xfrm>
              <a:off x="0" y="1728"/>
              <a:ext cx="5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r" eaLnBrk="0" hangingPunct="0"/>
              <a:r>
                <a:rPr lang="en-US">
                  <a:cs typeface="Times New Roman" panose="02020603050405020304" pitchFamily="18" charset="0"/>
                </a:rPr>
                <a:t>100 </a:t>
              </a:r>
              <a:r>
                <a:rPr lang="en-US">
                  <a:latin typeface="Symbol" panose="05050102010706020507" pitchFamily="18" charset="2"/>
                  <a:cs typeface="Times New Roman" panose="02020603050405020304" pitchFamily="18" charset="0"/>
                </a:rPr>
                <a:t>m</a:t>
              </a:r>
              <a:r>
                <a:rPr lang="en-US"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4119" name="Rectangle 23"/>
            <p:cNvSpPr>
              <a:spLocks noChangeArrowheads="1"/>
            </p:cNvSpPr>
            <p:nvPr/>
          </p:nvSpPr>
          <p:spPr bwMode="auto">
            <a:xfrm>
              <a:off x="23" y="1105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r" eaLnBrk="0" hangingPunct="0"/>
              <a:r>
                <a:rPr lang="en-US">
                  <a:cs typeface="Times New Roman" panose="02020603050405020304" pitchFamily="18" charset="0"/>
                </a:rPr>
                <a:t>1 mm</a:t>
              </a:r>
            </a:p>
          </p:txBody>
        </p:sp>
        <p:sp>
          <p:nvSpPr>
            <p:cNvPr id="4120" name="Rectangle 24"/>
            <p:cNvSpPr>
              <a:spLocks noChangeArrowheads="1"/>
            </p:cNvSpPr>
            <p:nvPr/>
          </p:nvSpPr>
          <p:spPr bwMode="auto">
            <a:xfrm>
              <a:off x="228" y="799"/>
              <a:ext cx="11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>
                  <a:cs typeface="Times New Roman" panose="02020603050405020304" pitchFamily="18" charset="0"/>
                </a:rPr>
                <a:t>Resolution (log)</a:t>
              </a:r>
            </a:p>
          </p:txBody>
        </p:sp>
      </p:grpSp>
      <p:sp>
        <p:nvSpPr>
          <p:cNvPr id="4121" name="Oval 25"/>
          <p:cNvSpPr>
            <a:spLocks noChangeArrowheads="1"/>
          </p:cNvSpPr>
          <p:nvPr/>
        </p:nvSpPr>
        <p:spPr bwMode="auto">
          <a:xfrm>
            <a:off x="2708275" y="3797300"/>
            <a:ext cx="1295400" cy="1231900"/>
          </a:xfrm>
          <a:prstGeom prst="ellipse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>
                <a:cs typeface="Times New Roman" panose="02020603050405020304" pitchFamily="18" charset="0"/>
              </a:rPr>
              <a:t>OCT</a:t>
            </a:r>
          </a:p>
        </p:txBody>
      </p:sp>
      <p:grpSp>
        <p:nvGrpSpPr>
          <p:cNvPr id="4122" name="Group 26"/>
          <p:cNvGrpSpPr>
            <a:grpSpLocks/>
          </p:cNvGrpSpPr>
          <p:nvPr/>
        </p:nvGrpSpPr>
        <p:grpSpPr bwMode="auto">
          <a:xfrm>
            <a:off x="1411288" y="4013200"/>
            <a:ext cx="1339850" cy="1223963"/>
            <a:chOff x="793" y="2432"/>
            <a:chExt cx="844" cy="771"/>
          </a:xfrm>
        </p:grpSpPr>
        <p:sp>
          <p:nvSpPr>
            <p:cNvPr id="4123" name="Oval 27"/>
            <p:cNvSpPr>
              <a:spLocks noChangeArrowheads="1"/>
            </p:cNvSpPr>
            <p:nvPr/>
          </p:nvSpPr>
          <p:spPr bwMode="auto">
            <a:xfrm>
              <a:off x="1247" y="2795"/>
              <a:ext cx="227" cy="408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24" name="Text Box 28"/>
            <p:cNvSpPr txBox="1">
              <a:spLocks noChangeArrowheads="1"/>
            </p:cNvSpPr>
            <p:nvPr/>
          </p:nvSpPr>
          <p:spPr bwMode="auto">
            <a:xfrm>
              <a:off x="793" y="2432"/>
              <a:ext cx="84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cs typeface="Times New Roman" panose="02020603050405020304" pitchFamily="18" charset="0"/>
                </a:rPr>
                <a:t>Confocal</a:t>
              </a:r>
              <a:br>
                <a:rPr lang="en-US">
                  <a:cs typeface="Times New Roman" panose="02020603050405020304" pitchFamily="18" charset="0"/>
                </a:rPr>
              </a:br>
              <a:r>
                <a:rPr lang="en-US">
                  <a:cs typeface="Times New Roman" panose="02020603050405020304" pitchFamily="18" charset="0"/>
                </a:rPr>
                <a:t>microscopy</a:t>
              </a:r>
            </a:p>
          </p:txBody>
        </p:sp>
      </p:grpSp>
      <p:grpSp>
        <p:nvGrpSpPr>
          <p:cNvPr id="4125" name="Group 29"/>
          <p:cNvGrpSpPr>
            <a:grpSpLocks/>
          </p:cNvGrpSpPr>
          <p:nvPr/>
        </p:nvGrpSpPr>
        <p:grpSpPr bwMode="auto">
          <a:xfrm>
            <a:off x="3140075" y="1709738"/>
            <a:ext cx="4464050" cy="1800225"/>
            <a:chOff x="1882" y="981"/>
            <a:chExt cx="2812" cy="1134"/>
          </a:xfrm>
        </p:grpSpPr>
        <p:sp>
          <p:nvSpPr>
            <p:cNvPr id="4126" name="Oval 30"/>
            <p:cNvSpPr>
              <a:spLocks noChangeArrowheads="1"/>
            </p:cNvSpPr>
            <p:nvPr/>
          </p:nvSpPr>
          <p:spPr bwMode="auto">
            <a:xfrm rot="-1723142">
              <a:off x="1882" y="981"/>
              <a:ext cx="2812" cy="113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27" name="Text Box 31"/>
            <p:cNvSpPr txBox="1">
              <a:spLocks noChangeArrowheads="1"/>
            </p:cNvSpPr>
            <p:nvPr/>
          </p:nvSpPr>
          <p:spPr bwMode="auto">
            <a:xfrm>
              <a:off x="2925" y="1434"/>
              <a:ext cx="8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cs typeface="Times New Roman" panose="02020603050405020304" pitchFamily="18" charset="0"/>
                </a:rPr>
                <a:t>Ultrasound</a:t>
              </a:r>
            </a:p>
          </p:txBody>
        </p:sp>
      </p:grpSp>
      <p:sp>
        <p:nvSpPr>
          <p:cNvPr id="4128" name="Text Box 32"/>
          <p:cNvSpPr txBox="1">
            <a:spLocks noChangeArrowheads="1"/>
          </p:cNvSpPr>
          <p:nvPr/>
        </p:nvSpPr>
        <p:spPr bwMode="auto">
          <a:xfrm>
            <a:off x="7113588" y="1839913"/>
            <a:ext cx="1111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cs typeface="Times New Roman" panose="02020603050405020304" pitchFamily="18" charset="0"/>
              </a:rPr>
              <a:t>Standard</a:t>
            </a:r>
            <a:br>
              <a:rPr lang="en-US">
                <a:cs typeface="Times New Roman" panose="02020603050405020304" pitchFamily="18" charset="0"/>
              </a:rPr>
            </a:br>
            <a:r>
              <a:rPr lang="en-US">
                <a:cs typeface="Times New Roman" panose="02020603050405020304" pitchFamily="18" charset="0"/>
              </a:rPr>
              <a:t>clinical</a:t>
            </a:r>
          </a:p>
        </p:txBody>
      </p:sp>
      <p:sp>
        <p:nvSpPr>
          <p:cNvPr id="4129" name="Text Box 33"/>
          <p:cNvSpPr txBox="1">
            <a:spLocks noChangeArrowheads="1"/>
          </p:cNvSpPr>
          <p:nvPr/>
        </p:nvSpPr>
        <p:spPr bwMode="auto">
          <a:xfrm>
            <a:off x="2347913" y="2717800"/>
            <a:ext cx="1187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cs typeface="Times New Roman" panose="02020603050405020304" pitchFamily="18" charset="0"/>
              </a:rPr>
              <a:t>High</a:t>
            </a:r>
            <a:br>
              <a:rPr lang="en-US">
                <a:cs typeface="Times New Roman" panose="02020603050405020304" pitchFamily="18" charset="0"/>
              </a:rPr>
            </a:br>
            <a:r>
              <a:rPr lang="en-US">
                <a:cs typeface="Times New Roman" panose="02020603050405020304" pitchFamily="18" charset="0"/>
              </a:rPr>
              <a:t>frequency</a:t>
            </a:r>
          </a:p>
        </p:txBody>
      </p:sp>
      <p:sp>
        <p:nvSpPr>
          <p:cNvPr id="4130" name="Rectangle 34"/>
          <p:cNvSpPr>
            <a:spLocks noChangeArrowheads="1"/>
          </p:cNvSpPr>
          <p:nvPr/>
        </p:nvSpPr>
        <p:spPr bwMode="auto">
          <a:xfrm>
            <a:off x="838200" y="484188"/>
            <a:ext cx="6629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a-DK"/>
              <a:t>OCT vs. standard imaging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7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 tmFilter="0,0; .5, 1; 1, 1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150"/>
                            </p:stCondLst>
                            <p:childTnLst>
                              <p:par>
                                <p:cTn id="3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 tmFilter="0,0; .5, 1; 1, 1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1" grpId="0" animBg="1"/>
      <p:bldP spid="4128" grpId="0"/>
      <p:bldP spid="41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7544" y="2492896"/>
            <a:ext cx="8229600" cy="1143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0000CC"/>
                </a:solidFill>
              </a:rPr>
              <a:t>Time domain optical coherence tomography</a:t>
            </a:r>
          </a:p>
        </p:txBody>
      </p:sp>
    </p:spTree>
    <p:extLst>
      <p:ext uri="{BB962C8B-B14F-4D97-AF65-F5344CB8AC3E}">
        <p14:creationId xmlns:p14="http://schemas.microsoft.com/office/powerpoint/2010/main" val="74006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Michelson Morley Experiment</a:t>
            </a:r>
            <a:br>
              <a:rPr lang="en-IN" dirty="0"/>
            </a:br>
            <a:r>
              <a:rPr lang="en-IN" dirty="0"/>
              <a:t>Set up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114729"/>
            <a:ext cx="41910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124200"/>
            <a:ext cx="205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was performed to prove Einstein’s special theory of relativity.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45720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Laser Interferometer </a:t>
            </a:r>
          </a:p>
          <a:p>
            <a:r>
              <a:rPr lang="en-IN" b="1" dirty="0"/>
              <a:t>Gravitational-Wave Observatory</a:t>
            </a:r>
            <a:r>
              <a:rPr lang="en-IN" dirty="0"/>
              <a:t> (</a:t>
            </a:r>
            <a:r>
              <a:rPr lang="en-IN" b="1" dirty="0"/>
              <a:t>LIGO</a:t>
            </a:r>
            <a:r>
              <a:rPr lang="en-IN"/>
              <a:t>) </a:t>
            </a:r>
          </a:p>
          <a:p>
            <a:r>
              <a:rPr lang="en-IN"/>
              <a:t>Arm length = 4 km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942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28"/>
          <a:stretch/>
        </p:blipFill>
        <p:spPr>
          <a:xfrm>
            <a:off x="2416968" y="1881981"/>
            <a:ext cx="4310063" cy="401002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Michelson Morley Experiment</a:t>
            </a:r>
            <a:br>
              <a:rPr lang="en-IN" dirty="0"/>
            </a:br>
            <a:r>
              <a:rPr lang="en-IN" dirty="0"/>
              <a:t>Set up 2</a:t>
            </a:r>
          </a:p>
        </p:txBody>
      </p:sp>
    </p:spTree>
    <p:extLst>
      <p:ext uri="{BB962C8B-B14F-4D97-AF65-F5344CB8AC3E}">
        <p14:creationId xmlns:p14="http://schemas.microsoft.com/office/powerpoint/2010/main" val="4165210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DDE3-C818-2F85-5E03-D92801A4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ring- Fringe pattern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0662F-5DA3-4663-67E5-2085925C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1026" name="Picture 2" descr="Newton's rings experiment">
            <a:extLst>
              <a:ext uri="{FF2B5EF4-FFF2-40B4-BE49-F238E27FC236}">
                <a16:creationId xmlns:a16="http://schemas.microsoft.com/office/drawing/2014/main" id="{4E1004AE-8D25-A6B5-814E-E5CE69698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600200"/>
            <a:ext cx="381000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wtons Rings Diagram Isolated On Black Stock Vector (Royalty Free)  2225562835 | Shutterstock">
            <a:extLst>
              <a:ext uri="{FF2B5EF4-FFF2-40B4-BE49-F238E27FC236}">
                <a16:creationId xmlns:a16="http://schemas.microsoft.com/office/drawing/2014/main" id="{1FC49093-9DCE-2215-92CC-6407A3FAD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35718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0DF60-296E-BB93-6CFA-74B20FA23815}"/>
              </a:ext>
            </a:extLst>
          </p:cNvPr>
          <p:cNvSpPr txBox="1"/>
          <p:nvPr/>
        </p:nvSpPr>
        <p:spPr>
          <a:xfrm>
            <a:off x="685800" y="5615582"/>
            <a:ext cx="716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A thin, varying air film forms between a plano-convex lens and a glass plate. When monochromatic light is shone vertically, light reflecting from the top (air-to-glass) and bottom (glass-to-air) of the air film interferes.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E0CB11-1058-EA3F-35AF-7977517B21E0}"/>
              </a:ext>
            </a:extLst>
          </p:cNvPr>
          <p:cNvCxnSpPr/>
          <p:nvPr/>
        </p:nvCxnSpPr>
        <p:spPr>
          <a:xfrm flipV="1">
            <a:off x="4876800" y="4343400"/>
            <a:ext cx="1676400" cy="1219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903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OCT set up with </a:t>
            </a:r>
            <a:r>
              <a:rPr lang="en-IN" dirty="0" err="1"/>
              <a:t>fiber</a:t>
            </a:r>
            <a:r>
              <a:rPr lang="en-IN" dirty="0"/>
              <a:t>-optic delivery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782989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921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/>
              <a:t>Michelson Morley Experiment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5" t="67227" r="50512" b="11747"/>
          <a:stretch/>
        </p:blipFill>
        <p:spPr bwMode="auto">
          <a:xfrm>
            <a:off x="2438400" y="1600200"/>
            <a:ext cx="3886200" cy="3466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648200" y="3142186"/>
            <a:ext cx="333746" cy="3385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IN" sz="1600" dirty="0"/>
              <a:t>L</a:t>
            </a:r>
            <a:r>
              <a:rPr lang="en-IN" sz="1600" baseline="-25000" dirty="0"/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0" y="2266435"/>
            <a:ext cx="344966" cy="3385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IN" sz="1600" dirty="0"/>
              <a:t>L</a:t>
            </a:r>
            <a:r>
              <a:rPr lang="en-IN" sz="1600" baseline="-25000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763235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/>
              <a:t>Michelson Morley Experiment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750152"/>
            <a:ext cx="24765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386" y="2322848"/>
            <a:ext cx="2566080" cy="451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276" y="2938440"/>
            <a:ext cx="3162300" cy="695325"/>
          </a:xfrm>
          <a:prstGeom prst="rect">
            <a:avLst/>
          </a:prstGeom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5" t="67227" r="50512" b="11747"/>
          <a:stretch/>
        </p:blipFill>
        <p:spPr bwMode="auto">
          <a:xfrm>
            <a:off x="304800" y="1295400"/>
            <a:ext cx="3886200" cy="3466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534031" y="2824294"/>
            <a:ext cx="333746" cy="3385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IN" sz="1600" dirty="0"/>
              <a:t>L</a:t>
            </a:r>
            <a:r>
              <a:rPr lang="en-IN" sz="1600" baseline="-25000" dirty="0"/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1995180"/>
            <a:ext cx="344966" cy="3385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IN" sz="1600" dirty="0"/>
              <a:t>L</a:t>
            </a:r>
            <a:r>
              <a:rPr lang="en-IN" sz="1600" baseline="-25000" dirty="0"/>
              <a:t>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848473"/>
            <a:ext cx="4320000" cy="27494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0542" y="4208960"/>
            <a:ext cx="3600000" cy="38500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8000" y="6136723"/>
            <a:ext cx="5403600" cy="34027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7457" y="5214728"/>
            <a:ext cx="5022000" cy="3381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15598" y="4761684"/>
            <a:ext cx="2566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Constructive interference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1180" y="5657805"/>
            <a:ext cx="2457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Destructive interference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035" y="5425779"/>
            <a:ext cx="2336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Long coherence length</a:t>
            </a:r>
          </a:p>
        </p:txBody>
      </p:sp>
    </p:spTree>
    <p:extLst>
      <p:ext uri="{BB962C8B-B14F-4D97-AF65-F5344CB8AC3E}">
        <p14:creationId xmlns:p14="http://schemas.microsoft.com/office/powerpoint/2010/main" val="1605882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937"/>
          <a:stretch>
            <a:fillRect/>
          </a:stretch>
        </p:blipFill>
        <p:spPr bwMode="auto">
          <a:xfrm>
            <a:off x="0" y="0"/>
            <a:ext cx="914400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5800" y="5867400"/>
            <a:ext cx="2357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Short coherence length</a:t>
            </a:r>
          </a:p>
        </p:txBody>
      </p:sp>
    </p:spTree>
    <p:extLst>
      <p:ext uri="{BB962C8B-B14F-4D97-AF65-F5344CB8AC3E}">
        <p14:creationId xmlns:p14="http://schemas.microsoft.com/office/powerpoint/2010/main" val="1233857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209800"/>
            <a:ext cx="4334256" cy="3156943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63976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Phase change of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4780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</a:t>
            </a:r>
            <a:r>
              <a:rPr lang="en-IN" baseline="-25000" dirty="0"/>
              <a:t>2</a:t>
            </a:r>
            <a:r>
              <a:rPr lang="en-IN" dirty="0"/>
              <a:t>&gt;n</a:t>
            </a:r>
            <a:r>
              <a:rPr lang="en-IN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731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224</Words>
  <Application>Microsoft Office PowerPoint</Application>
  <PresentationFormat>On-screen Show (4:3)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Google Sans</vt:lpstr>
      <vt:lpstr>Symbol</vt:lpstr>
      <vt:lpstr>Times New Roman</vt:lpstr>
      <vt:lpstr>Office Theme</vt:lpstr>
      <vt:lpstr>PowerPoint Presentation</vt:lpstr>
      <vt:lpstr>Eye/retina imaging</vt:lpstr>
      <vt:lpstr>PowerPoint Presentation</vt:lpstr>
      <vt:lpstr>OCT set up</vt:lpstr>
      <vt:lpstr>Visualization of tissue layers with OCT</vt:lpstr>
      <vt:lpstr>PowerPoint Presentation</vt:lpstr>
      <vt:lpstr>PowerPoint Presentation</vt:lpstr>
      <vt:lpstr>PowerPoint Presentation</vt:lpstr>
      <vt:lpstr>Michelson Morley Experiment Set up 1</vt:lpstr>
      <vt:lpstr>Michelson Morley Experiment Set up 2</vt:lpstr>
      <vt:lpstr>Newton’s ring- Fringe pattern</vt:lpstr>
      <vt:lpstr>OCT set up with fiber-optic delivery</vt:lpstr>
      <vt:lpstr>Michelson Morley Experiment</vt:lpstr>
      <vt:lpstr>Michelson Morley Experiment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MRI</dc:title>
  <dc:creator>Ratan</dc:creator>
  <cp:lastModifiedBy>Ratan Saha</cp:lastModifiedBy>
  <cp:revision>70</cp:revision>
  <dcterms:created xsi:type="dcterms:W3CDTF">2016-04-04T22:58:38Z</dcterms:created>
  <dcterms:modified xsi:type="dcterms:W3CDTF">2026-04-07T08:54:24Z</dcterms:modified>
</cp:coreProperties>
</file>