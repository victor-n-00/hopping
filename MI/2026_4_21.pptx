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54"/>
  </p:notesMasterIdLst>
  <p:sldIdLst>
    <p:sldId id="263" r:id="rId2"/>
    <p:sldId id="269" r:id="rId3"/>
    <p:sldId id="275" r:id="rId4"/>
    <p:sldId id="283" r:id="rId5"/>
    <p:sldId id="282" r:id="rId6"/>
    <p:sldId id="271" r:id="rId7"/>
    <p:sldId id="272" r:id="rId8"/>
    <p:sldId id="273" r:id="rId9"/>
    <p:sldId id="274" r:id="rId10"/>
    <p:sldId id="277" r:id="rId11"/>
    <p:sldId id="276" r:id="rId12"/>
    <p:sldId id="278" r:id="rId13"/>
    <p:sldId id="280" r:id="rId14"/>
    <p:sldId id="284" r:id="rId15"/>
    <p:sldId id="256" r:id="rId16"/>
    <p:sldId id="289" r:id="rId17"/>
    <p:sldId id="290" r:id="rId18"/>
    <p:sldId id="291" r:id="rId19"/>
    <p:sldId id="292" r:id="rId20"/>
    <p:sldId id="293" r:id="rId21"/>
    <p:sldId id="294" r:id="rId22"/>
    <p:sldId id="270" r:id="rId23"/>
    <p:sldId id="295" r:id="rId24"/>
    <p:sldId id="296" r:id="rId25"/>
    <p:sldId id="297" r:id="rId26"/>
    <p:sldId id="298" r:id="rId27"/>
    <p:sldId id="299" r:id="rId28"/>
    <p:sldId id="300" r:id="rId29"/>
    <p:sldId id="301" r:id="rId30"/>
    <p:sldId id="279" r:id="rId31"/>
    <p:sldId id="302" r:id="rId32"/>
    <p:sldId id="281" r:id="rId33"/>
    <p:sldId id="303" r:id="rId34"/>
    <p:sldId id="304" r:id="rId35"/>
    <p:sldId id="305" r:id="rId36"/>
    <p:sldId id="285" r:id="rId37"/>
    <p:sldId id="286" r:id="rId38"/>
    <p:sldId id="287" r:id="rId39"/>
    <p:sldId id="288" r:id="rId40"/>
    <p:sldId id="306" r:id="rId41"/>
    <p:sldId id="257" r:id="rId42"/>
    <p:sldId id="258" r:id="rId43"/>
    <p:sldId id="259" r:id="rId44"/>
    <p:sldId id="260" r:id="rId45"/>
    <p:sldId id="261" r:id="rId46"/>
    <p:sldId id="262" r:id="rId47"/>
    <p:sldId id="307" r:id="rId48"/>
    <p:sldId id="264" r:id="rId49"/>
    <p:sldId id="265" r:id="rId50"/>
    <p:sldId id="266" r:id="rId51"/>
    <p:sldId id="267" r:id="rId52"/>
    <p:sldId id="268" r:id="rId5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8000"/>
    <a:srgbClr val="990000"/>
    <a:srgbClr val="3333CC"/>
    <a:srgbClr val="000099"/>
    <a:srgbClr val="0000FF"/>
    <a:srgbClr val="0066CC"/>
    <a:srgbClr val="669900"/>
    <a:srgbClr val="0099FF"/>
    <a:srgbClr val="00CC99"/>
    <a:srgbClr val="66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5620"/>
    <p:restoredTop sz="94660"/>
  </p:normalViewPr>
  <p:slideViewPr>
    <p:cSldViewPr>
      <p:cViewPr varScale="1">
        <p:scale>
          <a:sx n="83" d="100"/>
          <a:sy n="83" d="100"/>
        </p:scale>
        <p:origin x="1560" y="84"/>
      </p:cViewPr>
      <p:guideLst>
        <p:guide orient="horz" pos="2160"/>
        <p:guide pos="2880"/>
      </p:guideLst>
    </p:cSldViewPr>
  </p:slideViewPr>
  <p:notesTextViewPr>
    <p:cViewPr>
      <p:scale>
        <a:sx n="1" d="1"/>
        <a:sy n="1" d="1"/>
      </p:scale>
      <p:origin x="0" y="0"/>
    </p:cViewPr>
  </p:notesTextViewPr>
  <p:sorterViewPr>
    <p:cViewPr varScale="1">
      <p:scale>
        <a:sx n="100" d="100"/>
        <a:sy n="100" d="100"/>
      </p:scale>
      <p:origin x="0" y="-8616"/>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D69E15D-8427-412C-892F-74319081038D}" type="datetimeFigureOut">
              <a:rPr lang="en-IN" smtClean="0"/>
              <a:pPr/>
              <a:t>21-04-2026</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3FBA1FD-1AF5-4F45-B8CD-4AB4C67330F0}" type="slidenum">
              <a:rPr lang="en-IN" smtClean="0"/>
              <a:pPr/>
              <a:t>‹#›</a:t>
            </a:fld>
            <a:endParaRPr lang="en-IN"/>
          </a:p>
        </p:txBody>
      </p:sp>
    </p:spTree>
    <p:extLst>
      <p:ext uri="{BB962C8B-B14F-4D97-AF65-F5344CB8AC3E}">
        <p14:creationId xmlns:p14="http://schemas.microsoft.com/office/powerpoint/2010/main" val="38180322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have to add some introduction </a:t>
            </a:r>
          </a:p>
          <a:p>
            <a:r>
              <a:rPr lang="en-US" dirty="0"/>
              <a:t>History of</a:t>
            </a:r>
            <a:r>
              <a:rPr lang="en-US" baseline="0" dirty="0"/>
              <a:t> gamma camera and uses </a:t>
            </a:r>
            <a:endParaRPr lang="en-US" dirty="0"/>
          </a:p>
        </p:txBody>
      </p:sp>
      <p:sp>
        <p:nvSpPr>
          <p:cNvPr id="4" name="Slide Number Placeholder 3"/>
          <p:cNvSpPr>
            <a:spLocks noGrp="1"/>
          </p:cNvSpPr>
          <p:nvPr>
            <p:ph type="sldNum" sz="quarter" idx="10"/>
          </p:nvPr>
        </p:nvSpPr>
        <p:spPr/>
        <p:txBody>
          <a:bodyPr/>
          <a:lstStyle/>
          <a:p>
            <a:fld id="{17902652-3776-4AAB-9293-98E5538039A4}" type="slidenum">
              <a:rPr lang="en-US" smtClean="0"/>
              <a:pPr/>
              <a:t>46</a:t>
            </a:fld>
            <a:endParaRPr lang="en-US"/>
          </a:p>
        </p:txBody>
      </p:sp>
    </p:spTree>
    <p:extLst>
      <p:ext uri="{BB962C8B-B14F-4D97-AF65-F5344CB8AC3E}">
        <p14:creationId xmlns:p14="http://schemas.microsoft.com/office/powerpoint/2010/main" val="24142206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have to add some introduction </a:t>
            </a:r>
          </a:p>
          <a:p>
            <a:r>
              <a:rPr lang="en-US" dirty="0"/>
              <a:t>History of</a:t>
            </a:r>
            <a:r>
              <a:rPr lang="en-US" baseline="0" dirty="0"/>
              <a:t> gamma camera and uses </a:t>
            </a:r>
            <a:endParaRPr lang="en-US" dirty="0"/>
          </a:p>
        </p:txBody>
      </p:sp>
      <p:sp>
        <p:nvSpPr>
          <p:cNvPr id="4" name="Slide Number Placeholder 3"/>
          <p:cNvSpPr>
            <a:spLocks noGrp="1"/>
          </p:cNvSpPr>
          <p:nvPr>
            <p:ph type="sldNum" sz="quarter" idx="10"/>
          </p:nvPr>
        </p:nvSpPr>
        <p:spPr/>
        <p:txBody>
          <a:bodyPr/>
          <a:lstStyle/>
          <a:p>
            <a:fld id="{17902652-3776-4AAB-9293-98E5538039A4}" type="slidenum">
              <a:rPr lang="en-US" smtClean="0"/>
              <a:pPr/>
              <a:t>47</a:t>
            </a:fld>
            <a:endParaRPr lang="en-US"/>
          </a:p>
        </p:txBody>
      </p:sp>
    </p:spTree>
    <p:extLst>
      <p:ext uri="{BB962C8B-B14F-4D97-AF65-F5344CB8AC3E}">
        <p14:creationId xmlns:p14="http://schemas.microsoft.com/office/powerpoint/2010/main" val="33709425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19B3C202-8A8D-4AF7-9DE0-5FBAF30C039D}" type="datetime1">
              <a:rPr lang="en-IN" smtClean="0"/>
              <a:pPr/>
              <a:t>21-04-2026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6934AA0-4692-41C5-BE8C-1E9BD0630C2E}" type="slidenum">
              <a:rPr lang="en-IN" smtClean="0"/>
              <a:pPr/>
              <a:t>‹#›</a:t>
            </a:fld>
            <a:endParaRPr lang="en-IN"/>
          </a:p>
        </p:txBody>
      </p:sp>
    </p:spTree>
    <p:extLst>
      <p:ext uri="{BB962C8B-B14F-4D97-AF65-F5344CB8AC3E}">
        <p14:creationId xmlns:p14="http://schemas.microsoft.com/office/powerpoint/2010/main" val="785975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2E2362B-5747-4C6A-B268-EE6C1142F3DE}" type="datetime1">
              <a:rPr lang="en-IN" smtClean="0"/>
              <a:pPr/>
              <a:t>21-04-2026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6934AA0-4692-41C5-BE8C-1E9BD0630C2E}" type="slidenum">
              <a:rPr lang="en-IN" smtClean="0"/>
              <a:pPr/>
              <a:t>‹#›</a:t>
            </a:fld>
            <a:endParaRPr lang="en-IN"/>
          </a:p>
        </p:txBody>
      </p:sp>
    </p:spTree>
    <p:extLst>
      <p:ext uri="{BB962C8B-B14F-4D97-AF65-F5344CB8AC3E}">
        <p14:creationId xmlns:p14="http://schemas.microsoft.com/office/powerpoint/2010/main" val="14616261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8661DA8-93DE-40D6-AF9E-7FFF20B346A2}" type="datetime1">
              <a:rPr lang="en-IN" smtClean="0"/>
              <a:pPr/>
              <a:t>21-04-2026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6934AA0-4692-41C5-BE8C-1E9BD0630C2E}" type="slidenum">
              <a:rPr lang="en-IN" smtClean="0"/>
              <a:pPr/>
              <a:t>‹#›</a:t>
            </a:fld>
            <a:endParaRPr lang="en-IN"/>
          </a:p>
        </p:txBody>
      </p:sp>
    </p:spTree>
    <p:extLst>
      <p:ext uri="{BB962C8B-B14F-4D97-AF65-F5344CB8AC3E}">
        <p14:creationId xmlns:p14="http://schemas.microsoft.com/office/powerpoint/2010/main" val="13651462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D6BAFECA-DCB0-40DE-96CF-784979172869}" type="datetime1">
              <a:rPr lang="en-IN" smtClean="0"/>
              <a:pPr/>
              <a:t>21-04-2026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6934AA0-4692-41C5-BE8C-1E9BD0630C2E}" type="slidenum">
              <a:rPr lang="en-IN" smtClean="0"/>
              <a:pPr/>
              <a:t>‹#›</a:t>
            </a:fld>
            <a:endParaRPr lang="en-IN"/>
          </a:p>
        </p:txBody>
      </p:sp>
    </p:spTree>
    <p:extLst>
      <p:ext uri="{BB962C8B-B14F-4D97-AF65-F5344CB8AC3E}">
        <p14:creationId xmlns:p14="http://schemas.microsoft.com/office/powerpoint/2010/main" val="2790645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0581A820-05AD-4218-A445-98AEBC8F062A}" type="datetime1">
              <a:rPr lang="en-IN" smtClean="0"/>
              <a:pPr/>
              <a:t>21-04-2026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6934AA0-4692-41C5-BE8C-1E9BD0630C2E}" type="slidenum">
              <a:rPr lang="en-IN" smtClean="0"/>
              <a:pPr/>
              <a:t>‹#›</a:t>
            </a:fld>
            <a:endParaRPr lang="en-IN"/>
          </a:p>
        </p:txBody>
      </p:sp>
    </p:spTree>
    <p:extLst>
      <p:ext uri="{BB962C8B-B14F-4D97-AF65-F5344CB8AC3E}">
        <p14:creationId xmlns:p14="http://schemas.microsoft.com/office/powerpoint/2010/main" val="6158322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72E20CE0-24CA-4E5B-873B-83A9DFD279C6}" type="datetime1">
              <a:rPr lang="en-IN" smtClean="0"/>
              <a:pPr/>
              <a:t>21-04-2026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6934AA0-4692-41C5-BE8C-1E9BD0630C2E}" type="slidenum">
              <a:rPr lang="en-IN" smtClean="0"/>
              <a:pPr/>
              <a:t>‹#›</a:t>
            </a:fld>
            <a:endParaRPr lang="en-IN"/>
          </a:p>
        </p:txBody>
      </p:sp>
    </p:spTree>
    <p:extLst>
      <p:ext uri="{BB962C8B-B14F-4D97-AF65-F5344CB8AC3E}">
        <p14:creationId xmlns:p14="http://schemas.microsoft.com/office/powerpoint/2010/main" val="370470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9C6381-0C5A-4E46-A198-FE37FA67B2E2}" type="datetime1">
              <a:rPr lang="en-IN" smtClean="0"/>
              <a:pPr/>
              <a:t>21-04-2026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6934AA0-4692-41C5-BE8C-1E9BD0630C2E}" type="slidenum">
              <a:rPr lang="en-IN" smtClean="0"/>
              <a:pPr/>
              <a:t>‹#›</a:t>
            </a:fld>
            <a:endParaRPr lang="en-IN"/>
          </a:p>
        </p:txBody>
      </p:sp>
    </p:spTree>
    <p:extLst>
      <p:ext uri="{BB962C8B-B14F-4D97-AF65-F5344CB8AC3E}">
        <p14:creationId xmlns:p14="http://schemas.microsoft.com/office/powerpoint/2010/main" val="6597735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85A31F4-3AAC-49B1-AD94-57D90C95C6B4}" type="datetime1">
              <a:rPr lang="en-IN" smtClean="0"/>
              <a:pPr/>
              <a:t>21-04-2026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6934AA0-4692-41C5-BE8C-1E9BD0630C2E}" type="slidenum">
              <a:rPr lang="en-IN" smtClean="0"/>
              <a:pPr/>
              <a:t>‹#›</a:t>
            </a:fld>
            <a:endParaRPr lang="en-IN"/>
          </a:p>
        </p:txBody>
      </p:sp>
    </p:spTree>
    <p:extLst>
      <p:ext uri="{BB962C8B-B14F-4D97-AF65-F5344CB8AC3E}">
        <p14:creationId xmlns:p14="http://schemas.microsoft.com/office/powerpoint/2010/main" val="20290430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3BC4ED1-017A-4357-BBCC-54BB83124A7C}" type="datetime1">
              <a:rPr lang="en-IN" smtClean="0"/>
              <a:pPr/>
              <a:t>21-04-2026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6934AA0-4692-41C5-BE8C-1E9BD0630C2E}" type="slidenum">
              <a:rPr lang="en-IN" smtClean="0"/>
              <a:pPr/>
              <a:t>‹#›</a:t>
            </a:fld>
            <a:endParaRPr lang="en-IN"/>
          </a:p>
        </p:txBody>
      </p:sp>
    </p:spTree>
    <p:extLst>
      <p:ext uri="{BB962C8B-B14F-4D97-AF65-F5344CB8AC3E}">
        <p14:creationId xmlns:p14="http://schemas.microsoft.com/office/powerpoint/2010/main" val="7239045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84C5823-A2A1-459E-ADEB-938DD9186D75}" type="datetime1">
              <a:rPr lang="en-IN" smtClean="0"/>
              <a:pPr/>
              <a:t>21-04-2026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6934AA0-4692-41C5-BE8C-1E9BD0630C2E}" type="slidenum">
              <a:rPr lang="en-IN" smtClean="0"/>
              <a:pPr/>
              <a:t>‹#›</a:t>
            </a:fld>
            <a:endParaRPr lang="en-IN"/>
          </a:p>
        </p:txBody>
      </p:sp>
    </p:spTree>
    <p:extLst>
      <p:ext uri="{BB962C8B-B14F-4D97-AF65-F5344CB8AC3E}">
        <p14:creationId xmlns:p14="http://schemas.microsoft.com/office/powerpoint/2010/main" val="10364867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5EDB4402-592B-4F74-98E7-58D09C915026}" type="datetime1">
              <a:rPr lang="en-IN" smtClean="0"/>
              <a:pPr/>
              <a:t>21-04-2026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6934AA0-4692-41C5-BE8C-1E9BD0630C2E}" type="slidenum">
              <a:rPr lang="en-IN" smtClean="0"/>
              <a:pPr/>
              <a:t>‹#›</a:t>
            </a:fld>
            <a:endParaRPr lang="en-IN"/>
          </a:p>
        </p:txBody>
      </p:sp>
    </p:spTree>
    <p:extLst>
      <p:ext uri="{BB962C8B-B14F-4D97-AF65-F5344CB8AC3E}">
        <p14:creationId xmlns:p14="http://schemas.microsoft.com/office/powerpoint/2010/main" val="32048641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7F83624-1A6E-4398-87FE-11D5A80B89F9}" type="datetime1">
              <a:rPr lang="en-IN" smtClean="0"/>
              <a:pPr/>
              <a:t>21-04-2026</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6934AA0-4692-41C5-BE8C-1E9BD0630C2E}" type="slidenum">
              <a:rPr lang="en-IN" smtClean="0"/>
              <a:pPr/>
              <a:t>‹#›</a:t>
            </a:fld>
            <a:endParaRPr lang="en-IN"/>
          </a:p>
        </p:txBody>
      </p:sp>
    </p:spTree>
    <p:extLst>
      <p:ext uri="{BB962C8B-B14F-4D97-AF65-F5344CB8AC3E}">
        <p14:creationId xmlns:p14="http://schemas.microsoft.com/office/powerpoint/2010/main" val="36875211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gif"/><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gif"/><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2.gif"/><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2.png"/><Relationship Id="rId4" Type="http://schemas.openxmlformats.org/officeDocument/2006/relationships/image" Target="../media/image31.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4.gif"/><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00FF"/>
                </a:solidFill>
              </a:rPr>
              <a:t>Radioactivity</a:t>
            </a:r>
          </a:p>
        </p:txBody>
      </p:sp>
      <p:sp>
        <p:nvSpPr>
          <p:cNvPr id="4" name="Slide Number Placeholder 3"/>
          <p:cNvSpPr>
            <a:spLocks noGrp="1"/>
          </p:cNvSpPr>
          <p:nvPr>
            <p:ph type="sldNum" sz="quarter" idx="12"/>
          </p:nvPr>
        </p:nvSpPr>
        <p:spPr/>
        <p:txBody>
          <a:bodyPr/>
          <a:lstStyle/>
          <a:p>
            <a:fld id="{C6934AA0-4692-41C5-BE8C-1E9BD0630C2E}" type="slidenum">
              <a:rPr lang="en-IN" smtClean="0"/>
              <a:pPr/>
              <a:t>1</a:t>
            </a:fld>
            <a:endParaRPr lang="en-IN"/>
          </a:p>
        </p:txBody>
      </p:sp>
      <p:sp>
        <p:nvSpPr>
          <p:cNvPr id="6" name="Content Placeholder 2"/>
          <p:cNvSpPr>
            <a:spLocks noGrp="1"/>
          </p:cNvSpPr>
          <p:nvPr>
            <p:ph idx="1"/>
          </p:nvPr>
        </p:nvSpPr>
        <p:spPr>
          <a:xfrm>
            <a:off x="457200" y="1981200"/>
            <a:ext cx="8229600" cy="990599"/>
          </a:xfrm>
        </p:spPr>
        <p:txBody>
          <a:bodyPr>
            <a:normAutofit lnSpcReduction="10000"/>
          </a:bodyPr>
          <a:lstStyle/>
          <a:p>
            <a:pPr marL="0" indent="0">
              <a:buNone/>
            </a:pPr>
            <a:r>
              <a:rPr lang="en-US" dirty="0"/>
              <a:t>Heavy nuclei emit radiations and transforms into some other nuclei.</a:t>
            </a:r>
          </a:p>
        </p:txBody>
      </p:sp>
      <p:sp>
        <p:nvSpPr>
          <p:cNvPr id="5" name="Content Placeholder 2"/>
          <p:cNvSpPr txBox="1">
            <a:spLocks/>
          </p:cNvSpPr>
          <p:nvPr/>
        </p:nvSpPr>
        <p:spPr>
          <a:xfrm>
            <a:off x="588498" y="3505200"/>
            <a:ext cx="8229600" cy="11430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US" dirty="0"/>
              <a:t>Radiations in the form of </a:t>
            </a:r>
            <a:r>
              <a:rPr lang="el-GR" dirty="0"/>
              <a:t>α</a:t>
            </a:r>
            <a:r>
              <a:rPr lang="en-IN" dirty="0"/>
              <a:t>-decay, </a:t>
            </a:r>
            <a:r>
              <a:rPr lang="el-GR" dirty="0"/>
              <a:t>β</a:t>
            </a:r>
            <a:r>
              <a:rPr lang="en-IN" dirty="0"/>
              <a:t>-decay and </a:t>
            </a:r>
            <a:r>
              <a:rPr lang="el-GR" dirty="0"/>
              <a:t>γ</a:t>
            </a:r>
            <a:r>
              <a:rPr lang="en-IN" dirty="0"/>
              <a:t>-decay</a:t>
            </a:r>
            <a:r>
              <a:rPr lang="en-US" dirty="0"/>
              <a: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IN" dirty="0">
                <a:solidFill>
                  <a:schemeClr val="tx2">
                    <a:lumMod val="75000"/>
                  </a:schemeClr>
                </a:solidFill>
              </a:rPr>
              <a:t>N/Z ratio</a:t>
            </a:r>
          </a:p>
        </p:txBody>
      </p:sp>
      <p:sp>
        <p:nvSpPr>
          <p:cNvPr id="3" name="Content Placeholder 2"/>
          <p:cNvSpPr>
            <a:spLocks noGrp="1"/>
          </p:cNvSpPr>
          <p:nvPr>
            <p:ph idx="1"/>
          </p:nvPr>
        </p:nvSpPr>
        <p:spPr>
          <a:xfrm>
            <a:off x="457200" y="1066800"/>
            <a:ext cx="8229600" cy="4525963"/>
          </a:xfrm>
        </p:spPr>
        <p:txBody>
          <a:bodyPr>
            <a:normAutofit lnSpcReduction="10000"/>
          </a:bodyPr>
          <a:lstStyle/>
          <a:p>
            <a:r>
              <a:rPr lang="en-IN" dirty="0"/>
              <a:t>The ratio of number of neutrons to the number of protons is the neutron-proton ratio.</a:t>
            </a:r>
          </a:p>
          <a:p>
            <a:r>
              <a:rPr lang="en-IN" dirty="0"/>
              <a:t>This ratio plays an important role in radioactivity.</a:t>
            </a:r>
          </a:p>
          <a:p>
            <a:r>
              <a:rPr lang="en-IN" dirty="0"/>
              <a:t>For stable nuclei, N/Z =1.</a:t>
            </a:r>
          </a:p>
          <a:p>
            <a:r>
              <a:rPr lang="en-IN" dirty="0"/>
              <a:t>Nuclei become unstable as the N/Z ratio increases. Uranium238, Pluttonium244 the ratio is 1.587, 1.596, respectively.</a:t>
            </a:r>
          </a:p>
        </p:txBody>
      </p:sp>
      <p:sp>
        <p:nvSpPr>
          <p:cNvPr id="4" name="Slide Number Placeholder 3"/>
          <p:cNvSpPr>
            <a:spLocks noGrp="1"/>
          </p:cNvSpPr>
          <p:nvPr>
            <p:ph type="sldNum" sz="quarter" idx="12"/>
          </p:nvPr>
        </p:nvSpPr>
        <p:spPr/>
        <p:txBody>
          <a:bodyPr/>
          <a:lstStyle/>
          <a:p>
            <a:fld id="{C6934AA0-4692-41C5-BE8C-1E9BD0630C2E}" type="slidenum">
              <a:rPr lang="en-IN" smtClean="0"/>
              <a:pPr/>
              <a:t>2</a:t>
            </a:fld>
            <a:endParaRPr lang="en-IN"/>
          </a:p>
        </p:txBody>
      </p:sp>
      <p:sp>
        <p:nvSpPr>
          <p:cNvPr id="5" name="Content Placeholder 2"/>
          <p:cNvSpPr txBox="1">
            <a:spLocks/>
          </p:cNvSpPr>
          <p:nvPr/>
        </p:nvSpPr>
        <p:spPr>
          <a:xfrm>
            <a:off x="228600" y="5562600"/>
            <a:ext cx="8229600" cy="990599"/>
          </a:xfrm>
          <a:prstGeom prst="rect">
            <a:avLst/>
          </a:prstGeom>
        </p:spPr>
        <p:txBody>
          <a:bodyPr vert="horz" lIns="91440" tIns="45720" rIns="91440" bIns="45720" rtlCol="0">
            <a:normAutofit lnSpcReduction="1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dirty="0">
                <a:solidFill>
                  <a:srgbClr val="0000FF"/>
                </a:solidFill>
              </a:rPr>
              <a:t>Radioactivity decay </a:t>
            </a:r>
            <a:r>
              <a:rPr lang="en-IN" dirty="0">
                <a:solidFill>
                  <a:srgbClr val="0000FF"/>
                </a:solidFill>
              </a:rPr>
              <a:t>generally proceeds so as to change the N/Z ratio to increase stability</a:t>
            </a:r>
            <a:r>
              <a:rPr lang="en-US" dirty="0">
                <a:solidFill>
                  <a:srgbClr val="0000FF"/>
                </a:solidFill>
              </a:rPr>
              <a:t>.</a:t>
            </a:r>
          </a:p>
        </p:txBody>
      </p:sp>
    </p:spTree>
    <p:extLst>
      <p:ext uri="{BB962C8B-B14F-4D97-AF65-F5344CB8AC3E}">
        <p14:creationId xmlns:p14="http://schemas.microsoft.com/office/powerpoint/2010/main" val="41064056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N/Z graph</a:t>
            </a:r>
          </a:p>
        </p:txBody>
      </p:sp>
      <p:sp>
        <p:nvSpPr>
          <p:cNvPr id="4" name="Slide Number Placeholder 3"/>
          <p:cNvSpPr>
            <a:spLocks noGrp="1"/>
          </p:cNvSpPr>
          <p:nvPr>
            <p:ph type="sldNum" sz="quarter" idx="12"/>
          </p:nvPr>
        </p:nvSpPr>
        <p:spPr/>
        <p:txBody>
          <a:bodyPr/>
          <a:lstStyle/>
          <a:p>
            <a:fld id="{C6934AA0-4692-41C5-BE8C-1E9BD0630C2E}" type="slidenum">
              <a:rPr lang="en-IN" smtClean="0"/>
              <a:pPr/>
              <a:t>3</a:t>
            </a:fld>
            <a:endParaRPr lang="en-IN"/>
          </a:p>
        </p:txBody>
      </p:sp>
      <p:pic>
        <p:nvPicPr>
          <p:cNvPr id="5122" name="Picture 2" descr="Image result for n/z rati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3200" y="1447800"/>
            <a:ext cx="3625850" cy="50351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70568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00FF"/>
                </a:solidFill>
              </a:rPr>
              <a:t>Radioactive decay equation</a:t>
            </a:r>
          </a:p>
        </p:txBody>
      </p:sp>
      <p:sp>
        <p:nvSpPr>
          <p:cNvPr id="4" name="Slide Number Placeholder 3"/>
          <p:cNvSpPr>
            <a:spLocks noGrp="1"/>
          </p:cNvSpPr>
          <p:nvPr>
            <p:ph type="sldNum" sz="quarter" idx="12"/>
          </p:nvPr>
        </p:nvSpPr>
        <p:spPr/>
        <p:txBody>
          <a:bodyPr/>
          <a:lstStyle/>
          <a:p>
            <a:fld id="{C6934AA0-4692-41C5-BE8C-1E9BD0630C2E}" type="slidenum">
              <a:rPr lang="en-IN" smtClean="0"/>
              <a:pPr/>
              <a:t>4</a:t>
            </a:fld>
            <a:endParaRPr lang="en-IN"/>
          </a:p>
        </p:txBody>
      </p:sp>
      <p:sp>
        <p:nvSpPr>
          <p:cNvPr id="6" name="Content Placeholder 2"/>
          <p:cNvSpPr>
            <a:spLocks noGrp="1"/>
          </p:cNvSpPr>
          <p:nvPr>
            <p:ph idx="1"/>
          </p:nvPr>
        </p:nvSpPr>
        <p:spPr>
          <a:xfrm>
            <a:off x="489857" y="1524000"/>
            <a:ext cx="4234543" cy="685800"/>
          </a:xfrm>
        </p:spPr>
        <p:txBody>
          <a:bodyPr>
            <a:normAutofit/>
          </a:bodyPr>
          <a:lstStyle/>
          <a:p>
            <a:pPr marL="0" indent="0">
              <a:buNone/>
            </a:pPr>
            <a:r>
              <a:rPr lang="en-US" dirty="0"/>
              <a:t>N=N</a:t>
            </a:r>
            <a:r>
              <a:rPr lang="en-US" baseline="-25000" dirty="0"/>
              <a:t>0</a:t>
            </a:r>
            <a:r>
              <a:rPr lang="en-US" dirty="0"/>
              <a:t> </a:t>
            </a:r>
            <a:r>
              <a:rPr lang="en-US" dirty="0" err="1"/>
              <a:t>exp</a:t>
            </a:r>
            <a:r>
              <a:rPr lang="en-US" dirty="0"/>
              <a:t>(-</a:t>
            </a:r>
            <a:r>
              <a:rPr lang="el-GR" dirty="0"/>
              <a:t> α</a:t>
            </a:r>
            <a:r>
              <a:rPr lang="en-IN" dirty="0"/>
              <a:t>t)</a:t>
            </a:r>
            <a:endParaRPr lang="en-US" dirty="0"/>
          </a:p>
        </p:txBody>
      </p:sp>
      <p:sp>
        <p:nvSpPr>
          <p:cNvPr id="5" name="Content Placeholder 2"/>
          <p:cNvSpPr txBox="1">
            <a:spLocks/>
          </p:cNvSpPr>
          <p:nvPr/>
        </p:nvSpPr>
        <p:spPr>
          <a:xfrm>
            <a:off x="457200" y="2362200"/>
            <a:ext cx="8229600" cy="184513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US" dirty="0"/>
              <a:t>Where </a:t>
            </a:r>
          </a:p>
          <a:p>
            <a:pPr marL="0" indent="0">
              <a:buNone/>
            </a:pPr>
            <a:r>
              <a:rPr lang="en-US" dirty="0"/>
              <a:t>N</a:t>
            </a:r>
            <a:r>
              <a:rPr lang="en-US" baseline="-25000" dirty="0"/>
              <a:t>0</a:t>
            </a:r>
            <a:r>
              <a:rPr lang="en-US" dirty="0"/>
              <a:t>= number of particles at time t=0</a:t>
            </a:r>
          </a:p>
          <a:p>
            <a:pPr marL="0" indent="0">
              <a:buNone/>
            </a:pPr>
            <a:r>
              <a:rPr lang="el-GR" dirty="0"/>
              <a:t>α</a:t>
            </a:r>
            <a:r>
              <a:rPr lang="en-IN" dirty="0"/>
              <a:t>= is the decay constant</a:t>
            </a:r>
            <a:endParaRPr lang="en-US" dirty="0"/>
          </a:p>
        </p:txBody>
      </p:sp>
      <p:sp>
        <p:nvSpPr>
          <p:cNvPr id="7" name="Content Placeholder 2"/>
          <p:cNvSpPr txBox="1">
            <a:spLocks/>
          </p:cNvSpPr>
          <p:nvPr/>
        </p:nvSpPr>
        <p:spPr>
          <a:xfrm>
            <a:off x="511628" y="4715329"/>
            <a:ext cx="4082143" cy="6858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US" dirty="0">
                <a:solidFill>
                  <a:srgbClr val="3333CC"/>
                </a:solidFill>
              </a:rPr>
              <a:t>Half life = </a:t>
            </a:r>
            <a:r>
              <a:rPr lang="en-US" i="1" dirty="0" err="1">
                <a:solidFill>
                  <a:srgbClr val="3333CC"/>
                </a:solidFill>
              </a:rPr>
              <a:t>ln</a:t>
            </a:r>
            <a:r>
              <a:rPr lang="en-US" dirty="0">
                <a:solidFill>
                  <a:srgbClr val="3333CC"/>
                </a:solidFill>
              </a:rPr>
              <a:t>(2)/</a:t>
            </a:r>
            <a:r>
              <a:rPr lang="el-GR" dirty="0">
                <a:solidFill>
                  <a:srgbClr val="3333CC"/>
                </a:solidFill>
              </a:rPr>
              <a:t>α</a:t>
            </a:r>
            <a:endParaRPr lang="en-US" dirty="0">
              <a:solidFill>
                <a:srgbClr val="3333CC"/>
              </a:solidFill>
            </a:endParaRPr>
          </a:p>
        </p:txBody>
      </p:sp>
      <p:sp>
        <p:nvSpPr>
          <p:cNvPr id="8" name="Content Placeholder 2"/>
          <p:cNvSpPr txBox="1">
            <a:spLocks/>
          </p:cNvSpPr>
          <p:nvPr/>
        </p:nvSpPr>
        <p:spPr>
          <a:xfrm>
            <a:off x="511628" y="5638800"/>
            <a:ext cx="4267200" cy="634999"/>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US" dirty="0">
                <a:solidFill>
                  <a:srgbClr val="000099"/>
                </a:solidFill>
              </a:rPr>
              <a:t>Mean life = 1/</a:t>
            </a:r>
            <a:r>
              <a:rPr lang="el-GR" dirty="0">
                <a:solidFill>
                  <a:srgbClr val="000099"/>
                </a:solidFill>
              </a:rPr>
              <a:t>α</a:t>
            </a:r>
            <a:endParaRPr lang="en-US" dirty="0">
              <a:solidFill>
                <a:srgbClr val="000099"/>
              </a:solidFill>
            </a:endParaRPr>
          </a:p>
        </p:txBody>
      </p:sp>
    </p:spTree>
    <p:extLst>
      <p:ext uri="{BB962C8B-B14F-4D97-AF65-F5344CB8AC3E}">
        <p14:creationId xmlns:p14="http://schemas.microsoft.com/office/powerpoint/2010/main" val="41566521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Radioactive decay</a:t>
            </a:r>
          </a:p>
        </p:txBody>
      </p:sp>
      <p:sp>
        <p:nvSpPr>
          <p:cNvPr id="4" name="Slide Number Placeholder 3"/>
          <p:cNvSpPr>
            <a:spLocks noGrp="1"/>
          </p:cNvSpPr>
          <p:nvPr>
            <p:ph type="sldNum" sz="quarter" idx="12"/>
          </p:nvPr>
        </p:nvSpPr>
        <p:spPr/>
        <p:txBody>
          <a:bodyPr/>
          <a:lstStyle/>
          <a:p>
            <a:fld id="{C6934AA0-4692-41C5-BE8C-1E9BD0630C2E}" type="slidenum">
              <a:rPr lang="en-IN" smtClean="0"/>
              <a:pPr/>
              <a:t>5</a:t>
            </a:fld>
            <a:endParaRPr lang="en-IN"/>
          </a:p>
        </p:txBody>
      </p:sp>
      <p:sp>
        <p:nvSpPr>
          <p:cNvPr id="5" name="Content Placeholder 4"/>
          <p:cNvSpPr>
            <a:spLocks noGrp="1"/>
          </p:cNvSpPr>
          <p:nvPr>
            <p:ph idx="1"/>
          </p:nvPr>
        </p:nvSpPr>
        <p:spPr>
          <a:xfrm>
            <a:off x="457200" y="1600201"/>
            <a:ext cx="8229600" cy="2133600"/>
          </a:xfrm>
        </p:spPr>
        <p:txBody>
          <a:bodyPr/>
          <a:lstStyle/>
          <a:p>
            <a:r>
              <a:rPr lang="en-IN" dirty="0"/>
              <a:t>Alpha emission </a:t>
            </a:r>
          </a:p>
          <a:p>
            <a:r>
              <a:rPr lang="en-IN" dirty="0"/>
              <a:t>Beta emission</a:t>
            </a:r>
          </a:p>
          <a:p>
            <a:r>
              <a:rPr lang="en-IN" dirty="0"/>
              <a:t>Gamma emission</a:t>
            </a:r>
          </a:p>
        </p:txBody>
      </p:sp>
    </p:spTree>
    <p:extLst>
      <p:ext uri="{BB962C8B-B14F-4D97-AF65-F5344CB8AC3E}">
        <p14:creationId xmlns:p14="http://schemas.microsoft.com/office/powerpoint/2010/main" val="30760469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l-GR" dirty="0">
                <a:solidFill>
                  <a:srgbClr val="000099"/>
                </a:solidFill>
              </a:rPr>
              <a:t>α</a:t>
            </a:r>
            <a:r>
              <a:rPr lang="en-IN" dirty="0">
                <a:solidFill>
                  <a:srgbClr val="000099"/>
                </a:solidFill>
              </a:rPr>
              <a:t>-decay</a:t>
            </a:r>
            <a:endParaRPr lang="en-US" dirty="0">
              <a:solidFill>
                <a:srgbClr val="000099"/>
              </a:solidFill>
            </a:endParaRPr>
          </a:p>
        </p:txBody>
      </p:sp>
      <p:sp>
        <p:nvSpPr>
          <p:cNvPr id="4" name="Slide Number Placeholder 3"/>
          <p:cNvSpPr>
            <a:spLocks noGrp="1"/>
          </p:cNvSpPr>
          <p:nvPr>
            <p:ph type="sldNum" sz="quarter" idx="12"/>
          </p:nvPr>
        </p:nvSpPr>
        <p:spPr/>
        <p:txBody>
          <a:bodyPr/>
          <a:lstStyle/>
          <a:p>
            <a:fld id="{C6934AA0-4692-41C5-BE8C-1E9BD0630C2E}" type="slidenum">
              <a:rPr lang="en-IN" smtClean="0"/>
              <a:pPr/>
              <a:t>6</a:t>
            </a:fld>
            <a:endParaRPr lang="en-IN"/>
          </a:p>
        </p:txBody>
      </p:sp>
      <p:sp>
        <p:nvSpPr>
          <p:cNvPr id="5" name="Content Placeholder 4"/>
          <p:cNvSpPr>
            <a:spLocks noGrp="1"/>
          </p:cNvSpPr>
          <p:nvPr>
            <p:ph idx="1"/>
          </p:nvPr>
        </p:nvSpPr>
        <p:spPr>
          <a:xfrm>
            <a:off x="457200" y="3207658"/>
            <a:ext cx="1905000" cy="685799"/>
          </a:xfrm>
        </p:spPr>
        <p:txBody>
          <a:bodyPr/>
          <a:lstStyle/>
          <a:p>
            <a:pPr marL="0" indent="0">
              <a:buNone/>
            </a:pPr>
            <a:r>
              <a:rPr lang="en-IN" dirty="0"/>
              <a:t>Example-</a:t>
            </a:r>
          </a:p>
        </p:txBody>
      </p:sp>
      <p:sp>
        <p:nvSpPr>
          <p:cNvPr id="6" name="Content Placeholder 4"/>
          <p:cNvSpPr txBox="1">
            <a:spLocks/>
          </p:cNvSpPr>
          <p:nvPr/>
        </p:nvSpPr>
        <p:spPr>
          <a:xfrm>
            <a:off x="576943" y="4118428"/>
            <a:ext cx="4114800" cy="689429"/>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IN" baseline="-25000" dirty="0"/>
              <a:t>92</a:t>
            </a:r>
            <a:r>
              <a:rPr lang="en-IN" dirty="0"/>
              <a:t>U</a:t>
            </a:r>
            <a:r>
              <a:rPr lang="en-IN" baseline="30000" dirty="0"/>
              <a:t>238</a:t>
            </a:r>
            <a:r>
              <a:rPr lang="en-IN" dirty="0"/>
              <a:t>  ---&gt;  </a:t>
            </a:r>
            <a:r>
              <a:rPr lang="en-IN" baseline="-25000" dirty="0"/>
              <a:t>92</a:t>
            </a:r>
            <a:r>
              <a:rPr lang="en-IN" dirty="0"/>
              <a:t>Th</a:t>
            </a:r>
            <a:r>
              <a:rPr lang="en-IN" baseline="30000" dirty="0"/>
              <a:t>234</a:t>
            </a:r>
            <a:r>
              <a:rPr lang="en-IN" dirty="0"/>
              <a:t> + </a:t>
            </a:r>
            <a:r>
              <a:rPr lang="el-GR" dirty="0"/>
              <a:t>α</a:t>
            </a:r>
            <a:endParaRPr lang="en-IN" baseline="30000" dirty="0"/>
          </a:p>
        </p:txBody>
      </p:sp>
      <p:sp>
        <p:nvSpPr>
          <p:cNvPr id="9" name="Content Placeholder 4"/>
          <p:cNvSpPr txBox="1">
            <a:spLocks/>
          </p:cNvSpPr>
          <p:nvPr/>
        </p:nvSpPr>
        <p:spPr>
          <a:xfrm>
            <a:off x="609600" y="5265057"/>
            <a:ext cx="4419600" cy="689429"/>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IN" baseline="-25000" dirty="0"/>
              <a:t>92</a:t>
            </a:r>
            <a:r>
              <a:rPr lang="en-IN" dirty="0"/>
              <a:t>U</a:t>
            </a:r>
            <a:r>
              <a:rPr lang="en-IN" baseline="30000" dirty="0"/>
              <a:t>238</a:t>
            </a:r>
            <a:r>
              <a:rPr lang="en-IN" dirty="0"/>
              <a:t>  ---&gt;  </a:t>
            </a:r>
            <a:r>
              <a:rPr lang="en-IN" baseline="-25000" dirty="0"/>
              <a:t>92</a:t>
            </a:r>
            <a:r>
              <a:rPr lang="en-IN" dirty="0"/>
              <a:t>Th</a:t>
            </a:r>
            <a:r>
              <a:rPr lang="en-IN" baseline="30000" dirty="0"/>
              <a:t>234</a:t>
            </a:r>
            <a:r>
              <a:rPr lang="en-IN" dirty="0"/>
              <a:t> + </a:t>
            </a:r>
            <a:r>
              <a:rPr lang="en-IN" baseline="-25000" dirty="0"/>
              <a:t>2</a:t>
            </a:r>
            <a:r>
              <a:rPr lang="en-IN" dirty="0"/>
              <a:t>He</a:t>
            </a:r>
            <a:r>
              <a:rPr lang="en-IN" baseline="30000" dirty="0"/>
              <a:t>4</a:t>
            </a:r>
          </a:p>
        </p:txBody>
      </p:sp>
      <p:sp>
        <p:nvSpPr>
          <p:cNvPr id="10" name="Content Placeholder 2"/>
          <p:cNvSpPr txBox="1">
            <a:spLocks/>
          </p:cNvSpPr>
          <p:nvPr/>
        </p:nvSpPr>
        <p:spPr>
          <a:xfrm>
            <a:off x="304800" y="1447800"/>
            <a:ext cx="3886200" cy="1150257"/>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IN" baseline="-25000" dirty="0"/>
              <a:t>Symbolically-</a:t>
            </a:r>
          </a:p>
          <a:p>
            <a:pPr marL="0" indent="0">
              <a:buNone/>
            </a:pPr>
            <a:r>
              <a:rPr lang="en-IN" baseline="-25000" dirty="0"/>
              <a:t>Z</a:t>
            </a:r>
            <a:r>
              <a:rPr lang="en-IN" dirty="0"/>
              <a:t>X</a:t>
            </a:r>
            <a:r>
              <a:rPr lang="en-IN" baseline="30000" dirty="0"/>
              <a:t>A</a:t>
            </a:r>
            <a:r>
              <a:rPr lang="en-IN" dirty="0"/>
              <a:t> --&gt; </a:t>
            </a:r>
            <a:r>
              <a:rPr lang="en-IN" baseline="-25000" dirty="0"/>
              <a:t>Z-2</a:t>
            </a:r>
            <a:r>
              <a:rPr lang="en-IN" dirty="0"/>
              <a:t>X</a:t>
            </a:r>
            <a:r>
              <a:rPr lang="en-IN" baseline="30000" dirty="0"/>
              <a:t>A-4</a:t>
            </a:r>
            <a:r>
              <a:rPr lang="en-IN" dirty="0"/>
              <a:t> + </a:t>
            </a:r>
            <a:r>
              <a:rPr lang="en-IN" baseline="-25000" dirty="0"/>
              <a:t>2</a:t>
            </a:r>
            <a:r>
              <a:rPr lang="en-IN" dirty="0"/>
              <a:t>He</a:t>
            </a:r>
            <a:r>
              <a:rPr lang="en-IN" baseline="30000" dirty="0"/>
              <a:t>4</a:t>
            </a:r>
            <a:r>
              <a:rPr lang="en-IN" dirty="0"/>
              <a:t> </a:t>
            </a:r>
          </a:p>
          <a:p>
            <a:pPr marL="0" indent="0">
              <a:buFont typeface="Arial" pitchFamily="34" charset="0"/>
              <a:buNone/>
            </a:pPr>
            <a:endParaRPr lang="en-IN" baseline="30000" dirty="0"/>
          </a:p>
          <a:p>
            <a:pPr marL="0" indent="0">
              <a:buFont typeface="Arial" pitchFamily="34" charset="0"/>
              <a:buNone/>
            </a:pPr>
            <a:endParaRPr lang="en-IN" baseline="30000" dirty="0"/>
          </a:p>
        </p:txBody>
      </p:sp>
    </p:spTree>
    <p:extLst>
      <p:ext uri="{BB962C8B-B14F-4D97-AF65-F5344CB8AC3E}">
        <p14:creationId xmlns:p14="http://schemas.microsoft.com/office/powerpoint/2010/main" val="6093209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66800"/>
            <a:ext cx="8229600" cy="3047999"/>
          </a:xfrm>
        </p:spPr>
        <p:txBody>
          <a:bodyPr/>
          <a:lstStyle/>
          <a:p>
            <a:pPr marL="0" indent="0">
              <a:buNone/>
            </a:pPr>
            <a:r>
              <a:rPr lang="en-IN" baseline="-25000" dirty="0"/>
              <a:t>Symbolically-</a:t>
            </a:r>
          </a:p>
          <a:p>
            <a:pPr marL="0" indent="0">
              <a:buNone/>
            </a:pPr>
            <a:r>
              <a:rPr lang="en-IN" baseline="-25000" dirty="0"/>
              <a:t>Z</a:t>
            </a:r>
            <a:r>
              <a:rPr lang="en-IN" dirty="0"/>
              <a:t>X</a:t>
            </a:r>
            <a:r>
              <a:rPr lang="en-IN" baseline="30000" dirty="0"/>
              <a:t>A</a:t>
            </a:r>
            <a:r>
              <a:rPr lang="en-IN" dirty="0"/>
              <a:t> --&gt; </a:t>
            </a:r>
            <a:r>
              <a:rPr lang="en-IN" baseline="-25000" dirty="0"/>
              <a:t>Z+1</a:t>
            </a:r>
            <a:r>
              <a:rPr lang="en-IN" dirty="0"/>
              <a:t>X</a:t>
            </a:r>
            <a:r>
              <a:rPr lang="en-IN" baseline="30000" dirty="0"/>
              <a:t>A</a:t>
            </a:r>
            <a:r>
              <a:rPr lang="en-IN" dirty="0"/>
              <a:t> + e</a:t>
            </a:r>
            <a:r>
              <a:rPr lang="en-IN" baseline="30000" dirty="0"/>
              <a:t>-</a:t>
            </a:r>
            <a:r>
              <a:rPr lang="en-IN" dirty="0"/>
              <a:t> + </a:t>
            </a:r>
            <a:r>
              <a:rPr lang="el-GR" dirty="0"/>
              <a:t>ν</a:t>
            </a:r>
            <a:r>
              <a:rPr lang="en-IN" dirty="0"/>
              <a:t>*        (</a:t>
            </a:r>
            <a:r>
              <a:rPr lang="el-GR" dirty="0">
                <a:solidFill>
                  <a:srgbClr val="0000FF"/>
                </a:solidFill>
              </a:rPr>
              <a:t>β</a:t>
            </a:r>
            <a:r>
              <a:rPr lang="en-IN" baseline="30000" dirty="0">
                <a:solidFill>
                  <a:srgbClr val="0000FF"/>
                </a:solidFill>
              </a:rPr>
              <a:t>-</a:t>
            </a:r>
            <a:r>
              <a:rPr lang="en-IN" dirty="0">
                <a:solidFill>
                  <a:srgbClr val="0000FF"/>
                </a:solidFill>
              </a:rPr>
              <a:t> decay</a:t>
            </a:r>
            <a:r>
              <a:rPr lang="en-IN" dirty="0"/>
              <a:t>)</a:t>
            </a:r>
          </a:p>
          <a:p>
            <a:pPr marL="0" indent="0">
              <a:buNone/>
            </a:pPr>
            <a:endParaRPr lang="en-IN" baseline="30000" dirty="0"/>
          </a:p>
          <a:p>
            <a:pPr marL="0" indent="0">
              <a:buNone/>
            </a:pPr>
            <a:r>
              <a:rPr lang="en-IN" baseline="-25000" dirty="0"/>
              <a:t>Z</a:t>
            </a:r>
            <a:r>
              <a:rPr lang="en-IN" dirty="0"/>
              <a:t>X</a:t>
            </a:r>
            <a:r>
              <a:rPr lang="en-IN" baseline="30000" dirty="0"/>
              <a:t>A</a:t>
            </a:r>
            <a:r>
              <a:rPr lang="en-IN" dirty="0"/>
              <a:t> --&gt; </a:t>
            </a:r>
            <a:r>
              <a:rPr lang="en-IN" baseline="-25000" dirty="0"/>
              <a:t>Z-1</a:t>
            </a:r>
            <a:r>
              <a:rPr lang="en-IN" dirty="0"/>
              <a:t>X</a:t>
            </a:r>
            <a:r>
              <a:rPr lang="en-IN" baseline="30000" dirty="0"/>
              <a:t>A</a:t>
            </a:r>
            <a:r>
              <a:rPr lang="en-IN" dirty="0"/>
              <a:t> + e</a:t>
            </a:r>
            <a:r>
              <a:rPr lang="en-IN" baseline="30000" dirty="0"/>
              <a:t>+</a:t>
            </a:r>
            <a:r>
              <a:rPr lang="en-IN" dirty="0"/>
              <a:t> + </a:t>
            </a:r>
            <a:r>
              <a:rPr lang="el-GR" dirty="0"/>
              <a:t>ν</a:t>
            </a:r>
            <a:r>
              <a:rPr lang="en-IN" dirty="0"/>
              <a:t>         (</a:t>
            </a:r>
            <a:r>
              <a:rPr lang="el-GR" dirty="0">
                <a:solidFill>
                  <a:srgbClr val="0000FF"/>
                </a:solidFill>
              </a:rPr>
              <a:t>β</a:t>
            </a:r>
            <a:r>
              <a:rPr lang="en-IN" baseline="30000" dirty="0">
                <a:solidFill>
                  <a:srgbClr val="0000FF"/>
                </a:solidFill>
              </a:rPr>
              <a:t>+</a:t>
            </a:r>
            <a:r>
              <a:rPr lang="en-IN" dirty="0">
                <a:solidFill>
                  <a:srgbClr val="0000FF"/>
                </a:solidFill>
              </a:rPr>
              <a:t> decay</a:t>
            </a:r>
            <a:r>
              <a:rPr lang="en-IN" dirty="0"/>
              <a:t>)</a:t>
            </a:r>
            <a:endParaRPr lang="en-IN" baseline="30000" dirty="0"/>
          </a:p>
          <a:p>
            <a:pPr marL="0" indent="0">
              <a:buNone/>
            </a:pPr>
            <a:endParaRPr lang="en-IN" baseline="30000" dirty="0"/>
          </a:p>
          <a:p>
            <a:pPr marL="0" indent="0">
              <a:buNone/>
            </a:pPr>
            <a:r>
              <a:rPr lang="en-IN" baseline="-25000" dirty="0"/>
              <a:t>Z</a:t>
            </a:r>
            <a:r>
              <a:rPr lang="en-IN" dirty="0"/>
              <a:t>X</a:t>
            </a:r>
            <a:r>
              <a:rPr lang="en-IN" baseline="30000" dirty="0"/>
              <a:t>A</a:t>
            </a:r>
            <a:r>
              <a:rPr lang="en-IN" dirty="0"/>
              <a:t> + e</a:t>
            </a:r>
            <a:r>
              <a:rPr lang="en-IN" baseline="30000" dirty="0"/>
              <a:t>-</a:t>
            </a:r>
            <a:r>
              <a:rPr lang="en-IN" dirty="0"/>
              <a:t> --&gt; </a:t>
            </a:r>
            <a:r>
              <a:rPr lang="en-IN" baseline="-25000" dirty="0"/>
              <a:t>Z-1</a:t>
            </a:r>
            <a:r>
              <a:rPr lang="en-IN" dirty="0"/>
              <a:t>X</a:t>
            </a:r>
            <a:r>
              <a:rPr lang="en-IN" baseline="30000" dirty="0"/>
              <a:t>A</a:t>
            </a:r>
            <a:r>
              <a:rPr lang="en-IN" dirty="0"/>
              <a:t> + </a:t>
            </a:r>
            <a:r>
              <a:rPr lang="el-GR" dirty="0"/>
              <a:t>ν</a:t>
            </a:r>
            <a:r>
              <a:rPr lang="en-IN" dirty="0"/>
              <a:t>*        (</a:t>
            </a:r>
            <a:r>
              <a:rPr lang="en-IN" dirty="0">
                <a:solidFill>
                  <a:srgbClr val="0000FF"/>
                </a:solidFill>
              </a:rPr>
              <a:t>Electron capture</a:t>
            </a:r>
            <a:r>
              <a:rPr lang="en-IN" dirty="0"/>
              <a:t>)</a:t>
            </a:r>
            <a:endParaRPr lang="en-IN" baseline="30000" dirty="0"/>
          </a:p>
          <a:p>
            <a:pPr marL="0" indent="0">
              <a:buNone/>
            </a:pPr>
            <a:endParaRPr lang="en-IN" baseline="30000" dirty="0"/>
          </a:p>
        </p:txBody>
      </p:sp>
      <p:sp>
        <p:nvSpPr>
          <p:cNvPr id="4" name="Slide Number Placeholder 3"/>
          <p:cNvSpPr>
            <a:spLocks noGrp="1"/>
          </p:cNvSpPr>
          <p:nvPr>
            <p:ph type="sldNum" sz="quarter" idx="12"/>
          </p:nvPr>
        </p:nvSpPr>
        <p:spPr/>
        <p:txBody>
          <a:bodyPr/>
          <a:lstStyle/>
          <a:p>
            <a:fld id="{C6934AA0-4692-41C5-BE8C-1E9BD0630C2E}" type="slidenum">
              <a:rPr lang="en-IN" smtClean="0"/>
              <a:pPr/>
              <a:t>7</a:t>
            </a:fld>
            <a:endParaRPr lang="en-IN"/>
          </a:p>
        </p:txBody>
      </p:sp>
      <p:sp>
        <p:nvSpPr>
          <p:cNvPr id="5" name="Title 1"/>
          <p:cNvSpPr>
            <a:spLocks noGrp="1"/>
          </p:cNvSpPr>
          <p:nvPr>
            <p:ph type="title"/>
          </p:nvPr>
        </p:nvSpPr>
        <p:spPr>
          <a:xfrm>
            <a:off x="457200" y="274638"/>
            <a:ext cx="8229600" cy="792162"/>
          </a:xfrm>
        </p:spPr>
        <p:txBody>
          <a:bodyPr/>
          <a:lstStyle/>
          <a:p>
            <a:r>
              <a:rPr lang="el-GR" dirty="0">
                <a:solidFill>
                  <a:srgbClr val="000099"/>
                </a:solidFill>
              </a:rPr>
              <a:t>β</a:t>
            </a:r>
            <a:r>
              <a:rPr lang="en-IN" dirty="0">
                <a:solidFill>
                  <a:srgbClr val="000099"/>
                </a:solidFill>
              </a:rPr>
              <a:t>-decay</a:t>
            </a:r>
            <a:endParaRPr lang="en-US" dirty="0">
              <a:solidFill>
                <a:srgbClr val="000099"/>
              </a:solidFill>
            </a:endParaRPr>
          </a:p>
        </p:txBody>
      </p:sp>
      <p:sp>
        <p:nvSpPr>
          <p:cNvPr id="8" name="Content Placeholder 2"/>
          <p:cNvSpPr txBox="1">
            <a:spLocks/>
          </p:cNvSpPr>
          <p:nvPr/>
        </p:nvSpPr>
        <p:spPr>
          <a:xfrm>
            <a:off x="304800" y="4267200"/>
            <a:ext cx="8229600" cy="22098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IN" baseline="-25000" dirty="0"/>
              <a:t>Examples-</a:t>
            </a:r>
          </a:p>
          <a:p>
            <a:pPr marL="0" indent="0">
              <a:buFont typeface="Arial" pitchFamily="34" charset="0"/>
              <a:buNone/>
            </a:pPr>
            <a:r>
              <a:rPr lang="en-IN" baseline="-25000" dirty="0"/>
              <a:t>55</a:t>
            </a:r>
            <a:r>
              <a:rPr lang="en-IN" dirty="0"/>
              <a:t>Cs</a:t>
            </a:r>
            <a:r>
              <a:rPr lang="en-IN" baseline="30000" dirty="0"/>
              <a:t>137</a:t>
            </a:r>
            <a:r>
              <a:rPr lang="en-IN" dirty="0"/>
              <a:t> --&gt; </a:t>
            </a:r>
            <a:r>
              <a:rPr lang="en-IN" baseline="-25000" dirty="0"/>
              <a:t>56</a:t>
            </a:r>
            <a:r>
              <a:rPr lang="en-IN" dirty="0"/>
              <a:t>Ba</a:t>
            </a:r>
            <a:r>
              <a:rPr lang="en-IN" baseline="30000" dirty="0"/>
              <a:t>137</a:t>
            </a:r>
            <a:r>
              <a:rPr lang="en-IN" baseline="-25000" dirty="0"/>
              <a:t> </a:t>
            </a:r>
            <a:r>
              <a:rPr lang="en-IN" dirty="0"/>
              <a:t>+ e</a:t>
            </a:r>
            <a:r>
              <a:rPr lang="en-IN" baseline="30000" dirty="0"/>
              <a:t>-</a:t>
            </a:r>
            <a:r>
              <a:rPr lang="en-IN" dirty="0"/>
              <a:t> + </a:t>
            </a:r>
            <a:r>
              <a:rPr lang="el-GR" dirty="0"/>
              <a:t>ν</a:t>
            </a:r>
            <a:r>
              <a:rPr lang="en-IN" dirty="0"/>
              <a:t>*        </a:t>
            </a:r>
          </a:p>
          <a:p>
            <a:pPr marL="0" indent="0">
              <a:buFont typeface="Arial" pitchFamily="34" charset="0"/>
              <a:buNone/>
            </a:pPr>
            <a:r>
              <a:rPr lang="en-IN" baseline="-25000" dirty="0"/>
              <a:t>11</a:t>
            </a:r>
            <a:r>
              <a:rPr lang="en-IN" dirty="0"/>
              <a:t>Na</a:t>
            </a:r>
            <a:r>
              <a:rPr lang="en-IN" baseline="30000" dirty="0"/>
              <a:t>22</a:t>
            </a:r>
            <a:r>
              <a:rPr lang="en-IN" dirty="0"/>
              <a:t> --&gt; </a:t>
            </a:r>
            <a:r>
              <a:rPr lang="en-IN" baseline="-25000" dirty="0"/>
              <a:t>10</a:t>
            </a:r>
            <a:r>
              <a:rPr lang="en-IN" dirty="0"/>
              <a:t>Ne</a:t>
            </a:r>
            <a:r>
              <a:rPr lang="en-IN" baseline="30000" dirty="0"/>
              <a:t>22</a:t>
            </a:r>
            <a:r>
              <a:rPr lang="en-IN" dirty="0"/>
              <a:t> + e</a:t>
            </a:r>
            <a:r>
              <a:rPr lang="en-IN" baseline="30000" dirty="0"/>
              <a:t>+</a:t>
            </a:r>
            <a:r>
              <a:rPr lang="en-IN" dirty="0"/>
              <a:t> + </a:t>
            </a:r>
            <a:r>
              <a:rPr lang="el-GR" dirty="0"/>
              <a:t>ν</a:t>
            </a:r>
            <a:r>
              <a:rPr lang="en-IN" dirty="0"/>
              <a:t>         </a:t>
            </a:r>
            <a:endParaRPr lang="en-IN" baseline="30000" dirty="0"/>
          </a:p>
          <a:p>
            <a:pPr marL="0" indent="0">
              <a:buNone/>
            </a:pPr>
            <a:r>
              <a:rPr lang="en-IN" baseline="-25000" dirty="0"/>
              <a:t>11</a:t>
            </a:r>
            <a:r>
              <a:rPr lang="en-IN" dirty="0"/>
              <a:t>Na</a:t>
            </a:r>
            <a:r>
              <a:rPr lang="en-IN" baseline="30000" dirty="0"/>
              <a:t>22</a:t>
            </a:r>
            <a:r>
              <a:rPr lang="en-IN" dirty="0"/>
              <a:t> + e</a:t>
            </a:r>
            <a:r>
              <a:rPr lang="en-IN" baseline="30000" dirty="0"/>
              <a:t>-</a:t>
            </a:r>
            <a:r>
              <a:rPr lang="en-IN" dirty="0"/>
              <a:t> --&gt; </a:t>
            </a:r>
            <a:r>
              <a:rPr lang="en-IN" baseline="-25000" dirty="0"/>
              <a:t>10</a:t>
            </a:r>
            <a:r>
              <a:rPr lang="en-IN" dirty="0"/>
              <a:t>Ne</a:t>
            </a:r>
            <a:r>
              <a:rPr lang="en-IN" baseline="30000" dirty="0"/>
              <a:t>22</a:t>
            </a:r>
            <a:r>
              <a:rPr lang="en-IN" dirty="0"/>
              <a:t> + </a:t>
            </a:r>
            <a:r>
              <a:rPr lang="el-GR" dirty="0"/>
              <a:t>ν</a:t>
            </a:r>
            <a:r>
              <a:rPr lang="en-IN" dirty="0"/>
              <a:t>*        (</a:t>
            </a:r>
            <a:r>
              <a:rPr lang="en-IN" dirty="0">
                <a:solidFill>
                  <a:srgbClr val="0000FF"/>
                </a:solidFill>
              </a:rPr>
              <a:t>Auger effect</a:t>
            </a:r>
            <a:r>
              <a:rPr lang="en-IN" dirty="0"/>
              <a:t>)</a:t>
            </a:r>
            <a:endParaRPr lang="en-IN" baseline="30000" dirty="0"/>
          </a:p>
          <a:p>
            <a:pPr marL="0" indent="0">
              <a:buFont typeface="Arial" pitchFamily="34" charset="0"/>
              <a:buNone/>
            </a:pPr>
            <a:endParaRPr lang="en-IN" baseline="30000" dirty="0"/>
          </a:p>
        </p:txBody>
      </p:sp>
      <p:cxnSp>
        <p:nvCxnSpPr>
          <p:cNvPr id="12" name="Straight Connector 11"/>
          <p:cNvCxnSpPr/>
          <p:nvPr/>
        </p:nvCxnSpPr>
        <p:spPr>
          <a:xfrm>
            <a:off x="457200" y="4267200"/>
            <a:ext cx="8077200" cy="0"/>
          </a:xfrm>
          <a:prstGeom prst="line">
            <a:avLst/>
          </a:prstGeom>
          <a:ln w="31750">
            <a:solidFill>
              <a:srgbClr val="000099"/>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284699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6934AA0-4692-41C5-BE8C-1E9BD0630C2E}" type="slidenum">
              <a:rPr lang="en-IN" smtClean="0"/>
              <a:pPr/>
              <a:t>8</a:t>
            </a:fld>
            <a:endParaRPr lang="en-IN"/>
          </a:p>
        </p:txBody>
      </p:sp>
      <p:sp>
        <p:nvSpPr>
          <p:cNvPr id="5" name="Title 1"/>
          <p:cNvSpPr>
            <a:spLocks noGrp="1"/>
          </p:cNvSpPr>
          <p:nvPr>
            <p:ph type="title"/>
          </p:nvPr>
        </p:nvSpPr>
        <p:spPr>
          <a:xfrm>
            <a:off x="457200" y="274638"/>
            <a:ext cx="8229600" cy="1143000"/>
          </a:xfrm>
        </p:spPr>
        <p:txBody>
          <a:bodyPr/>
          <a:lstStyle/>
          <a:p>
            <a:r>
              <a:rPr lang="el-GR" dirty="0">
                <a:solidFill>
                  <a:srgbClr val="000099"/>
                </a:solidFill>
              </a:rPr>
              <a:t>γ</a:t>
            </a:r>
            <a:r>
              <a:rPr lang="en-IN" dirty="0">
                <a:solidFill>
                  <a:srgbClr val="000099"/>
                </a:solidFill>
              </a:rPr>
              <a:t>-decay</a:t>
            </a:r>
            <a:endParaRPr lang="en-US" dirty="0">
              <a:solidFill>
                <a:srgbClr val="000099"/>
              </a:solidFill>
            </a:endParaRPr>
          </a:p>
        </p:txBody>
      </p:sp>
      <p:sp>
        <p:nvSpPr>
          <p:cNvPr id="6" name="Content Placeholder 2"/>
          <p:cNvSpPr txBox="1">
            <a:spLocks/>
          </p:cNvSpPr>
          <p:nvPr/>
        </p:nvSpPr>
        <p:spPr>
          <a:xfrm>
            <a:off x="304800" y="1447800"/>
            <a:ext cx="3886200" cy="1150257"/>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IN" baseline="-25000" dirty="0"/>
              <a:t>Symbolically-</a:t>
            </a:r>
          </a:p>
          <a:p>
            <a:pPr marL="0" indent="0">
              <a:buNone/>
            </a:pPr>
            <a:r>
              <a:rPr lang="en-IN" baseline="-25000" dirty="0"/>
              <a:t>Z</a:t>
            </a:r>
            <a:r>
              <a:rPr lang="en-IN" dirty="0"/>
              <a:t>X</a:t>
            </a:r>
            <a:r>
              <a:rPr lang="en-IN" baseline="30000" dirty="0"/>
              <a:t>A</a:t>
            </a:r>
            <a:r>
              <a:rPr lang="en-IN" dirty="0"/>
              <a:t>* --&gt; </a:t>
            </a:r>
            <a:r>
              <a:rPr lang="en-IN" baseline="-25000" dirty="0"/>
              <a:t>Z</a:t>
            </a:r>
            <a:r>
              <a:rPr lang="en-IN" dirty="0"/>
              <a:t>X</a:t>
            </a:r>
            <a:r>
              <a:rPr lang="en-IN" baseline="30000" dirty="0"/>
              <a:t>A</a:t>
            </a:r>
            <a:r>
              <a:rPr lang="en-IN" dirty="0"/>
              <a:t> + </a:t>
            </a:r>
            <a:r>
              <a:rPr lang="el-GR" dirty="0"/>
              <a:t>γ</a:t>
            </a:r>
            <a:r>
              <a:rPr lang="en-IN" dirty="0"/>
              <a:t> </a:t>
            </a:r>
          </a:p>
          <a:p>
            <a:pPr marL="0" indent="0">
              <a:buFont typeface="Arial" pitchFamily="34" charset="0"/>
              <a:buNone/>
            </a:pPr>
            <a:endParaRPr lang="en-IN" baseline="30000" dirty="0"/>
          </a:p>
          <a:p>
            <a:pPr marL="0" indent="0">
              <a:buFont typeface="Arial" pitchFamily="34" charset="0"/>
              <a:buNone/>
            </a:pPr>
            <a:endParaRPr lang="en-IN" baseline="30000" dirty="0"/>
          </a:p>
        </p:txBody>
      </p:sp>
      <p:sp>
        <p:nvSpPr>
          <p:cNvPr id="7" name="Content Placeholder 2"/>
          <p:cNvSpPr txBox="1">
            <a:spLocks/>
          </p:cNvSpPr>
          <p:nvPr/>
        </p:nvSpPr>
        <p:spPr>
          <a:xfrm>
            <a:off x="381000" y="2895600"/>
            <a:ext cx="3886200" cy="1150257"/>
          </a:xfrm>
          <a:prstGeom prst="rect">
            <a:avLst/>
          </a:prstGeom>
        </p:spPr>
        <p:txBody>
          <a:bodyPr vert="horz" lIns="91440" tIns="45720" rIns="91440" bIns="45720" rtlCol="0">
            <a:normAutofit fontScale="925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IN" baseline="-25000" dirty="0"/>
              <a:t>Example-</a:t>
            </a:r>
          </a:p>
          <a:p>
            <a:pPr marL="0" indent="0">
              <a:buNone/>
            </a:pPr>
            <a:r>
              <a:rPr lang="en-IN" baseline="-25000" dirty="0"/>
              <a:t>66</a:t>
            </a:r>
            <a:r>
              <a:rPr lang="en-IN" dirty="0"/>
              <a:t>Dy</a:t>
            </a:r>
            <a:r>
              <a:rPr lang="en-IN" baseline="30000" dirty="0"/>
              <a:t>152</a:t>
            </a:r>
            <a:r>
              <a:rPr lang="en-IN" dirty="0"/>
              <a:t> * --&gt; </a:t>
            </a:r>
            <a:r>
              <a:rPr lang="en-IN" baseline="-25000" dirty="0"/>
              <a:t>66</a:t>
            </a:r>
            <a:r>
              <a:rPr lang="en-IN" dirty="0"/>
              <a:t>Dy</a:t>
            </a:r>
            <a:r>
              <a:rPr lang="en-IN" baseline="30000" dirty="0"/>
              <a:t>152</a:t>
            </a:r>
            <a:r>
              <a:rPr lang="en-IN" dirty="0"/>
              <a:t> + </a:t>
            </a:r>
            <a:r>
              <a:rPr lang="el-GR" dirty="0"/>
              <a:t>γ</a:t>
            </a:r>
            <a:r>
              <a:rPr lang="en-IN" dirty="0"/>
              <a:t> </a:t>
            </a:r>
          </a:p>
          <a:p>
            <a:pPr marL="0" indent="0">
              <a:buFont typeface="Arial" pitchFamily="34" charset="0"/>
              <a:buNone/>
            </a:pPr>
            <a:endParaRPr lang="en-IN" baseline="30000" dirty="0"/>
          </a:p>
          <a:p>
            <a:pPr marL="0" indent="0">
              <a:buFont typeface="Arial" pitchFamily="34" charset="0"/>
              <a:buNone/>
            </a:pPr>
            <a:endParaRPr lang="en-IN" baseline="30000" dirty="0"/>
          </a:p>
        </p:txBody>
      </p:sp>
    </p:spTree>
    <p:extLst>
      <p:ext uri="{BB962C8B-B14F-4D97-AF65-F5344CB8AC3E}">
        <p14:creationId xmlns:p14="http://schemas.microsoft.com/office/powerpoint/2010/main" val="32600342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Penetration</a:t>
            </a:r>
          </a:p>
        </p:txBody>
      </p:sp>
      <p:sp>
        <p:nvSpPr>
          <p:cNvPr id="4" name="Slide Number Placeholder 3"/>
          <p:cNvSpPr>
            <a:spLocks noGrp="1"/>
          </p:cNvSpPr>
          <p:nvPr>
            <p:ph type="sldNum" sz="quarter" idx="12"/>
          </p:nvPr>
        </p:nvSpPr>
        <p:spPr/>
        <p:txBody>
          <a:bodyPr/>
          <a:lstStyle/>
          <a:p>
            <a:fld id="{C6934AA0-4692-41C5-BE8C-1E9BD0630C2E}" type="slidenum">
              <a:rPr lang="en-IN" smtClean="0"/>
              <a:pPr/>
              <a:t>9</a:t>
            </a:fld>
            <a:endParaRPr lang="en-IN"/>
          </a:p>
        </p:txBody>
      </p:sp>
      <p:pic>
        <p:nvPicPr>
          <p:cNvPr id="2050" name="Picture 2" descr="Image result for radioactivity penetration"/>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15886" y="1981200"/>
            <a:ext cx="5048250" cy="3028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65241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Isotope, Isobar, Isotone</a:t>
            </a:r>
          </a:p>
        </p:txBody>
      </p:sp>
      <p:sp>
        <p:nvSpPr>
          <p:cNvPr id="3" name="Content Placeholder 2"/>
          <p:cNvSpPr>
            <a:spLocks noGrp="1"/>
          </p:cNvSpPr>
          <p:nvPr>
            <p:ph idx="1"/>
          </p:nvPr>
        </p:nvSpPr>
        <p:spPr/>
        <p:txBody>
          <a:bodyPr/>
          <a:lstStyle/>
          <a:p>
            <a:r>
              <a:rPr lang="en-IN" dirty="0"/>
              <a:t>Isotope = mass number same, but atomic number different</a:t>
            </a:r>
          </a:p>
          <a:p>
            <a:endParaRPr lang="en-IN" dirty="0"/>
          </a:p>
          <a:p>
            <a:r>
              <a:rPr lang="en-IN" dirty="0"/>
              <a:t>Isobar = mass number different, but atomic number same</a:t>
            </a:r>
          </a:p>
          <a:p>
            <a:endParaRPr lang="en-IN" dirty="0"/>
          </a:p>
          <a:p>
            <a:r>
              <a:rPr lang="en-IN" dirty="0"/>
              <a:t>Isotone = same number of neutron</a:t>
            </a:r>
          </a:p>
        </p:txBody>
      </p:sp>
      <p:sp>
        <p:nvSpPr>
          <p:cNvPr id="4" name="Slide Number Placeholder 3"/>
          <p:cNvSpPr>
            <a:spLocks noGrp="1"/>
          </p:cNvSpPr>
          <p:nvPr>
            <p:ph type="sldNum" sz="quarter" idx="12"/>
          </p:nvPr>
        </p:nvSpPr>
        <p:spPr/>
        <p:txBody>
          <a:bodyPr/>
          <a:lstStyle/>
          <a:p>
            <a:fld id="{C6934AA0-4692-41C5-BE8C-1E9BD0630C2E}" type="slidenum">
              <a:rPr lang="en-IN" smtClean="0"/>
              <a:pPr/>
              <a:t>10</a:t>
            </a:fld>
            <a:endParaRPr lang="en-IN"/>
          </a:p>
        </p:txBody>
      </p:sp>
    </p:spTree>
    <p:extLst>
      <p:ext uri="{BB962C8B-B14F-4D97-AF65-F5344CB8AC3E}">
        <p14:creationId xmlns:p14="http://schemas.microsoft.com/office/powerpoint/2010/main" val="28539934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solidFill>
                  <a:srgbClr val="990000"/>
                </a:solidFill>
              </a:rPr>
              <a:t>Radioisotope, radiopharmaceuticals</a:t>
            </a:r>
          </a:p>
        </p:txBody>
      </p:sp>
      <p:sp>
        <p:nvSpPr>
          <p:cNvPr id="3" name="Content Placeholder 2"/>
          <p:cNvSpPr>
            <a:spLocks noGrp="1"/>
          </p:cNvSpPr>
          <p:nvPr>
            <p:ph idx="1"/>
          </p:nvPr>
        </p:nvSpPr>
        <p:spPr>
          <a:xfrm>
            <a:off x="457200" y="1600201"/>
            <a:ext cx="8229600" cy="3657600"/>
          </a:xfrm>
        </p:spPr>
        <p:txBody>
          <a:bodyPr/>
          <a:lstStyle/>
          <a:p>
            <a:r>
              <a:rPr lang="en-IN" dirty="0">
                <a:solidFill>
                  <a:schemeClr val="accent2">
                    <a:lumMod val="50000"/>
                  </a:schemeClr>
                </a:solidFill>
              </a:rPr>
              <a:t>Radioisotopes are atoms that have excess energy so that they undergo radioactive decay.</a:t>
            </a:r>
          </a:p>
          <a:p>
            <a:endParaRPr lang="en-IN" dirty="0"/>
          </a:p>
          <a:p>
            <a:r>
              <a:rPr lang="en-IN" dirty="0">
                <a:solidFill>
                  <a:schemeClr val="accent6">
                    <a:lumMod val="50000"/>
                  </a:schemeClr>
                </a:solidFill>
              </a:rPr>
              <a:t>Some drugs exhibiting radioactivity are known as radiopharmaceuticals.</a:t>
            </a:r>
          </a:p>
        </p:txBody>
      </p:sp>
      <p:sp>
        <p:nvSpPr>
          <p:cNvPr id="4" name="Slide Number Placeholder 3"/>
          <p:cNvSpPr>
            <a:spLocks noGrp="1"/>
          </p:cNvSpPr>
          <p:nvPr>
            <p:ph type="sldNum" sz="quarter" idx="12"/>
          </p:nvPr>
        </p:nvSpPr>
        <p:spPr/>
        <p:txBody>
          <a:bodyPr/>
          <a:lstStyle/>
          <a:p>
            <a:fld id="{C6934AA0-4692-41C5-BE8C-1E9BD0630C2E}" type="slidenum">
              <a:rPr lang="en-IN" smtClean="0"/>
              <a:pPr/>
              <a:t>11</a:t>
            </a:fld>
            <a:endParaRPr lang="en-IN"/>
          </a:p>
        </p:txBody>
      </p:sp>
    </p:spTree>
    <p:extLst>
      <p:ext uri="{BB962C8B-B14F-4D97-AF65-F5344CB8AC3E}">
        <p14:creationId xmlns:p14="http://schemas.microsoft.com/office/powerpoint/2010/main" val="31424126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Difference  between isotope and radioisotope</a:t>
            </a:r>
          </a:p>
        </p:txBody>
      </p:sp>
      <p:sp>
        <p:nvSpPr>
          <p:cNvPr id="3" name="Content Placeholder 2"/>
          <p:cNvSpPr>
            <a:spLocks noGrp="1"/>
          </p:cNvSpPr>
          <p:nvPr>
            <p:ph idx="1"/>
          </p:nvPr>
        </p:nvSpPr>
        <p:spPr>
          <a:xfrm>
            <a:off x="685800" y="3276600"/>
            <a:ext cx="4648200" cy="3200400"/>
          </a:xfrm>
        </p:spPr>
        <p:txBody>
          <a:bodyPr/>
          <a:lstStyle/>
          <a:p>
            <a:r>
              <a:rPr lang="en-IN" baseline="-25000" dirty="0">
                <a:solidFill>
                  <a:srgbClr val="008000"/>
                </a:solidFill>
              </a:rPr>
              <a:t>1</a:t>
            </a:r>
            <a:r>
              <a:rPr lang="en-IN" dirty="0">
                <a:solidFill>
                  <a:srgbClr val="008000"/>
                </a:solidFill>
              </a:rPr>
              <a:t>H</a:t>
            </a:r>
            <a:r>
              <a:rPr lang="en-IN" baseline="30000" dirty="0">
                <a:solidFill>
                  <a:srgbClr val="008000"/>
                </a:solidFill>
              </a:rPr>
              <a:t>1</a:t>
            </a:r>
            <a:r>
              <a:rPr lang="en-IN" dirty="0">
                <a:solidFill>
                  <a:srgbClr val="008000"/>
                </a:solidFill>
              </a:rPr>
              <a:t>, </a:t>
            </a:r>
            <a:r>
              <a:rPr lang="en-IN" baseline="-25000" dirty="0">
                <a:solidFill>
                  <a:srgbClr val="008000"/>
                </a:solidFill>
              </a:rPr>
              <a:t>1</a:t>
            </a:r>
            <a:r>
              <a:rPr lang="en-IN" dirty="0">
                <a:solidFill>
                  <a:srgbClr val="008000"/>
                </a:solidFill>
              </a:rPr>
              <a:t>H</a:t>
            </a:r>
            <a:r>
              <a:rPr lang="en-IN" baseline="30000" dirty="0">
                <a:solidFill>
                  <a:srgbClr val="008000"/>
                </a:solidFill>
              </a:rPr>
              <a:t>2</a:t>
            </a:r>
          </a:p>
          <a:p>
            <a:endParaRPr lang="en-IN" baseline="30000" dirty="0">
              <a:solidFill>
                <a:srgbClr val="008000"/>
              </a:solidFill>
            </a:endParaRPr>
          </a:p>
          <a:p>
            <a:endParaRPr lang="en-IN" baseline="30000" dirty="0">
              <a:solidFill>
                <a:srgbClr val="008000"/>
              </a:solidFill>
            </a:endParaRPr>
          </a:p>
          <a:p>
            <a:r>
              <a:rPr lang="en-IN" baseline="-25000" dirty="0">
                <a:solidFill>
                  <a:srgbClr val="008000"/>
                </a:solidFill>
              </a:rPr>
              <a:t>6</a:t>
            </a:r>
            <a:r>
              <a:rPr lang="en-IN" dirty="0">
                <a:solidFill>
                  <a:srgbClr val="008000"/>
                </a:solidFill>
              </a:rPr>
              <a:t>C</a:t>
            </a:r>
            <a:r>
              <a:rPr lang="en-IN" baseline="30000" dirty="0">
                <a:solidFill>
                  <a:srgbClr val="008000"/>
                </a:solidFill>
              </a:rPr>
              <a:t>12</a:t>
            </a:r>
            <a:r>
              <a:rPr lang="en-IN" dirty="0">
                <a:solidFill>
                  <a:srgbClr val="008000"/>
                </a:solidFill>
              </a:rPr>
              <a:t>, </a:t>
            </a:r>
            <a:r>
              <a:rPr lang="en-IN" baseline="-25000" dirty="0">
                <a:solidFill>
                  <a:srgbClr val="FF0000"/>
                </a:solidFill>
              </a:rPr>
              <a:t>6</a:t>
            </a:r>
            <a:r>
              <a:rPr lang="en-IN" dirty="0">
                <a:solidFill>
                  <a:srgbClr val="FF0000"/>
                </a:solidFill>
              </a:rPr>
              <a:t>C</a:t>
            </a:r>
            <a:r>
              <a:rPr lang="en-IN" baseline="30000" dirty="0">
                <a:solidFill>
                  <a:srgbClr val="FF0000"/>
                </a:solidFill>
              </a:rPr>
              <a:t>14</a:t>
            </a:r>
          </a:p>
          <a:p>
            <a:endParaRPr lang="en-IN" dirty="0"/>
          </a:p>
          <a:p>
            <a:r>
              <a:rPr lang="en-IN" baseline="-25000" dirty="0">
                <a:solidFill>
                  <a:srgbClr val="008000"/>
                </a:solidFill>
              </a:rPr>
              <a:t>19</a:t>
            </a:r>
            <a:r>
              <a:rPr lang="en-IN" dirty="0">
                <a:solidFill>
                  <a:srgbClr val="008000"/>
                </a:solidFill>
              </a:rPr>
              <a:t>K</a:t>
            </a:r>
            <a:r>
              <a:rPr lang="en-IN" baseline="30000" dirty="0">
                <a:solidFill>
                  <a:srgbClr val="008000"/>
                </a:solidFill>
              </a:rPr>
              <a:t>39</a:t>
            </a:r>
            <a:r>
              <a:rPr lang="en-IN" dirty="0">
                <a:solidFill>
                  <a:srgbClr val="008000"/>
                </a:solidFill>
              </a:rPr>
              <a:t>, </a:t>
            </a:r>
            <a:r>
              <a:rPr lang="en-IN" baseline="-25000" dirty="0">
                <a:solidFill>
                  <a:srgbClr val="008000"/>
                </a:solidFill>
              </a:rPr>
              <a:t>19</a:t>
            </a:r>
            <a:r>
              <a:rPr lang="en-IN" dirty="0">
                <a:solidFill>
                  <a:srgbClr val="008000"/>
                </a:solidFill>
              </a:rPr>
              <a:t>K</a:t>
            </a:r>
            <a:r>
              <a:rPr lang="en-IN" baseline="30000" dirty="0">
                <a:solidFill>
                  <a:srgbClr val="008000"/>
                </a:solidFill>
              </a:rPr>
              <a:t>41</a:t>
            </a:r>
            <a:r>
              <a:rPr lang="en-IN" dirty="0">
                <a:solidFill>
                  <a:srgbClr val="FF0000"/>
                </a:solidFill>
              </a:rPr>
              <a:t>, </a:t>
            </a:r>
            <a:r>
              <a:rPr lang="en-IN" baseline="-25000" dirty="0">
                <a:solidFill>
                  <a:srgbClr val="FF0000"/>
                </a:solidFill>
              </a:rPr>
              <a:t>19</a:t>
            </a:r>
            <a:r>
              <a:rPr lang="en-IN" dirty="0">
                <a:solidFill>
                  <a:srgbClr val="FF0000"/>
                </a:solidFill>
              </a:rPr>
              <a:t>K</a:t>
            </a:r>
            <a:r>
              <a:rPr lang="en-IN" baseline="30000" dirty="0">
                <a:solidFill>
                  <a:srgbClr val="FF0000"/>
                </a:solidFill>
              </a:rPr>
              <a:t>43</a:t>
            </a:r>
            <a:r>
              <a:rPr lang="en-IN" dirty="0">
                <a:solidFill>
                  <a:srgbClr val="FF0000"/>
                </a:solidFill>
              </a:rPr>
              <a:t>, </a:t>
            </a:r>
            <a:r>
              <a:rPr lang="en-IN" baseline="-25000" dirty="0">
                <a:solidFill>
                  <a:srgbClr val="FF0000"/>
                </a:solidFill>
              </a:rPr>
              <a:t>19</a:t>
            </a:r>
            <a:r>
              <a:rPr lang="en-IN" dirty="0">
                <a:solidFill>
                  <a:srgbClr val="FF0000"/>
                </a:solidFill>
              </a:rPr>
              <a:t>K</a:t>
            </a:r>
            <a:r>
              <a:rPr lang="en-IN" baseline="30000" dirty="0">
                <a:solidFill>
                  <a:srgbClr val="FF0000"/>
                </a:solidFill>
              </a:rPr>
              <a:t>48</a:t>
            </a:r>
          </a:p>
          <a:p>
            <a:endParaRPr lang="en-IN" baseline="30000" dirty="0">
              <a:solidFill>
                <a:srgbClr val="FF0000"/>
              </a:solidFill>
            </a:endParaRPr>
          </a:p>
          <a:p>
            <a:endParaRPr lang="en-IN" baseline="30000" dirty="0">
              <a:solidFill>
                <a:srgbClr val="008000"/>
              </a:solidFill>
            </a:endParaRPr>
          </a:p>
        </p:txBody>
      </p:sp>
      <p:sp>
        <p:nvSpPr>
          <p:cNvPr id="4" name="Slide Number Placeholder 3"/>
          <p:cNvSpPr>
            <a:spLocks noGrp="1"/>
          </p:cNvSpPr>
          <p:nvPr>
            <p:ph type="sldNum" sz="quarter" idx="12"/>
          </p:nvPr>
        </p:nvSpPr>
        <p:spPr/>
        <p:txBody>
          <a:bodyPr/>
          <a:lstStyle/>
          <a:p>
            <a:fld id="{C6934AA0-4692-41C5-BE8C-1E9BD0630C2E}" type="slidenum">
              <a:rPr lang="en-IN" smtClean="0"/>
              <a:pPr/>
              <a:t>12</a:t>
            </a:fld>
            <a:endParaRPr lang="en-IN"/>
          </a:p>
        </p:txBody>
      </p:sp>
      <p:sp>
        <p:nvSpPr>
          <p:cNvPr id="5" name="Content Placeholder 2"/>
          <p:cNvSpPr txBox="1">
            <a:spLocks/>
          </p:cNvSpPr>
          <p:nvPr/>
        </p:nvSpPr>
        <p:spPr>
          <a:xfrm>
            <a:off x="457200" y="1676400"/>
            <a:ext cx="7924800" cy="12954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IN" dirty="0">
                <a:solidFill>
                  <a:srgbClr val="008000"/>
                </a:solidFill>
              </a:rPr>
              <a:t>Isotopes are stable but radioisotopes are unstable (demonstrate radioactivity)</a:t>
            </a:r>
            <a:endParaRPr lang="en-IN" baseline="30000" dirty="0">
              <a:solidFill>
                <a:srgbClr val="008000"/>
              </a:solidFill>
            </a:endParaRPr>
          </a:p>
          <a:p>
            <a:endParaRPr lang="en-IN" baseline="30000" dirty="0">
              <a:solidFill>
                <a:srgbClr val="008000"/>
              </a:solidFill>
            </a:endParaRPr>
          </a:p>
          <a:p>
            <a:endParaRPr lang="en-IN" baseline="30000" dirty="0">
              <a:solidFill>
                <a:srgbClr val="008000"/>
              </a:solidFill>
            </a:endParaRPr>
          </a:p>
          <a:p>
            <a:endParaRPr lang="en-IN" baseline="30000" dirty="0">
              <a:solidFill>
                <a:srgbClr val="008000"/>
              </a:solidFill>
            </a:endParaRPr>
          </a:p>
        </p:txBody>
      </p:sp>
    </p:spTree>
    <p:extLst>
      <p:ext uri="{BB962C8B-B14F-4D97-AF65-F5344CB8AC3E}">
        <p14:creationId xmlns:p14="http://schemas.microsoft.com/office/powerpoint/2010/main" val="6674228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6934AA0-4692-41C5-BE8C-1E9BD0630C2E}" type="slidenum">
              <a:rPr lang="en-IN" smtClean="0"/>
              <a:pPr/>
              <a:t>13</a:t>
            </a:fld>
            <a:endParaRPr lang="en-IN"/>
          </a:p>
        </p:txBody>
      </p:sp>
      <p:pic>
        <p:nvPicPr>
          <p:cNvPr id="5" name="Picture 2" descr="Image result for electromagnetic spectrum"/>
          <p:cNvPicPr>
            <a:picLocks noChangeAspect="1" noChangeArrowheads="1"/>
          </p:cNvPicPr>
          <p:nvPr/>
        </p:nvPicPr>
        <p:blipFill>
          <a:blip r:embed="rId2"/>
          <a:srcRect/>
          <a:stretch>
            <a:fillRect/>
          </a:stretch>
        </p:blipFill>
        <p:spPr bwMode="auto">
          <a:xfrm>
            <a:off x="152400" y="1447800"/>
            <a:ext cx="8802111" cy="4343400"/>
          </a:xfrm>
          <a:prstGeom prst="rect">
            <a:avLst/>
          </a:prstGeom>
          <a:noFill/>
        </p:spPr>
      </p:pic>
    </p:spTree>
    <p:extLst>
      <p:ext uri="{BB962C8B-B14F-4D97-AF65-F5344CB8AC3E}">
        <p14:creationId xmlns:p14="http://schemas.microsoft.com/office/powerpoint/2010/main" val="14619592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Difference between X-ray and </a:t>
            </a:r>
            <a:r>
              <a:rPr lang="el-GR" dirty="0"/>
              <a:t>ϒ</a:t>
            </a:r>
            <a:r>
              <a:rPr lang="en-IN" dirty="0"/>
              <a:t>-ray imaging</a:t>
            </a:r>
          </a:p>
        </p:txBody>
      </p:sp>
      <p:sp>
        <p:nvSpPr>
          <p:cNvPr id="4" name="Slide Number Placeholder 3"/>
          <p:cNvSpPr>
            <a:spLocks noGrp="1"/>
          </p:cNvSpPr>
          <p:nvPr>
            <p:ph type="sldNum" sz="quarter" idx="12"/>
          </p:nvPr>
        </p:nvSpPr>
        <p:spPr/>
        <p:txBody>
          <a:bodyPr/>
          <a:lstStyle/>
          <a:p>
            <a:fld id="{C6934AA0-4692-41C5-BE8C-1E9BD0630C2E}" type="slidenum">
              <a:rPr lang="en-IN" smtClean="0"/>
              <a:pPr/>
              <a:t>14</a:t>
            </a:fld>
            <a:endParaRPr lang="en-IN"/>
          </a:p>
        </p:txBody>
      </p:sp>
      <p:graphicFrame>
        <p:nvGraphicFramePr>
          <p:cNvPr id="5" name="Table 4"/>
          <p:cNvGraphicFramePr>
            <a:graphicFrameLocks noGrp="1"/>
          </p:cNvGraphicFramePr>
          <p:nvPr/>
        </p:nvGraphicFramePr>
        <p:xfrm>
          <a:off x="762000" y="1828800"/>
          <a:ext cx="7772400" cy="3955189"/>
        </p:xfrm>
        <a:graphic>
          <a:graphicData uri="http://schemas.openxmlformats.org/drawingml/2006/table">
            <a:tbl>
              <a:tblPr firstRow="1" bandRow="1">
                <a:tableStyleId>{5C22544A-7EE6-4342-B048-85BDC9FD1C3A}</a:tableStyleId>
              </a:tblPr>
              <a:tblGrid>
                <a:gridCol w="3886200">
                  <a:extLst>
                    <a:ext uri="{9D8B030D-6E8A-4147-A177-3AD203B41FA5}">
                      <a16:colId xmlns:a16="http://schemas.microsoft.com/office/drawing/2014/main" val="20000"/>
                    </a:ext>
                  </a:extLst>
                </a:gridCol>
                <a:gridCol w="3886200">
                  <a:extLst>
                    <a:ext uri="{9D8B030D-6E8A-4147-A177-3AD203B41FA5}">
                      <a16:colId xmlns:a16="http://schemas.microsoft.com/office/drawing/2014/main" val="20001"/>
                    </a:ext>
                  </a:extLst>
                </a:gridCol>
              </a:tblGrid>
              <a:tr h="418690">
                <a:tc>
                  <a:txBody>
                    <a:bodyPr/>
                    <a:lstStyle/>
                    <a:p>
                      <a:r>
                        <a:rPr lang="en-IN" dirty="0"/>
                        <a:t>X-ray</a:t>
                      </a:r>
                    </a:p>
                  </a:txBody>
                  <a:tcPr/>
                </a:tc>
                <a:tc>
                  <a:txBody>
                    <a:bodyPr/>
                    <a:lstStyle/>
                    <a:p>
                      <a:r>
                        <a:rPr lang="el-GR" dirty="0"/>
                        <a:t>ϒ</a:t>
                      </a:r>
                      <a:r>
                        <a:rPr lang="en-IN" dirty="0"/>
                        <a:t>-ray</a:t>
                      </a:r>
                    </a:p>
                  </a:txBody>
                  <a:tcPr/>
                </a:tc>
                <a:extLst>
                  <a:ext uri="{0D108BD9-81ED-4DB2-BD59-A6C34878D82A}">
                    <a16:rowId xmlns:a16="http://schemas.microsoft.com/office/drawing/2014/main" val="10000"/>
                  </a:ext>
                </a:extLst>
              </a:tr>
              <a:tr h="722671">
                <a:tc>
                  <a:txBody>
                    <a:bodyPr/>
                    <a:lstStyle/>
                    <a:p>
                      <a:r>
                        <a:rPr lang="en-IN" dirty="0"/>
                        <a:t>Produced by electrons outside the nucleus</a:t>
                      </a:r>
                    </a:p>
                  </a:txBody>
                  <a:tcPr/>
                </a:tc>
                <a:tc>
                  <a:txBody>
                    <a:bodyPr/>
                    <a:lstStyle/>
                    <a:p>
                      <a:r>
                        <a:rPr lang="en-IN" dirty="0"/>
                        <a:t>Emitted by nucleus.</a:t>
                      </a:r>
                    </a:p>
                  </a:txBody>
                  <a:tcPr/>
                </a:tc>
                <a:extLst>
                  <a:ext uri="{0D108BD9-81ED-4DB2-BD59-A6C34878D82A}">
                    <a16:rowId xmlns:a16="http://schemas.microsoft.com/office/drawing/2014/main" val="10001"/>
                  </a:ext>
                </a:extLst>
              </a:tr>
              <a:tr h="418690">
                <a:tc>
                  <a:txBody>
                    <a:bodyPr/>
                    <a:lstStyle/>
                    <a:p>
                      <a:r>
                        <a:rPr lang="en-IN" dirty="0"/>
                        <a:t>Energy 50 </a:t>
                      </a:r>
                      <a:r>
                        <a:rPr lang="en-IN" dirty="0" err="1"/>
                        <a:t>keV</a:t>
                      </a:r>
                      <a:endParaRPr lang="en-IN" dirty="0"/>
                    </a:p>
                  </a:txBody>
                  <a:tcPr/>
                </a:tc>
                <a:tc>
                  <a:txBody>
                    <a:bodyPr/>
                    <a:lstStyle/>
                    <a:p>
                      <a:r>
                        <a:rPr lang="en-IN" dirty="0"/>
                        <a:t>Energy 100-300 </a:t>
                      </a:r>
                      <a:r>
                        <a:rPr lang="en-IN" dirty="0" err="1"/>
                        <a:t>keV</a:t>
                      </a:r>
                      <a:endParaRPr lang="en-IN" dirty="0"/>
                    </a:p>
                  </a:txBody>
                  <a:tcPr/>
                </a:tc>
                <a:extLst>
                  <a:ext uri="{0D108BD9-81ED-4DB2-BD59-A6C34878D82A}">
                    <a16:rowId xmlns:a16="http://schemas.microsoft.com/office/drawing/2014/main" val="10002"/>
                  </a:ext>
                </a:extLst>
              </a:tr>
              <a:tr h="1032387">
                <a:tc>
                  <a:txBody>
                    <a:bodyPr/>
                    <a:lstStyle/>
                    <a:p>
                      <a:r>
                        <a:rPr lang="en-IN" dirty="0"/>
                        <a:t>During imaging</a:t>
                      </a:r>
                      <a:r>
                        <a:rPr lang="en-IN" baseline="0" dirty="0"/>
                        <a:t> X-ray source is outside the object</a:t>
                      </a:r>
                      <a:endParaRPr lang="en-IN" dirty="0"/>
                    </a:p>
                  </a:txBody>
                  <a:tcPr/>
                </a:tc>
                <a:tc>
                  <a:txBody>
                    <a:bodyPr/>
                    <a:lstStyle/>
                    <a:p>
                      <a:r>
                        <a:rPr lang="en-IN" dirty="0"/>
                        <a:t>For</a:t>
                      </a:r>
                      <a:r>
                        <a:rPr lang="en-IN" baseline="0" dirty="0"/>
                        <a:t> imaging </a:t>
                      </a:r>
                      <a:r>
                        <a:rPr lang="el-GR" dirty="0"/>
                        <a:t>ϒ</a:t>
                      </a:r>
                      <a:r>
                        <a:rPr lang="en-IN" dirty="0"/>
                        <a:t>-ray source (radioisotope) is placed inside the object</a:t>
                      </a:r>
                    </a:p>
                  </a:txBody>
                  <a:tcPr/>
                </a:tc>
                <a:extLst>
                  <a:ext uri="{0D108BD9-81ED-4DB2-BD59-A6C34878D82A}">
                    <a16:rowId xmlns:a16="http://schemas.microsoft.com/office/drawing/2014/main" val="10003"/>
                  </a:ext>
                </a:extLst>
              </a:tr>
              <a:tr h="722671">
                <a:tc>
                  <a:txBody>
                    <a:bodyPr/>
                    <a:lstStyle/>
                    <a:p>
                      <a:r>
                        <a:rPr lang="en-IN" dirty="0"/>
                        <a:t>It is used to image hard</a:t>
                      </a:r>
                      <a:r>
                        <a:rPr lang="en-IN" baseline="0" dirty="0"/>
                        <a:t> tissue (e.g. bone)</a:t>
                      </a:r>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It is used to image accumulation/source of </a:t>
                      </a:r>
                      <a:r>
                        <a:rPr lang="en-IN" baseline="0" dirty="0"/>
                        <a:t>radioisotope (in </a:t>
                      </a:r>
                      <a:r>
                        <a:rPr lang="en-IN" dirty="0"/>
                        <a:t>soft tissue)</a:t>
                      </a:r>
                    </a:p>
                  </a:txBody>
                  <a:tcPr/>
                </a:tc>
                <a:extLst>
                  <a:ext uri="{0D108BD9-81ED-4DB2-BD59-A6C34878D82A}">
                    <a16:rowId xmlns:a16="http://schemas.microsoft.com/office/drawing/2014/main" val="10004"/>
                  </a:ext>
                </a:extLst>
              </a:tr>
              <a:tr h="41869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Emissions of </a:t>
                      </a:r>
                      <a:r>
                        <a:rPr lang="el-GR" dirty="0"/>
                        <a:t>α</a:t>
                      </a:r>
                      <a:r>
                        <a:rPr lang="en-IN" dirty="0"/>
                        <a:t> and </a:t>
                      </a:r>
                      <a:r>
                        <a:rPr lang="el-GR" dirty="0"/>
                        <a:t>β</a:t>
                      </a:r>
                      <a:r>
                        <a:rPr lang="en-IN" dirty="0"/>
                        <a:t> particles</a:t>
                      </a:r>
                      <a:r>
                        <a:rPr lang="en-IN" baseline="0" dirty="0"/>
                        <a:t> don’t take place</a:t>
                      </a:r>
                      <a:endParaRPr lang="en-IN" dirty="0"/>
                    </a:p>
                  </a:txBody>
                  <a:tcPr/>
                </a:tc>
                <a:tc>
                  <a:txBody>
                    <a:bodyPr/>
                    <a:lstStyle/>
                    <a:p>
                      <a:r>
                        <a:rPr lang="en-IN" dirty="0"/>
                        <a:t>Accompanied by emissions of </a:t>
                      </a:r>
                      <a:r>
                        <a:rPr lang="el-GR" dirty="0"/>
                        <a:t>α</a:t>
                      </a:r>
                      <a:r>
                        <a:rPr lang="en-IN" dirty="0"/>
                        <a:t> and </a:t>
                      </a:r>
                      <a:r>
                        <a:rPr lang="el-GR" dirty="0"/>
                        <a:t>β</a:t>
                      </a:r>
                      <a:r>
                        <a:rPr lang="en-IN" dirty="0"/>
                        <a:t> particles</a:t>
                      </a:r>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0588330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IN" sz="4000" dirty="0">
                <a:solidFill>
                  <a:schemeClr val="accent2">
                    <a:lumMod val="75000"/>
                  </a:schemeClr>
                </a:solidFill>
              </a:rPr>
              <a:t>SPECT and PET imaging</a:t>
            </a:r>
          </a:p>
        </p:txBody>
      </p:sp>
      <p:sp>
        <p:nvSpPr>
          <p:cNvPr id="4" name="Slide Number Placeholder 3"/>
          <p:cNvSpPr>
            <a:spLocks noGrp="1"/>
          </p:cNvSpPr>
          <p:nvPr>
            <p:ph type="sldNum" sz="quarter" idx="12"/>
          </p:nvPr>
        </p:nvSpPr>
        <p:spPr/>
        <p:txBody>
          <a:bodyPr/>
          <a:lstStyle/>
          <a:p>
            <a:fld id="{1B53BD87-CAC7-4BED-B180-FCA6CCA79BE2}" type="slidenum">
              <a:rPr lang="en-IN" smtClean="0"/>
              <a:pPr/>
              <a:t>15</a:t>
            </a:fld>
            <a:endParaRPr lang="en-IN"/>
          </a:p>
        </p:txBody>
      </p:sp>
    </p:spTree>
    <p:extLst>
      <p:ext uri="{BB962C8B-B14F-4D97-AF65-F5344CB8AC3E}">
        <p14:creationId xmlns:p14="http://schemas.microsoft.com/office/powerpoint/2010/main" val="30291603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514600"/>
            <a:ext cx="8229600" cy="1143000"/>
          </a:xfrm>
        </p:spPr>
        <p:txBody>
          <a:bodyPr>
            <a:normAutofit fontScale="90000"/>
          </a:bodyPr>
          <a:lstStyle/>
          <a:p>
            <a:r>
              <a:rPr lang="en-IN" dirty="0">
                <a:solidFill>
                  <a:srgbClr val="0000FF"/>
                </a:solidFill>
              </a:rPr>
              <a:t>Single photon emission computed tomography (SPECT)</a:t>
            </a:r>
          </a:p>
        </p:txBody>
      </p:sp>
      <p:sp>
        <p:nvSpPr>
          <p:cNvPr id="4" name="Slide Number Placeholder 3"/>
          <p:cNvSpPr>
            <a:spLocks noGrp="1"/>
          </p:cNvSpPr>
          <p:nvPr>
            <p:ph type="sldNum" sz="quarter" idx="12"/>
          </p:nvPr>
        </p:nvSpPr>
        <p:spPr/>
        <p:txBody>
          <a:bodyPr/>
          <a:lstStyle/>
          <a:p>
            <a:fld id="{1B53BD87-CAC7-4BED-B180-FCA6CCA79BE2}" type="slidenum">
              <a:rPr lang="en-IN" smtClean="0"/>
              <a:pPr/>
              <a:t>16</a:t>
            </a:fld>
            <a:endParaRPr lang="en-IN"/>
          </a:p>
        </p:txBody>
      </p:sp>
    </p:spTree>
    <p:extLst>
      <p:ext uri="{BB962C8B-B14F-4D97-AF65-F5344CB8AC3E}">
        <p14:creationId xmlns:p14="http://schemas.microsoft.com/office/powerpoint/2010/main" val="26881242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458200" cy="792162"/>
          </a:xfrm>
        </p:spPr>
        <p:txBody>
          <a:bodyPr>
            <a:normAutofit fontScale="90000"/>
          </a:bodyPr>
          <a:lstStyle/>
          <a:p>
            <a:r>
              <a:rPr lang="en-IN" dirty="0">
                <a:solidFill>
                  <a:srgbClr val="CC9900"/>
                </a:solidFill>
              </a:rPr>
              <a:t>Common Radiopharmaceuticals (</a:t>
            </a:r>
            <a:r>
              <a:rPr lang="en-IN" dirty="0" err="1">
                <a:solidFill>
                  <a:srgbClr val="CC9900"/>
                </a:solidFill>
              </a:rPr>
              <a:t>RaPhs</a:t>
            </a:r>
            <a:r>
              <a:rPr lang="en-IN" dirty="0">
                <a:solidFill>
                  <a:srgbClr val="CC9900"/>
                </a:solidFill>
              </a:rPr>
              <a:t>)</a:t>
            </a:r>
          </a:p>
        </p:txBody>
      </p:sp>
      <p:sp>
        <p:nvSpPr>
          <p:cNvPr id="4" name="Slide Number Placeholder 3"/>
          <p:cNvSpPr>
            <a:spLocks noGrp="1"/>
          </p:cNvSpPr>
          <p:nvPr>
            <p:ph type="sldNum" sz="quarter" idx="12"/>
          </p:nvPr>
        </p:nvSpPr>
        <p:spPr/>
        <p:txBody>
          <a:bodyPr/>
          <a:lstStyle/>
          <a:p>
            <a:fld id="{C6934AA0-4692-41C5-BE8C-1E9BD0630C2E}" type="slidenum">
              <a:rPr lang="en-IN" smtClean="0"/>
              <a:pPr/>
              <a:t>17</a:t>
            </a:fld>
            <a:endParaRPr lang="en-IN"/>
          </a:p>
        </p:txBody>
      </p:sp>
      <p:graphicFrame>
        <p:nvGraphicFramePr>
          <p:cNvPr id="6" name="Table 5"/>
          <p:cNvGraphicFramePr>
            <a:graphicFrameLocks noGrp="1"/>
          </p:cNvGraphicFramePr>
          <p:nvPr/>
        </p:nvGraphicFramePr>
        <p:xfrm>
          <a:off x="609600" y="1666945"/>
          <a:ext cx="8153400" cy="4048055"/>
        </p:xfrm>
        <a:graphic>
          <a:graphicData uri="http://schemas.openxmlformats.org/drawingml/2006/table">
            <a:tbl>
              <a:tblPr firstRow="1" bandRow="1">
                <a:tableStyleId>{5C22544A-7EE6-4342-B048-85BDC9FD1C3A}</a:tableStyleId>
              </a:tblPr>
              <a:tblGrid>
                <a:gridCol w="1295400">
                  <a:extLst>
                    <a:ext uri="{9D8B030D-6E8A-4147-A177-3AD203B41FA5}">
                      <a16:colId xmlns:a16="http://schemas.microsoft.com/office/drawing/2014/main" val="20000"/>
                    </a:ext>
                  </a:extLst>
                </a:gridCol>
                <a:gridCol w="990600">
                  <a:extLst>
                    <a:ext uri="{9D8B030D-6E8A-4147-A177-3AD203B41FA5}">
                      <a16:colId xmlns:a16="http://schemas.microsoft.com/office/drawing/2014/main" val="20001"/>
                    </a:ext>
                  </a:extLst>
                </a:gridCol>
                <a:gridCol w="1752600">
                  <a:extLst>
                    <a:ext uri="{9D8B030D-6E8A-4147-A177-3AD203B41FA5}">
                      <a16:colId xmlns:a16="http://schemas.microsoft.com/office/drawing/2014/main" val="20002"/>
                    </a:ext>
                  </a:extLst>
                </a:gridCol>
                <a:gridCol w="4114800">
                  <a:extLst>
                    <a:ext uri="{9D8B030D-6E8A-4147-A177-3AD203B41FA5}">
                      <a16:colId xmlns:a16="http://schemas.microsoft.com/office/drawing/2014/main" val="20003"/>
                    </a:ext>
                  </a:extLst>
                </a:gridCol>
              </a:tblGrid>
              <a:tr h="616719">
                <a:tc>
                  <a:txBody>
                    <a:bodyPr/>
                    <a:lstStyle/>
                    <a:p>
                      <a:r>
                        <a:rPr lang="en-IN" dirty="0"/>
                        <a:t>Name</a:t>
                      </a:r>
                    </a:p>
                  </a:txBody>
                  <a:tcPr/>
                </a:tc>
                <a:tc>
                  <a:txBody>
                    <a:bodyPr/>
                    <a:lstStyle/>
                    <a:p>
                      <a:r>
                        <a:rPr lang="en-IN" dirty="0"/>
                        <a:t>T1/2</a:t>
                      </a:r>
                    </a:p>
                  </a:txBody>
                  <a:tcPr/>
                </a:tc>
                <a:tc>
                  <a:txBody>
                    <a:bodyPr/>
                    <a:lstStyle/>
                    <a:p>
                      <a:r>
                        <a:rPr lang="en-IN" dirty="0"/>
                        <a:t>Energy of </a:t>
                      </a:r>
                      <a:r>
                        <a:rPr lang="el-GR" dirty="0"/>
                        <a:t>γ</a:t>
                      </a:r>
                      <a:r>
                        <a:rPr lang="en-IN" dirty="0"/>
                        <a:t> radiation</a:t>
                      </a:r>
                    </a:p>
                  </a:txBody>
                  <a:tcPr/>
                </a:tc>
                <a:tc>
                  <a:txBody>
                    <a:bodyPr/>
                    <a:lstStyle/>
                    <a:p>
                      <a:r>
                        <a:rPr lang="en-IN" dirty="0"/>
                        <a:t>Remarks</a:t>
                      </a:r>
                    </a:p>
                  </a:txBody>
                  <a:tcPr/>
                </a:tc>
                <a:extLst>
                  <a:ext uri="{0D108BD9-81ED-4DB2-BD59-A6C34878D82A}">
                    <a16:rowId xmlns:a16="http://schemas.microsoft.com/office/drawing/2014/main" val="10000"/>
                  </a:ext>
                </a:extLst>
              </a:tr>
              <a:tr h="357306">
                <a:tc>
                  <a:txBody>
                    <a:bodyPr/>
                    <a:lstStyle/>
                    <a:p>
                      <a:r>
                        <a:rPr lang="en-US" baseline="30000" dirty="0">
                          <a:solidFill>
                            <a:srgbClr val="FFFF00"/>
                          </a:solidFill>
                          <a:effectLst>
                            <a:outerShdw blurRad="38100" dist="38100" dir="2700000" algn="tl">
                              <a:srgbClr val="000000"/>
                            </a:outerShdw>
                          </a:effectLst>
                        </a:rPr>
                        <a:t>226</a:t>
                      </a:r>
                      <a:r>
                        <a:rPr lang="en-US" dirty="0">
                          <a:solidFill>
                            <a:srgbClr val="FFFF00"/>
                          </a:solidFill>
                          <a:effectLst>
                            <a:outerShdw blurRad="38100" dist="38100" dir="2700000" algn="tl">
                              <a:srgbClr val="000000"/>
                            </a:outerShdw>
                          </a:effectLst>
                        </a:rPr>
                        <a:t>Ra</a:t>
                      </a:r>
                      <a:endParaRPr lang="en-IN" dirty="0"/>
                    </a:p>
                  </a:txBody>
                  <a:tcPr/>
                </a:tc>
                <a:tc>
                  <a:txBody>
                    <a:bodyPr/>
                    <a:lstStyle/>
                    <a:p>
                      <a:r>
                        <a:rPr lang="en-US" dirty="0">
                          <a:solidFill>
                            <a:srgbClr val="FFFF00"/>
                          </a:solidFill>
                          <a:effectLst>
                            <a:outerShdw blurRad="38100" dist="38100" dir="2700000" algn="tl">
                              <a:srgbClr val="000000"/>
                            </a:outerShdw>
                          </a:effectLst>
                        </a:rPr>
                        <a:t>1600 y</a:t>
                      </a:r>
                      <a:endParaRPr lang="en-IN" dirty="0"/>
                    </a:p>
                  </a:txBody>
                  <a:tcPr/>
                </a:tc>
                <a:tc>
                  <a:txBody>
                    <a:bodyPr/>
                    <a:lstStyle/>
                    <a:p>
                      <a:r>
                        <a:rPr lang="en-US" dirty="0">
                          <a:solidFill>
                            <a:srgbClr val="FFFF00"/>
                          </a:solidFill>
                          <a:effectLst>
                            <a:outerShdw blurRad="38100" dist="38100" dir="2700000" algn="tl">
                              <a:srgbClr val="000000"/>
                            </a:outerShdw>
                          </a:effectLst>
                        </a:rPr>
                        <a:t>186 </a:t>
                      </a:r>
                      <a:r>
                        <a:rPr lang="en-US" dirty="0" err="1">
                          <a:solidFill>
                            <a:srgbClr val="FFFF00"/>
                          </a:solidFill>
                          <a:effectLst>
                            <a:outerShdw blurRad="38100" dist="38100" dir="2700000" algn="tl">
                              <a:srgbClr val="000000"/>
                            </a:outerShdw>
                          </a:effectLst>
                        </a:rPr>
                        <a:t>keV</a:t>
                      </a:r>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solidFill>
                            <a:srgbClr val="FFFF00"/>
                          </a:solidFill>
                          <a:effectLst>
                            <a:outerShdw blurRad="38100" dist="38100" dir="2700000" algn="tl">
                              <a:srgbClr val="000000"/>
                            </a:outerShdw>
                          </a:effectLst>
                        </a:rPr>
                        <a:t>is used for highly localized studies </a:t>
                      </a:r>
                    </a:p>
                  </a:txBody>
                  <a:tcPr/>
                </a:tc>
                <a:extLst>
                  <a:ext uri="{0D108BD9-81ED-4DB2-BD59-A6C34878D82A}">
                    <a16:rowId xmlns:a16="http://schemas.microsoft.com/office/drawing/2014/main" val="10001"/>
                  </a:ext>
                </a:extLst>
              </a:tr>
              <a:tr h="616719">
                <a:tc>
                  <a:txBody>
                    <a:bodyPr/>
                    <a:lstStyle/>
                    <a:p>
                      <a:r>
                        <a:rPr lang="en-US" baseline="30000" dirty="0">
                          <a:solidFill>
                            <a:srgbClr val="FFFF00"/>
                          </a:solidFill>
                          <a:effectLst>
                            <a:outerShdw blurRad="38100" dist="38100" dir="2700000" algn="tl">
                              <a:srgbClr val="000000"/>
                            </a:outerShdw>
                          </a:effectLst>
                        </a:rPr>
                        <a:t>67</a:t>
                      </a:r>
                      <a:r>
                        <a:rPr lang="en-US" dirty="0">
                          <a:solidFill>
                            <a:srgbClr val="FFFF00"/>
                          </a:solidFill>
                          <a:effectLst>
                            <a:outerShdw blurRad="38100" dist="38100" dir="2700000" algn="tl">
                              <a:srgbClr val="000000"/>
                            </a:outerShdw>
                          </a:effectLst>
                        </a:rPr>
                        <a:t>Ga</a:t>
                      </a:r>
                      <a:endParaRPr lang="en-IN" dirty="0"/>
                    </a:p>
                  </a:txBody>
                  <a:tcPr/>
                </a:tc>
                <a:tc>
                  <a:txBody>
                    <a:bodyPr/>
                    <a:lstStyle/>
                    <a:p>
                      <a:r>
                        <a:rPr lang="en-US" dirty="0">
                          <a:solidFill>
                            <a:srgbClr val="FFFF00"/>
                          </a:solidFill>
                          <a:effectLst>
                            <a:outerShdw blurRad="38100" dist="38100" dir="2700000" algn="tl">
                              <a:srgbClr val="000000"/>
                            </a:outerShdw>
                          </a:effectLst>
                        </a:rPr>
                        <a:t>78.3 h</a:t>
                      </a:r>
                      <a:endParaRPr lang="en-IN" dirty="0"/>
                    </a:p>
                  </a:txBody>
                  <a:tcPr/>
                </a:tc>
                <a:tc>
                  <a:txBody>
                    <a:bodyPr/>
                    <a:lstStyle/>
                    <a:p>
                      <a:r>
                        <a:rPr lang="en-IN" dirty="0"/>
                        <a:t>93, 185, 300 </a:t>
                      </a:r>
                      <a:r>
                        <a:rPr lang="en-IN" dirty="0" err="1"/>
                        <a:t>keV</a:t>
                      </a:r>
                      <a:endParaRPr lang="en-IN" dirty="0"/>
                    </a:p>
                  </a:txBody>
                  <a:tcPr/>
                </a:tc>
                <a:tc>
                  <a:txBody>
                    <a:bodyPr/>
                    <a:lstStyle/>
                    <a:p>
                      <a:r>
                        <a:rPr lang="en-US" dirty="0">
                          <a:solidFill>
                            <a:srgbClr val="FFFF00"/>
                          </a:solidFill>
                          <a:effectLst>
                            <a:outerShdw blurRad="38100" dist="38100" dir="2700000" algn="tl">
                              <a:srgbClr val="000000"/>
                            </a:outerShdw>
                          </a:effectLst>
                        </a:rPr>
                        <a:t>is often used as tumor localizing agent (gallium citrate)</a:t>
                      </a:r>
                      <a:endParaRPr lang="en-IN" dirty="0"/>
                    </a:p>
                  </a:txBody>
                  <a:tcPr/>
                </a:tc>
                <a:extLst>
                  <a:ext uri="{0D108BD9-81ED-4DB2-BD59-A6C34878D82A}">
                    <a16:rowId xmlns:a16="http://schemas.microsoft.com/office/drawing/2014/main" val="10002"/>
                  </a:ext>
                </a:extLst>
              </a:tr>
              <a:tr h="616719">
                <a:tc>
                  <a:txBody>
                    <a:bodyPr/>
                    <a:lstStyle/>
                    <a:p>
                      <a:r>
                        <a:rPr lang="en-US" baseline="30000" dirty="0">
                          <a:solidFill>
                            <a:srgbClr val="FFFF00"/>
                          </a:solidFill>
                          <a:effectLst>
                            <a:outerShdw blurRad="38100" dist="38100" dir="2700000" algn="tl">
                              <a:srgbClr val="000000"/>
                            </a:outerShdw>
                          </a:effectLst>
                        </a:rPr>
                        <a:t>123</a:t>
                      </a:r>
                      <a:r>
                        <a:rPr lang="en-US" dirty="0">
                          <a:solidFill>
                            <a:srgbClr val="FFFF00"/>
                          </a:solidFill>
                          <a:effectLst>
                            <a:outerShdw blurRad="38100" dist="38100" dir="2700000" algn="tl">
                              <a:srgbClr val="000000"/>
                            </a:outerShdw>
                          </a:effectLst>
                        </a:rPr>
                        <a:t>I</a:t>
                      </a:r>
                      <a:endParaRPr lang="en-IN" dirty="0"/>
                    </a:p>
                  </a:txBody>
                  <a:tcPr/>
                </a:tc>
                <a:tc>
                  <a:txBody>
                    <a:bodyPr/>
                    <a:lstStyle/>
                    <a:p>
                      <a:r>
                        <a:rPr lang="en-IN" dirty="0"/>
                        <a:t>13 h</a:t>
                      </a:r>
                    </a:p>
                  </a:txBody>
                  <a:tcPr/>
                </a:tc>
                <a:tc>
                  <a:txBody>
                    <a:bodyPr/>
                    <a:lstStyle/>
                    <a:p>
                      <a:r>
                        <a:rPr lang="en-IN" dirty="0"/>
                        <a:t>159 </a:t>
                      </a:r>
                      <a:r>
                        <a:rPr lang="en-IN" dirty="0" err="1"/>
                        <a:t>keV</a:t>
                      </a:r>
                      <a:endParaRPr lang="en-IN" dirty="0"/>
                    </a:p>
                  </a:txBody>
                  <a:tcPr/>
                </a:tc>
                <a:tc>
                  <a:txBody>
                    <a:bodyPr/>
                    <a:lstStyle/>
                    <a:p>
                      <a:r>
                        <a:rPr lang="en-US" dirty="0">
                          <a:solidFill>
                            <a:srgbClr val="FFFF00"/>
                          </a:solidFill>
                          <a:effectLst>
                            <a:outerShdw blurRad="38100" dist="38100" dir="2700000" algn="tl">
                              <a:srgbClr val="000000"/>
                            </a:outerShdw>
                          </a:effectLst>
                        </a:rPr>
                        <a:t>bonds   good  with  proteins   and molecules that can be iodinated.</a:t>
                      </a:r>
                      <a:endParaRPr lang="en-IN" dirty="0"/>
                    </a:p>
                  </a:txBody>
                  <a:tcPr/>
                </a:tc>
                <a:extLst>
                  <a:ext uri="{0D108BD9-81ED-4DB2-BD59-A6C34878D82A}">
                    <a16:rowId xmlns:a16="http://schemas.microsoft.com/office/drawing/2014/main" val="10003"/>
                  </a:ext>
                </a:extLst>
              </a:tr>
              <a:tr h="616719">
                <a:tc>
                  <a:txBody>
                    <a:bodyPr/>
                    <a:lstStyle/>
                    <a:p>
                      <a:r>
                        <a:rPr lang="en-IN" baseline="30000" dirty="0"/>
                        <a:t>99m</a:t>
                      </a:r>
                      <a:r>
                        <a:rPr lang="en-IN" dirty="0"/>
                        <a:t>Tc</a:t>
                      </a:r>
                    </a:p>
                  </a:txBody>
                  <a:tcPr/>
                </a:tc>
                <a:tc>
                  <a:txBody>
                    <a:bodyPr/>
                    <a:lstStyle/>
                    <a:p>
                      <a:r>
                        <a:rPr lang="en-IN" dirty="0"/>
                        <a:t>6</a:t>
                      </a:r>
                      <a:r>
                        <a:rPr lang="en-IN" baseline="0" dirty="0"/>
                        <a:t> </a:t>
                      </a:r>
                      <a:r>
                        <a:rPr lang="en-IN" dirty="0"/>
                        <a:t>h</a:t>
                      </a:r>
                    </a:p>
                  </a:txBody>
                  <a:tcPr/>
                </a:tc>
                <a:tc>
                  <a:txBody>
                    <a:bodyPr/>
                    <a:lstStyle/>
                    <a:p>
                      <a:r>
                        <a:rPr lang="en-IN" dirty="0"/>
                        <a:t>140 </a:t>
                      </a:r>
                      <a:r>
                        <a:rPr lang="en-IN" dirty="0" err="1"/>
                        <a:t>keV</a:t>
                      </a:r>
                      <a:endParaRPr lang="en-IN" dirty="0"/>
                    </a:p>
                  </a:txBody>
                  <a:tcPr/>
                </a:tc>
                <a:tc>
                  <a:txBody>
                    <a:bodyPr/>
                    <a:lstStyle/>
                    <a:p>
                      <a:endParaRPr lang="en-IN" dirty="0"/>
                    </a:p>
                  </a:txBody>
                  <a:tcPr/>
                </a:tc>
                <a:extLst>
                  <a:ext uri="{0D108BD9-81ED-4DB2-BD59-A6C34878D82A}">
                    <a16:rowId xmlns:a16="http://schemas.microsoft.com/office/drawing/2014/main" val="10004"/>
                  </a:ext>
                </a:extLst>
              </a:tr>
              <a:tr h="1145336">
                <a:tc>
                  <a:txBody>
                    <a:bodyPr/>
                    <a:lstStyle/>
                    <a:p>
                      <a:r>
                        <a:rPr lang="en-US" baseline="30000" dirty="0">
                          <a:solidFill>
                            <a:srgbClr val="FFFF00"/>
                          </a:solidFill>
                          <a:effectLst>
                            <a:outerShdw blurRad="38100" dist="38100" dir="2700000" algn="tl">
                              <a:srgbClr val="000000"/>
                            </a:outerShdw>
                          </a:effectLst>
                        </a:rPr>
                        <a:t>81</a:t>
                      </a:r>
                      <a:r>
                        <a:rPr lang="en-US" dirty="0">
                          <a:solidFill>
                            <a:srgbClr val="FFFF00"/>
                          </a:solidFill>
                          <a:effectLst>
                            <a:outerShdw blurRad="38100" dist="38100" dir="2700000" algn="tl">
                              <a:srgbClr val="000000"/>
                            </a:outerShdw>
                          </a:effectLst>
                        </a:rPr>
                        <a:t>Kr</a:t>
                      </a:r>
                      <a:endParaRPr lang="en-IN" dirty="0"/>
                    </a:p>
                  </a:txBody>
                  <a:tcPr/>
                </a:tc>
                <a:tc>
                  <a:txBody>
                    <a:bodyPr/>
                    <a:lstStyle/>
                    <a:p>
                      <a:r>
                        <a:rPr lang="en-IN" dirty="0"/>
                        <a:t>13 s</a:t>
                      </a:r>
                    </a:p>
                  </a:txBody>
                  <a:tcPr/>
                </a:tc>
                <a:tc>
                  <a:txBody>
                    <a:bodyPr/>
                    <a:lstStyle/>
                    <a:p>
                      <a:r>
                        <a:rPr lang="en-IN" dirty="0"/>
                        <a:t>190 </a:t>
                      </a:r>
                      <a:r>
                        <a:rPr lang="en-IN" dirty="0" err="1"/>
                        <a:t>keV</a:t>
                      </a:r>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solidFill>
                            <a:srgbClr val="FFFF00"/>
                          </a:solidFill>
                          <a:effectLst>
                            <a:outerShdw blurRad="38100" dist="38100" dir="2700000" algn="tl">
                              <a:srgbClr val="000000"/>
                            </a:outerShdw>
                          </a:effectLst>
                        </a:rPr>
                        <a:t>is a very short-lived gas used to perform lung ventilation studies, (short half-life limits its application)</a:t>
                      </a:r>
                    </a:p>
                  </a:txBody>
                  <a:tcPr/>
                </a:tc>
                <a:extLst>
                  <a:ext uri="{0D108BD9-81ED-4DB2-BD59-A6C34878D82A}">
                    <a16:rowId xmlns:a16="http://schemas.microsoft.com/office/drawing/2014/main" val="10005"/>
                  </a:ext>
                </a:extLst>
              </a:tr>
            </a:tbl>
          </a:graphicData>
        </a:graphic>
      </p:graphicFrame>
      <p:sp>
        <p:nvSpPr>
          <p:cNvPr id="7" name="Rectangle 6"/>
          <p:cNvSpPr/>
          <p:nvPr/>
        </p:nvSpPr>
        <p:spPr>
          <a:xfrm>
            <a:off x="609600" y="5943600"/>
            <a:ext cx="1772345" cy="369332"/>
          </a:xfrm>
          <a:prstGeom prst="rect">
            <a:avLst/>
          </a:prstGeom>
        </p:spPr>
        <p:txBody>
          <a:bodyPr wrap="none">
            <a:spAutoFit/>
          </a:bodyPr>
          <a:lstStyle/>
          <a:p>
            <a:r>
              <a:rPr lang="en-IN" dirty="0"/>
              <a:t>Technetium-99m</a:t>
            </a:r>
          </a:p>
        </p:txBody>
      </p:sp>
    </p:spTree>
    <p:extLst>
      <p:ext uri="{BB962C8B-B14F-4D97-AF65-F5344CB8AC3E}">
        <p14:creationId xmlns:p14="http://schemas.microsoft.com/office/powerpoint/2010/main" val="27857319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solidFill>
                  <a:srgbClr val="FF0000"/>
                </a:solidFill>
              </a:rPr>
              <a:t>Features of </a:t>
            </a:r>
            <a:r>
              <a:rPr lang="en-IN" dirty="0" err="1">
                <a:solidFill>
                  <a:srgbClr val="FF0000"/>
                </a:solidFill>
              </a:rPr>
              <a:t>RaPhs</a:t>
            </a:r>
            <a:endParaRPr lang="en-IN" dirty="0">
              <a:solidFill>
                <a:srgbClr val="FF0000"/>
              </a:solidFill>
            </a:endParaRPr>
          </a:p>
        </p:txBody>
      </p:sp>
      <p:sp>
        <p:nvSpPr>
          <p:cNvPr id="4" name="Slide Number Placeholder 3"/>
          <p:cNvSpPr>
            <a:spLocks noGrp="1"/>
          </p:cNvSpPr>
          <p:nvPr>
            <p:ph type="sldNum" sz="quarter" idx="12"/>
          </p:nvPr>
        </p:nvSpPr>
        <p:spPr/>
        <p:txBody>
          <a:bodyPr/>
          <a:lstStyle/>
          <a:p>
            <a:fld id="{C6934AA0-4692-41C5-BE8C-1E9BD0630C2E}" type="slidenum">
              <a:rPr lang="en-IN" smtClean="0"/>
              <a:pPr/>
              <a:t>18</a:t>
            </a:fld>
            <a:endParaRPr lang="en-IN"/>
          </a:p>
        </p:txBody>
      </p:sp>
      <p:sp>
        <p:nvSpPr>
          <p:cNvPr id="5" name="Rectangle 4"/>
          <p:cNvSpPr/>
          <p:nvPr/>
        </p:nvSpPr>
        <p:spPr>
          <a:xfrm>
            <a:off x="569686" y="1600200"/>
            <a:ext cx="7848600" cy="2677656"/>
          </a:xfrm>
          <a:prstGeom prst="rect">
            <a:avLst/>
          </a:prstGeom>
        </p:spPr>
        <p:txBody>
          <a:bodyPr wrap="square">
            <a:spAutoFit/>
          </a:bodyPr>
          <a:lstStyle/>
          <a:p>
            <a:pPr algn="just"/>
            <a:r>
              <a:rPr lang="en-IN" sz="2400" dirty="0">
                <a:solidFill>
                  <a:srgbClr val="000099"/>
                </a:solidFill>
              </a:rPr>
              <a:t>Short half-lives create a logistical challenge for supply of tracers. On the other hand, long half-lives can lead to an excessively high radiation dose to the patient. The radionuclide should optimally have a photon energy of 100-300 </a:t>
            </a:r>
            <a:r>
              <a:rPr lang="en-IN" sz="2400" dirty="0" err="1">
                <a:solidFill>
                  <a:srgbClr val="000099"/>
                </a:solidFill>
              </a:rPr>
              <a:t>keV</a:t>
            </a:r>
            <a:r>
              <a:rPr lang="en-IN" sz="2400" dirty="0">
                <a:solidFill>
                  <a:srgbClr val="000099"/>
                </a:solidFill>
              </a:rPr>
              <a:t>; that is, high enough energy to get out of the body without too much attenuation or scattering, yet low enough to be efficiently detected.</a:t>
            </a:r>
          </a:p>
        </p:txBody>
      </p:sp>
    </p:spTree>
    <p:extLst>
      <p:ext uri="{BB962C8B-B14F-4D97-AF65-F5344CB8AC3E}">
        <p14:creationId xmlns:p14="http://schemas.microsoft.com/office/powerpoint/2010/main" val="24964473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a:solidFill>
                  <a:srgbClr val="3333CC"/>
                </a:solidFill>
              </a:rPr>
              <a:t>RaPhs</a:t>
            </a:r>
            <a:r>
              <a:rPr lang="en-IN" dirty="0">
                <a:solidFill>
                  <a:srgbClr val="3333CC"/>
                </a:solidFill>
              </a:rPr>
              <a:t>  are tracers</a:t>
            </a:r>
          </a:p>
        </p:txBody>
      </p:sp>
      <p:sp>
        <p:nvSpPr>
          <p:cNvPr id="4" name="Slide Number Placeholder 3"/>
          <p:cNvSpPr>
            <a:spLocks noGrp="1"/>
          </p:cNvSpPr>
          <p:nvPr>
            <p:ph type="sldNum" sz="quarter" idx="12"/>
          </p:nvPr>
        </p:nvSpPr>
        <p:spPr/>
        <p:txBody>
          <a:bodyPr/>
          <a:lstStyle/>
          <a:p>
            <a:fld id="{C6934AA0-4692-41C5-BE8C-1E9BD0630C2E}" type="slidenum">
              <a:rPr lang="en-IN" smtClean="0"/>
              <a:pPr/>
              <a:t>19</a:t>
            </a:fld>
            <a:endParaRPr lang="en-IN"/>
          </a:p>
        </p:txBody>
      </p:sp>
      <p:sp>
        <p:nvSpPr>
          <p:cNvPr id="5" name="Rectangle 10"/>
          <p:cNvSpPr>
            <a:spLocks noChangeArrowheads="1"/>
          </p:cNvSpPr>
          <p:nvPr/>
        </p:nvSpPr>
        <p:spPr bwMode="auto">
          <a:xfrm>
            <a:off x="424543" y="1828800"/>
            <a:ext cx="8229600"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just"/>
            <a:r>
              <a:rPr lang="en-IN" sz="2800" dirty="0">
                <a:solidFill>
                  <a:srgbClr val="C00000"/>
                </a:solidFill>
              </a:rPr>
              <a:t>A substance introduced into a biological organism or other system so that its subsequent distribution may be readily followed from its colour, radioactivity, or other distinctive property.</a:t>
            </a:r>
          </a:p>
        </p:txBody>
      </p:sp>
    </p:spTree>
    <p:extLst>
      <p:ext uri="{BB962C8B-B14F-4D97-AF65-F5344CB8AC3E}">
        <p14:creationId xmlns:p14="http://schemas.microsoft.com/office/powerpoint/2010/main" val="41201401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6934AA0-4692-41C5-BE8C-1E9BD0630C2E}" type="slidenum">
              <a:rPr lang="en-IN" smtClean="0"/>
              <a:pPr/>
              <a:t>20</a:t>
            </a:fld>
            <a:endParaRPr lang="en-IN"/>
          </a:p>
        </p:txBody>
      </p:sp>
      <p:sp>
        <p:nvSpPr>
          <p:cNvPr id="5" name="Rectangle 9"/>
          <p:cNvSpPr>
            <a:spLocks noChangeArrowheads="1"/>
          </p:cNvSpPr>
          <p:nvPr/>
        </p:nvSpPr>
        <p:spPr bwMode="auto">
          <a:xfrm>
            <a:off x="381000" y="1295400"/>
            <a:ext cx="83820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just"/>
            <a:r>
              <a:rPr lang="en-US" sz="2400" dirty="0">
                <a:solidFill>
                  <a:srgbClr val="FF3300"/>
                </a:solidFill>
                <a:effectLst>
                  <a:outerShdw blurRad="38100" dist="38100" dir="2700000" algn="tl">
                    <a:srgbClr val="000000"/>
                  </a:outerShdw>
                </a:effectLst>
              </a:rPr>
              <a:t>The great advantage of nuclear medicine is its ability to image qualitatively and quantitatively dynamic physiological processes of different body organs. </a:t>
            </a:r>
          </a:p>
        </p:txBody>
      </p:sp>
      <p:sp>
        <p:nvSpPr>
          <p:cNvPr id="6" name="Rectangle 10"/>
          <p:cNvSpPr>
            <a:spLocks noChangeArrowheads="1"/>
          </p:cNvSpPr>
          <p:nvPr/>
        </p:nvSpPr>
        <p:spPr bwMode="auto">
          <a:xfrm>
            <a:off x="457200" y="2776675"/>
            <a:ext cx="82296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just"/>
            <a:r>
              <a:rPr lang="en-US" sz="1800" dirty="0">
                <a:effectLst>
                  <a:outerShdw blurRad="38100" dist="38100" dir="2700000" algn="tl">
                    <a:srgbClr val="000000"/>
                  </a:outerShdw>
                </a:effectLst>
              </a:rPr>
              <a:t>To highlight a particular organ the radioisotope must be administered in the form of a chemical agent (radiopharmaceutical) which addresses preferably a particular organ (e.g. iodine in thyroid) or the physiological function of a particular organ (e.g. blood flow).</a:t>
            </a:r>
          </a:p>
        </p:txBody>
      </p:sp>
      <p:sp>
        <p:nvSpPr>
          <p:cNvPr id="7" name="Rectangle 11"/>
          <p:cNvSpPr>
            <a:spLocks noChangeArrowheads="1"/>
          </p:cNvSpPr>
          <p:nvPr/>
        </p:nvSpPr>
        <p:spPr bwMode="auto">
          <a:xfrm>
            <a:off x="468086" y="4114800"/>
            <a:ext cx="812074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just"/>
            <a:r>
              <a:rPr lang="en-US" sz="1800" dirty="0">
                <a:solidFill>
                  <a:srgbClr val="66FF66"/>
                </a:solidFill>
                <a:effectLst>
                  <a:outerShdw blurRad="38100" dist="38100" dir="2700000" algn="tl">
                    <a:srgbClr val="000000"/>
                  </a:outerShdw>
                </a:effectLst>
              </a:rPr>
              <a:t>Therefore a radiopharmaceutical is typically made of two components,  the </a:t>
            </a:r>
            <a:r>
              <a:rPr lang="en-US" sz="1800" dirty="0">
                <a:effectLst>
                  <a:outerShdw blurRad="38100" dist="38100" dir="2700000" algn="tl">
                    <a:srgbClr val="000000"/>
                  </a:outerShdw>
                </a:effectLst>
              </a:rPr>
              <a:t>radionuclide and the chemical compound</a:t>
            </a:r>
            <a:r>
              <a:rPr lang="en-US" sz="1800" dirty="0">
                <a:solidFill>
                  <a:srgbClr val="66FF66"/>
                </a:solidFill>
                <a:effectLst>
                  <a:outerShdw blurRad="38100" dist="38100" dir="2700000" algn="tl">
                    <a:srgbClr val="000000"/>
                  </a:outerShdw>
                </a:effectLst>
              </a:rPr>
              <a:t> to which it is bound.</a:t>
            </a:r>
          </a:p>
        </p:txBody>
      </p:sp>
      <p:sp>
        <p:nvSpPr>
          <p:cNvPr id="8" name="Rectangle 12"/>
          <p:cNvSpPr>
            <a:spLocks noChangeArrowheads="1"/>
          </p:cNvSpPr>
          <p:nvPr/>
        </p:nvSpPr>
        <p:spPr bwMode="auto">
          <a:xfrm>
            <a:off x="468085" y="5029200"/>
            <a:ext cx="8120743"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just"/>
            <a:r>
              <a:rPr lang="en-US" sz="1800" dirty="0">
                <a:solidFill>
                  <a:srgbClr val="66FF66"/>
                </a:solidFill>
                <a:effectLst>
                  <a:outerShdw blurRad="38100" dist="38100" dir="2700000" algn="tl">
                    <a:srgbClr val="000000"/>
                  </a:outerShdw>
                </a:effectLst>
              </a:rPr>
              <a:t>Since radiopharmaceuticals are used to study body functions, it is important that they have no pharmacological or toxicological effects which may interfere with the organ function under study. Therefore the pharmaceutical is administered in </a:t>
            </a:r>
            <a:r>
              <a:rPr lang="en-US" sz="1800" dirty="0">
                <a:effectLst>
                  <a:outerShdw blurRad="38100" dist="38100" dir="2700000" algn="tl">
                    <a:srgbClr val="000000"/>
                  </a:outerShdw>
                </a:effectLst>
              </a:rPr>
              <a:t>extremely small amounts (10</a:t>
            </a:r>
            <a:r>
              <a:rPr lang="en-US" sz="1800" baseline="30000" dirty="0">
                <a:effectLst>
                  <a:outerShdw blurRad="38100" dist="38100" dir="2700000" algn="tl">
                    <a:srgbClr val="000000"/>
                  </a:outerShdw>
                </a:effectLst>
              </a:rPr>
              <a:t>-9</a:t>
            </a:r>
            <a:r>
              <a:rPr lang="en-US" sz="1800" dirty="0">
                <a:effectLst>
                  <a:outerShdw blurRad="38100" dist="38100" dir="2700000" algn="tl">
                    <a:srgbClr val="000000"/>
                  </a:outerShdw>
                </a:effectLst>
              </a:rPr>
              <a:t> g).</a:t>
            </a:r>
          </a:p>
        </p:txBody>
      </p:sp>
      <p:sp>
        <p:nvSpPr>
          <p:cNvPr id="9" name="Title 1"/>
          <p:cNvSpPr>
            <a:spLocks noGrp="1"/>
          </p:cNvSpPr>
          <p:nvPr>
            <p:ph type="title"/>
          </p:nvPr>
        </p:nvSpPr>
        <p:spPr>
          <a:xfrm>
            <a:off x="457200" y="274638"/>
            <a:ext cx="8229600" cy="715962"/>
          </a:xfrm>
        </p:spPr>
        <p:txBody>
          <a:bodyPr>
            <a:normAutofit fontScale="90000"/>
          </a:bodyPr>
          <a:lstStyle/>
          <a:p>
            <a:r>
              <a:rPr lang="en-IN" dirty="0">
                <a:solidFill>
                  <a:schemeClr val="tx2">
                    <a:lumMod val="75000"/>
                  </a:schemeClr>
                </a:solidFill>
              </a:rPr>
              <a:t>More on </a:t>
            </a:r>
            <a:r>
              <a:rPr lang="en-IN" dirty="0" err="1">
                <a:solidFill>
                  <a:schemeClr val="tx2">
                    <a:lumMod val="75000"/>
                  </a:schemeClr>
                </a:solidFill>
              </a:rPr>
              <a:t>RaPhs</a:t>
            </a:r>
            <a:endParaRPr lang="en-IN" dirty="0">
              <a:solidFill>
                <a:schemeClr val="tx2">
                  <a:lumMod val="75000"/>
                </a:schemeClr>
              </a:solidFill>
            </a:endParaRPr>
          </a:p>
        </p:txBody>
      </p:sp>
    </p:spTree>
    <p:extLst>
      <p:ext uri="{BB962C8B-B14F-4D97-AF65-F5344CB8AC3E}">
        <p14:creationId xmlns:p14="http://schemas.microsoft.com/office/powerpoint/2010/main" val="14674935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6934AA0-4692-41C5-BE8C-1E9BD0630C2E}" type="slidenum">
              <a:rPr lang="en-IN" smtClean="0"/>
              <a:pPr/>
              <a:t>21</a:t>
            </a:fld>
            <a:endParaRPr lang="en-IN"/>
          </a:p>
        </p:txBody>
      </p:sp>
      <p:sp>
        <p:nvSpPr>
          <p:cNvPr id="5" name="Title 1"/>
          <p:cNvSpPr>
            <a:spLocks noGrp="1"/>
          </p:cNvSpPr>
          <p:nvPr>
            <p:ph type="title"/>
          </p:nvPr>
        </p:nvSpPr>
        <p:spPr>
          <a:xfrm>
            <a:off x="457200" y="274638"/>
            <a:ext cx="8229600" cy="715962"/>
          </a:xfrm>
        </p:spPr>
        <p:txBody>
          <a:bodyPr>
            <a:normAutofit fontScale="90000"/>
          </a:bodyPr>
          <a:lstStyle/>
          <a:p>
            <a:r>
              <a:rPr lang="en-IN" dirty="0">
                <a:solidFill>
                  <a:srgbClr val="0099CC"/>
                </a:solidFill>
              </a:rPr>
              <a:t>More on </a:t>
            </a:r>
            <a:r>
              <a:rPr lang="en-IN" dirty="0" err="1">
                <a:solidFill>
                  <a:srgbClr val="0099CC"/>
                </a:solidFill>
              </a:rPr>
              <a:t>RaPhs</a:t>
            </a:r>
            <a:endParaRPr lang="en-IN" dirty="0">
              <a:solidFill>
                <a:srgbClr val="0099CC"/>
              </a:solidFill>
            </a:endParaRPr>
          </a:p>
        </p:txBody>
      </p:sp>
      <p:sp>
        <p:nvSpPr>
          <p:cNvPr id="6" name="Rectangle 5"/>
          <p:cNvSpPr/>
          <p:nvPr/>
        </p:nvSpPr>
        <p:spPr>
          <a:xfrm>
            <a:off x="457200" y="1600200"/>
            <a:ext cx="8077200" cy="3046988"/>
          </a:xfrm>
          <a:prstGeom prst="rect">
            <a:avLst/>
          </a:prstGeom>
        </p:spPr>
        <p:txBody>
          <a:bodyPr wrap="square">
            <a:spAutoFit/>
          </a:bodyPr>
          <a:lstStyle/>
          <a:p>
            <a:pPr algn="just"/>
            <a:r>
              <a:rPr lang="en-IN" sz="2400" dirty="0">
                <a:solidFill>
                  <a:srgbClr val="006666"/>
                </a:solidFill>
              </a:rPr>
              <a:t>Following intravenous injection the tracer is distributed around the body by the circulation. Which organs a tracer will enter depends on physicochemical factors such as the </a:t>
            </a:r>
            <a:r>
              <a:rPr lang="en-IN" sz="2400" dirty="0" err="1">
                <a:solidFill>
                  <a:srgbClr val="006666"/>
                </a:solidFill>
              </a:rPr>
              <a:t>lipophilicity</a:t>
            </a:r>
            <a:r>
              <a:rPr lang="en-IN" sz="2400" dirty="0">
                <a:solidFill>
                  <a:srgbClr val="006666"/>
                </a:solidFill>
              </a:rPr>
              <a:t> and charge of the tracer. Fat soluble compounds enter the brain, lungs, and liver, while water soluble tracers do not enter the brain and are cleared by the kidneys. As with any drug, tracers are metabolised, largely in the liver, into metabolites which are excreted via the gall bladder and/or kidneys.</a:t>
            </a:r>
          </a:p>
        </p:txBody>
      </p:sp>
    </p:spTree>
    <p:extLst>
      <p:ext uri="{BB962C8B-B14F-4D97-AF65-F5344CB8AC3E}">
        <p14:creationId xmlns:p14="http://schemas.microsoft.com/office/powerpoint/2010/main" val="21836326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Difference between X-ray and </a:t>
            </a:r>
            <a:r>
              <a:rPr lang="el-GR" dirty="0"/>
              <a:t>ϒ</a:t>
            </a:r>
            <a:r>
              <a:rPr lang="en-IN" dirty="0"/>
              <a:t>-ray</a:t>
            </a:r>
          </a:p>
        </p:txBody>
      </p:sp>
      <p:sp>
        <p:nvSpPr>
          <p:cNvPr id="4" name="Slide Number Placeholder 3"/>
          <p:cNvSpPr>
            <a:spLocks noGrp="1"/>
          </p:cNvSpPr>
          <p:nvPr>
            <p:ph type="sldNum" sz="quarter" idx="12"/>
          </p:nvPr>
        </p:nvSpPr>
        <p:spPr/>
        <p:txBody>
          <a:bodyPr/>
          <a:lstStyle/>
          <a:p>
            <a:fld id="{C6934AA0-4692-41C5-BE8C-1E9BD0630C2E}" type="slidenum">
              <a:rPr lang="en-IN" smtClean="0"/>
              <a:pPr/>
              <a:t>22</a:t>
            </a:fld>
            <a:endParaRPr lang="en-IN"/>
          </a:p>
        </p:txBody>
      </p:sp>
      <p:graphicFrame>
        <p:nvGraphicFramePr>
          <p:cNvPr id="5" name="Table 4"/>
          <p:cNvGraphicFramePr>
            <a:graphicFrameLocks noGrp="1"/>
          </p:cNvGraphicFramePr>
          <p:nvPr/>
        </p:nvGraphicFramePr>
        <p:xfrm>
          <a:off x="762000" y="1828800"/>
          <a:ext cx="7772400" cy="3955189"/>
        </p:xfrm>
        <a:graphic>
          <a:graphicData uri="http://schemas.openxmlformats.org/drawingml/2006/table">
            <a:tbl>
              <a:tblPr firstRow="1" bandRow="1">
                <a:tableStyleId>{5C22544A-7EE6-4342-B048-85BDC9FD1C3A}</a:tableStyleId>
              </a:tblPr>
              <a:tblGrid>
                <a:gridCol w="3886200">
                  <a:extLst>
                    <a:ext uri="{9D8B030D-6E8A-4147-A177-3AD203B41FA5}">
                      <a16:colId xmlns:a16="http://schemas.microsoft.com/office/drawing/2014/main" val="20000"/>
                    </a:ext>
                  </a:extLst>
                </a:gridCol>
                <a:gridCol w="3886200">
                  <a:extLst>
                    <a:ext uri="{9D8B030D-6E8A-4147-A177-3AD203B41FA5}">
                      <a16:colId xmlns:a16="http://schemas.microsoft.com/office/drawing/2014/main" val="20001"/>
                    </a:ext>
                  </a:extLst>
                </a:gridCol>
              </a:tblGrid>
              <a:tr h="418690">
                <a:tc>
                  <a:txBody>
                    <a:bodyPr/>
                    <a:lstStyle/>
                    <a:p>
                      <a:r>
                        <a:rPr lang="en-IN" dirty="0"/>
                        <a:t>X-ray</a:t>
                      </a:r>
                    </a:p>
                  </a:txBody>
                  <a:tcPr/>
                </a:tc>
                <a:tc>
                  <a:txBody>
                    <a:bodyPr/>
                    <a:lstStyle/>
                    <a:p>
                      <a:r>
                        <a:rPr lang="el-GR" dirty="0"/>
                        <a:t>ϒ</a:t>
                      </a:r>
                      <a:r>
                        <a:rPr lang="en-IN" dirty="0"/>
                        <a:t>-ray</a:t>
                      </a:r>
                    </a:p>
                  </a:txBody>
                  <a:tcPr/>
                </a:tc>
                <a:extLst>
                  <a:ext uri="{0D108BD9-81ED-4DB2-BD59-A6C34878D82A}">
                    <a16:rowId xmlns:a16="http://schemas.microsoft.com/office/drawing/2014/main" val="10000"/>
                  </a:ext>
                </a:extLst>
              </a:tr>
              <a:tr h="722671">
                <a:tc>
                  <a:txBody>
                    <a:bodyPr/>
                    <a:lstStyle/>
                    <a:p>
                      <a:r>
                        <a:rPr lang="en-IN" dirty="0"/>
                        <a:t>Produced by electrons outside the nucleus</a:t>
                      </a:r>
                    </a:p>
                  </a:txBody>
                  <a:tcPr/>
                </a:tc>
                <a:tc>
                  <a:txBody>
                    <a:bodyPr/>
                    <a:lstStyle/>
                    <a:p>
                      <a:r>
                        <a:rPr lang="en-IN" dirty="0"/>
                        <a:t>Emitted by nucleus.</a:t>
                      </a:r>
                    </a:p>
                  </a:txBody>
                  <a:tcPr/>
                </a:tc>
                <a:extLst>
                  <a:ext uri="{0D108BD9-81ED-4DB2-BD59-A6C34878D82A}">
                    <a16:rowId xmlns:a16="http://schemas.microsoft.com/office/drawing/2014/main" val="10001"/>
                  </a:ext>
                </a:extLst>
              </a:tr>
              <a:tr h="418690">
                <a:tc>
                  <a:txBody>
                    <a:bodyPr/>
                    <a:lstStyle/>
                    <a:p>
                      <a:r>
                        <a:rPr lang="en-IN" dirty="0"/>
                        <a:t>Energy 50 </a:t>
                      </a:r>
                      <a:r>
                        <a:rPr lang="en-IN" dirty="0" err="1"/>
                        <a:t>keV</a:t>
                      </a:r>
                      <a:endParaRPr lang="en-IN" dirty="0"/>
                    </a:p>
                  </a:txBody>
                  <a:tcPr/>
                </a:tc>
                <a:tc>
                  <a:txBody>
                    <a:bodyPr/>
                    <a:lstStyle/>
                    <a:p>
                      <a:r>
                        <a:rPr lang="en-IN" dirty="0"/>
                        <a:t>Energy 100-300 </a:t>
                      </a:r>
                      <a:r>
                        <a:rPr lang="en-IN" dirty="0" err="1"/>
                        <a:t>keV</a:t>
                      </a:r>
                      <a:endParaRPr lang="en-IN" dirty="0"/>
                    </a:p>
                  </a:txBody>
                  <a:tcPr/>
                </a:tc>
                <a:extLst>
                  <a:ext uri="{0D108BD9-81ED-4DB2-BD59-A6C34878D82A}">
                    <a16:rowId xmlns:a16="http://schemas.microsoft.com/office/drawing/2014/main" val="10002"/>
                  </a:ext>
                </a:extLst>
              </a:tr>
              <a:tr h="1032387">
                <a:tc>
                  <a:txBody>
                    <a:bodyPr/>
                    <a:lstStyle/>
                    <a:p>
                      <a:r>
                        <a:rPr lang="en-IN" dirty="0"/>
                        <a:t>During imaging</a:t>
                      </a:r>
                      <a:r>
                        <a:rPr lang="en-IN" baseline="0" dirty="0"/>
                        <a:t> X-ray source is outside the object</a:t>
                      </a:r>
                      <a:endParaRPr lang="en-IN" dirty="0"/>
                    </a:p>
                  </a:txBody>
                  <a:tcPr/>
                </a:tc>
                <a:tc>
                  <a:txBody>
                    <a:bodyPr/>
                    <a:lstStyle/>
                    <a:p>
                      <a:r>
                        <a:rPr lang="en-IN" dirty="0"/>
                        <a:t>For</a:t>
                      </a:r>
                      <a:r>
                        <a:rPr lang="en-IN" baseline="0" dirty="0"/>
                        <a:t> imaging </a:t>
                      </a:r>
                      <a:r>
                        <a:rPr lang="el-GR" dirty="0"/>
                        <a:t>ϒ</a:t>
                      </a:r>
                      <a:r>
                        <a:rPr lang="en-IN" dirty="0"/>
                        <a:t>-ray source (radioisotope) is placed inside the object</a:t>
                      </a:r>
                    </a:p>
                  </a:txBody>
                  <a:tcPr/>
                </a:tc>
                <a:extLst>
                  <a:ext uri="{0D108BD9-81ED-4DB2-BD59-A6C34878D82A}">
                    <a16:rowId xmlns:a16="http://schemas.microsoft.com/office/drawing/2014/main" val="10003"/>
                  </a:ext>
                </a:extLst>
              </a:tr>
              <a:tr h="722671">
                <a:tc>
                  <a:txBody>
                    <a:bodyPr/>
                    <a:lstStyle/>
                    <a:p>
                      <a:r>
                        <a:rPr lang="en-IN" dirty="0"/>
                        <a:t>It is used to image hard</a:t>
                      </a:r>
                      <a:r>
                        <a:rPr lang="en-IN" baseline="0" dirty="0"/>
                        <a:t> tissue (e.g. bone)</a:t>
                      </a:r>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It is used to image accumulation/source of </a:t>
                      </a:r>
                      <a:r>
                        <a:rPr lang="en-IN" baseline="0" dirty="0"/>
                        <a:t>radioisotope (in </a:t>
                      </a:r>
                      <a:r>
                        <a:rPr lang="en-IN" dirty="0"/>
                        <a:t>soft tissue)</a:t>
                      </a:r>
                    </a:p>
                  </a:txBody>
                  <a:tcPr/>
                </a:tc>
                <a:extLst>
                  <a:ext uri="{0D108BD9-81ED-4DB2-BD59-A6C34878D82A}">
                    <a16:rowId xmlns:a16="http://schemas.microsoft.com/office/drawing/2014/main" val="10004"/>
                  </a:ext>
                </a:extLst>
              </a:tr>
              <a:tr h="41869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Emissions of </a:t>
                      </a:r>
                      <a:r>
                        <a:rPr lang="el-GR" dirty="0"/>
                        <a:t>α</a:t>
                      </a:r>
                      <a:r>
                        <a:rPr lang="en-IN" dirty="0"/>
                        <a:t> and </a:t>
                      </a:r>
                      <a:r>
                        <a:rPr lang="el-GR" dirty="0"/>
                        <a:t>β</a:t>
                      </a:r>
                      <a:r>
                        <a:rPr lang="en-IN" dirty="0"/>
                        <a:t> particles</a:t>
                      </a:r>
                      <a:r>
                        <a:rPr lang="en-IN" baseline="0" dirty="0"/>
                        <a:t> don’t take place</a:t>
                      </a:r>
                      <a:endParaRPr lang="en-IN" dirty="0"/>
                    </a:p>
                  </a:txBody>
                  <a:tcPr/>
                </a:tc>
                <a:tc>
                  <a:txBody>
                    <a:bodyPr/>
                    <a:lstStyle/>
                    <a:p>
                      <a:r>
                        <a:rPr lang="en-IN" dirty="0"/>
                        <a:t>Accompanied by emissions of </a:t>
                      </a:r>
                      <a:r>
                        <a:rPr lang="el-GR" dirty="0"/>
                        <a:t>α</a:t>
                      </a:r>
                      <a:r>
                        <a:rPr lang="en-IN" dirty="0"/>
                        <a:t> and </a:t>
                      </a:r>
                      <a:r>
                        <a:rPr lang="el-GR" dirty="0"/>
                        <a:t>β</a:t>
                      </a:r>
                      <a:r>
                        <a:rPr lang="en-IN" dirty="0"/>
                        <a:t> particles</a:t>
                      </a:r>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9242167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9067800" cy="1143000"/>
          </a:xfrm>
        </p:spPr>
        <p:txBody>
          <a:bodyPr>
            <a:normAutofit/>
          </a:bodyPr>
          <a:lstStyle/>
          <a:p>
            <a:r>
              <a:rPr lang="en-IN" sz="3800" b="1" dirty="0"/>
              <a:t>Interaction mechanisms of </a:t>
            </a:r>
            <a:r>
              <a:rPr lang="el-GR" sz="3800" b="1" dirty="0"/>
              <a:t>ϒ</a:t>
            </a:r>
            <a:r>
              <a:rPr lang="en-IN" sz="3800" b="1" dirty="0"/>
              <a:t>-ray with tissue</a:t>
            </a:r>
          </a:p>
        </p:txBody>
      </p:sp>
      <p:sp>
        <p:nvSpPr>
          <p:cNvPr id="3" name="Content Placeholder 2"/>
          <p:cNvSpPr>
            <a:spLocks noGrp="1"/>
          </p:cNvSpPr>
          <p:nvPr>
            <p:ph idx="1"/>
          </p:nvPr>
        </p:nvSpPr>
        <p:spPr>
          <a:xfrm>
            <a:off x="457200" y="2362200"/>
            <a:ext cx="8229600" cy="2057400"/>
          </a:xfrm>
        </p:spPr>
        <p:txBody>
          <a:bodyPr/>
          <a:lstStyle/>
          <a:p>
            <a:r>
              <a:rPr lang="en-IN" dirty="0">
                <a:solidFill>
                  <a:srgbClr val="FF0000"/>
                </a:solidFill>
              </a:rPr>
              <a:t>Photoelectric effect</a:t>
            </a:r>
          </a:p>
          <a:p>
            <a:r>
              <a:rPr lang="en-IN" dirty="0">
                <a:solidFill>
                  <a:srgbClr val="008000"/>
                </a:solidFill>
              </a:rPr>
              <a:t>Compton scattering</a:t>
            </a:r>
          </a:p>
          <a:p>
            <a:r>
              <a:rPr lang="en-IN" dirty="0">
                <a:solidFill>
                  <a:srgbClr val="3333CC"/>
                </a:solidFill>
              </a:rPr>
              <a:t>Pair production</a:t>
            </a:r>
          </a:p>
        </p:txBody>
      </p:sp>
      <p:sp>
        <p:nvSpPr>
          <p:cNvPr id="4" name="Slide Number Placeholder 3"/>
          <p:cNvSpPr>
            <a:spLocks noGrp="1"/>
          </p:cNvSpPr>
          <p:nvPr>
            <p:ph type="sldNum" sz="quarter" idx="12"/>
          </p:nvPr>
        </p:nvSpPr>
        <p:spPr/>
        <p:txBody>
          <a:bodyPr/>
          <a:lstStyle/>
          <a:p>
            <a:fld id="{C6934AA0-4692-41C5-BE8C-1E9BD0630C2E}" type="slidenum">
              <a:rPr lang="en-IN" smtClean="0"/>
              <a:pPr/>
              <a:t>23</a:t>
            </a:fld>
            <a:endParaRPr lang="en-IN"/>
          </a:p>
        </p:txBody>
      </p:sp>
    </p:spTree>
    <p:extLst>
      <p:ext uri="{BB962C8B-B14F-4D97-AF65-F5344CB8AC3E}">
        <p14:creationId xmlns:p14="http://schemas.microsoft.com/office/powerpoint/2010/main" val="13321065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76200"/>
            <a:ext cx="5410200" cy="792162"/>
          </a:xfrm>
        </p:spPr>
        <p:txBody>
          <a:bodyPr/>
          <a:lstStyle/>
          <a:p>
            <a:r>
              <a:rPr lang="en-US" dirty="0"/>
              <a:t>Photoelectric effect</a:t>
            </a:r>
          </a:p>
        </p:txBody>
      </p:sp>
      <p:sp>
        <p:nvSpPr>
          <p:cNvPr id="1026" name="AutoShape 2" descr="Image result for photoelectric effect experimen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28" name="AutoShape 4" descr="Image result for photoelectric effect experimen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30" name="AutoShape 6" descr="Image result for photoelectric effect experimen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034" name="Picture 10" descr="Image result for photoelectric effect experiment"/>
          <p:cNvPicPr>
            <a:picLocks noChangeAspect="1" noChangeArrowheads="1"/>
          </p:cNvPicPr>
          <p:nvPr/>
        </p:nvPicPr>
        <p:blipFill>
          <a:blip r:embed="rId2"/>
          <a:srcRect/>
          <a:stretch>
            <a:fillRect/>
          </a:stretch>
        </p:blipFill>
        <p:spPr bwMode="auto">
          <a:xfrm>
            <a:off x="5410200" y="990600"/>
            <a:ext cx="3343275" cy="2695576"/>
          </a:xfrm>
          <a:prstGeom prst="rect">
            <a:avLst/>
          </a:prstGeom>
          <a:noFill/>
        </p:spPr>
      </p:pic>
      <p:sp>
        <p:nvSpPr>
          <p:cNvPr id="1036" name="AutoShape 12" descr="Image result for photoelectric effect"/>
          <p:cNvSpPr>
            <a:spLocks noChangeAspect="1" noChangeArrowheads="1"/>
          </p:cNvSpPr>
          <p:nvPr/>
        </p:nvSpPr>
        <p:spPr bwMode="auto">
          <a:xfrm>
            <a:off x="155575" y="-1477963"/>
            <a:ext cx="5962650" cy="30861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038" name="Picture 14" descr="Image result for photoelectric effect"/>
          <p:cNvPicPr>
            <a:picLocks noChangeAspect="1" noChangeArrowheads="1"/>
          </p:cNvPicPr>
          <p:nvPr/>
        </p:nvPicPr>
        <p:blipFill>
          <a:blip r:embed="rId3"/>
          <a:srcRect/>
          <a:stretch>
            <a:fillRect/>
          </a:stretch>
        </p:blipFill>
        <p:spPr bwMode="auto">
          <a:xfrm>
            <a:off x="304800" y="1143000"/>
            <a:ext cx="4784843" cy="2476501"/>
          </a:xfrm>
          <a:prstGeom prst="rect">
            <a:avLst/>
          </a:prstGeom>
          <a:noFill/>
        </p:spPr>
      </p:pic>
      <p:sp>
        <p:nvSpPr>
          <p:cNvPr id="11" name="TextBox 10"/>
          <p:cNvSpPr txBox="1"/>
          <p:nvPr/>
        </p:nvSpPr>
        <p:spPr>
          <a:xfrm>
            <a:off x="152401" y="3886200"/>
            <a:ext cx="8686800" cy="646331"/>
          </a:xfrm>
          <a:prstGeom prst="rect">
            <a:avLst/>
          </a:prstGeom>
          <a:noFill/>
        </p:spPr>
        <p:txBody>
          <a:bodyPr wrap="square" rtlCol="0">
            <a:spAutoFit/>
          </a:bodyPr>
          <a:lstStyle/>
          <a:p>
            <a:r>
              <a:rPr lang="en-US" dirty="0"/>
              <a:t>In 1905 Einstein published a paper explaining photoelectric effect using light quanta. He got the Nobel prize in 1923. Kinetic energy of an electron can be written as:</a:t>
            </a:r>
          </a:p>
        </p:txBody>
      </p:sp>
      <p:pic>
        <p:nvPicPr>
          <p:cNvPr id="1039" name="Picture 15"/>
          <p:cNvPicPr>
            <a:picLocks noChangeAspect="1" noChangeArrowheads="1"/>
          </p:cNvPicPr>
          <p:nvPr/>
        </p:nvPicPr>
        <p:blipFill>
          <a:blip r:embed="rId4"/>
          <a:srcRect/>
          <a:stretch>
            <a:fillRect/>
          </a:stretch>
        </p:blipFill>
        <p:spPr bwMode="auto">
          <a:xfrm>
            <a:off x="381000" y="4800600"/>
            <a:ext cx="2390775" cy="962025"/>
          </a:xfrm>
          <a:prstGeom prst="rect">
            <a:avLst/>
          </a:prstGeom>
          <a:noFill/>
          <a:ln w="9525">
            <a:noFill/>
            <a:miter lim="800000"/>
            <a:headEnd/>
            <a:tailEnd/>
          </a:ln>
          <a:effectLst/>
        </p:spPr>
      </p:pic>
      <p:pic>
        <p:nvPicPr>
          <p:cNvPr id="1040" name="Picture 16"/>
          <p:cNvPicPr>
            <a:picLocks noChangeAspect="1" noChangeArrowheads="1"/>
          </p:cNvPicPr>
          <p:nvPr/>
        </p:nvPicPr>
        <p:blipFill>
          <a:blip r:embed="rId5"/>
          <a:srcRect/>
          <a:stretch>
            <a:fillRect/>
          </a:stretch>
        </p:blipFill>
        <p:spPr bwMode="auto">
          <a:xfrm>
            <a:off x="457200" y="6096000"/>
            <a:ext cx="2381250" cy="466725"/>
          </a:xfrm>
          <a:prstGeom prst="rect">
            <a:avLst/>
          </a:prstGeom>
          <a:noFill/>
          <a:ln w="9525">
            <a:noFill/>
            <a:miter lim="800000"/>
            <a:headEnd/>
            <a:tailEnd/>
          </a:ln>
          <a:effectLst/>
        </p:spPr>
      </p:pic>
      <p:sp>
        <p:nvSpPr>
          <p:cNvPr id="14" name="TextBox 13"/>
          <p:cNvSpPr txBox="1"/>
          <p:nvPr/>
        </p:nvSpPr>
        <p:spPr>
          <a:xfrm>
            <a:off x="3962400" y="4800600"/>
            <a:ext cx="4572000" cy="1200329"/>
          </a:xfrm>
          <a:prstGeom prst="rect">
            <a:avLst/>
          </a:prstGeom>
          <a:noFill/>
        </p:spPr>
        <p:txBody>
          <a:bodyPr wrap="square" rtlCol="0">
            <a:spAutoFit/>
          </a:bodyPr>
          <a:lstStyle/>
          <a:p>
            <a:r>
              <a:rPr lang="en-US" dirty="0"/>
              <a:t>W is the work function, i.e. minimum amount of energy required to release electron from the metallic surface. It is different for different materials.</a:t>
            </a:r>
          </a:p>
        </p:txBody>
      </p:sp>
    </p:spTree>
    <p:extLst>
      <p:ext uri="{BB962C8B-B14F-4D97-AF65-F5344CB8AC3E}">
        <p14:creationId xmlns:p14="http://schemas.microsoft.com/office/powerpoint/2010/main" val="23306133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0200" y="228600"/>
            <a:ext cx="5562600" cy="792162"/>
          </a:xfrm>
        </p:spPr>
        <p:txBody>
          <a:bodyPr/>
          <a:lstStyle/>
          <a:p>
            <a:r>
              <a:rPr lang="en-US" dirty="0"/>
              <a:t>Compton scattering</a:t>
            </a:r>
          </a:p>
        </p:txBody>
      </p:sp>
      <p:pic>
        <p:nvPicPr>
          <p:cNvPr id="19458" name="Picture 2" descr="Image result for compton scattering"/>
          <p:cNvPicPr>
            <a:picLocks noChangeAspect="1" noChangeArrowheads="1"/>
          </p:cNvPicPr>
          <p:nvPr/>
        </p:nvPicPr>
        <p:blipFill>
          <a:blip r:embed="rId2"/>
          <a:srcRect/>
          <a:stretch>
            <a:fillRect/>
          </a:stretch>
        </p:blipFill>
        <p:spPr bwMode="auto">
          <a:xfrm>
            <a:off x="304800" y="990600"/>
            <a:ext cx="3581400" cy="2667000"/>
          </a:xfrm>
          <a:prstGeom prst="rect">
            <a:avLst/>
          </a:prstGeom>
          <a:noFill/>
        </p:spPr>
      </p:pic>
      <p:pic>
        <p:nvPicPr>
          <p:cNvPr id="19459" name="Picture 3"/>
          <p:cNvPicPr>
            <a:picLocks noChangeAspect="1" noChangeArrowheads="1"/>
          </p:cNvPicPr>
          <p:nvPr/>
        </p:nvPicPr>
        <p:blipFill>
          <a:blip r:embed="rId3"/>
          <a:srcRect/>
          <a:stretch>
            <a:fillRect/>
          </a:stretch>
        </p:blipFill>
        <p:spPr bwMode="auto">
          <a:xfrm>
            <a:off x="4419600" y="2090541"/>
            <a:ext cx="3962400" cy="881259"/>
          </a:xfrm>
          <a:prstGeom prst="rect">
            <a:avLst/>
          </a:prstGeom>
          <a:noFill/>
          <a:ln w="9525">
            <a:noFill/>
            <a:miter lim="800000"/>
            <a:headEnd/>
            <a:tailEnd/>
          </a:ln>
          <a:effectLst/>
        </p:spPr>
      </p:pic>
      <p:pic>
        <p:nvPicPr>
          <p:cNvPr id="19460" name="Picture 4"/>
          <p:cNvPicPr>
            <a:picLocks noChangeAspect="1" noChangeArrowheads="1"/>
          </p:cNvPicPr>
          <p:nvPr/>
        </p:nvPicPr>
        <p:blipFill>
          <a:blip r:embed="rId4"/>
          <a:srcRect/>
          <a:stretch>
            <a:fillRect/>
          </a:stretch>
        </p:blipFill>
        <p:spPr bwMode="auto">
          <a:xfrm>
            <a:off x="2638425" y="3657600"/>
            <a:ext cx="6353175" cy="2952750"/>
          </a:xfrm>
          <a:prstGeom prst="rect">
            <a:avLst/>
          </a:prstGeom>
          <a:noFill/>
          <a:ln w="9525">
            <a:noFill/>
            <a:miter lim="800000"/>
            <a:headEnd/>
            <a:tailEnd/>
          </a:ln>
          <a:effectLst/>
        </p:spPr>
      </p:pic>
    </p:spTree>
    <p:extLst>
      <p:ext uri="{BB962C8B-B14F-4D97-AF65-F5344CB8AC3E}">
        <p14:creationId xmlns:p14="http://schemas.microsoft.com/office/powerpoint/2010/main" val="28933640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Pair production</a:t>
            </a:r>
          </a:p>
        </p:txBody>
      </p:sp>
      <p:sp>
        <p:nvSpPr>
          <p:cNvPr id="4" name="Slide Number Placeholder 3"/>
          <p:cNvSpPr>
            <a:spLocks noGrp="1"/>
          </p:cNvSpPr>
          <p:nvPr>
            <p:ph type="sldNum" sz="quarter" idx="12"/>
          </p:nvPr>
        </p:nvSpPr>
        <p:spPr/>
        <p:txBody>
          <a:bodyPr/>
          <a:lstStyle/>
          <a:p>
            <a:fld id="{C6934AA0-4692-41C5-BE8C-1E9BD0630C2E}" type="slidenum">
              <a:rPr lang="en-IN" smtClean="0"/>
              <a:pPr/>
              <a:t>26</a:t>
            </a:fld>
            <a:endParaRPr lang="en-IN"/>
          </a:p>
        </p:txBody>
      </p:sp>
      <p:pic>
        <p:nvPicPr>
          <p:cNvPr id="1026" name="Picture 2" descr="Image result for pair produc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371600"/>
            <a:ext cx="5048250" cy="337185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age result for pair product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0" y="3624263"/>
            <a:ext cx="3409950" cy="255746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533400" y="5105400"/>
            <a:ext cx="2464457" cy="461665"/>
          </a:xfrm>
          <a:prstGeom prst="rect">
            <a:avLst/>
          </a:prstGeom>
          <a:noFill/>
        </p:spPr>
        <p:txBody>
          <a:bodyPr wrap="none" rtlCol="0">
            <a:spAutoFit/>
          </a:bodyPr>
          <a:lstStyle/>
          <a:p>
            <a:r>
              <a:rPr lang="en-IN" sz="2400" b="1" dirty="0">
                <a:solidFill>
                  <a:srgbClr val="000099"/>
                </a:solidFill>
              </a:rPr>
              <a:t>Feynman diagram</a:t>
            </a:r>
          </a:p>
        </p:txBody>
      </p:sp>
    </p:spTree>
    <p:extLst>
      <p:ext uri="{BB962C8B-B14F-4D97-AF65-F5344CB8AC3E}">
        <p14:creationId xmlns:p14="http://schemas.microsoft.com/office/powerpoint/2010/main" val="6819997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Regimes</a:t>
            </a:r>
          </a:p>
        </p:txBody>
      </p:sp>
      <p:sp>
        <p:nvSpPr>
          <p:cNvPr id="4" name="Slide Number Placeholder 3"/>
          <p:cNvSpPr>
            <a:spLocks noGrp="1"/>
          </p:cNvSpPr>
          <p:nvPr>
            <p:ph type="sldNum" sz="quarter" idx="12"/>
          </p:nvPr>
        </p:nvSpPr>
        <p:spPr/>
        <p:txBody>
          <a:bodyPr/>
          <a:lstStyle/>
          <a:p>
            <a:fld id="{C6934AA0-4692-41C5-BE8C-1E9BD0630C2E}" type="slidenum">
              <a:rPr lang="en-IN" smtClean="0"/>
              <a:pPr/>
              <a:t>27</a:t>
            </a:fld>
            <a:endParaRPr lang="en-IN"/>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0629" y="1828800"/>
            <a:ext cx="6553200" cy="3916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566215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Attenuation coefficient (</a:t>
            </a:r>
            <a:r>
              <a:rPr lang="el-GR" dirty="0"/>
              <a:t>μ</a:t>
            </a:r>
            <a:r>
              <a:rPr lang="en-IN" dirty="0"/>
              <a:t>)</a:t>
            </a:r>
          </a:p>
        </p:txBody>
      </p:sp>
      <p:sp>
        <p:nvSpPr>
          <p:cNvPr id="4" name="Slide Number Placeholder 3"/>
          <p:cNvSpPr>
            <a:spLocks noGrp="1"/>
          </p:cNvSpPr>
          <p:nvPr>
            <p:ph type="sldNum" sz="quarter" idx="12"/>
          </p:nvPr>
        </p:nvSpPr>
        <p:spPr/>
        <p:txBody>
          <a:bodyPr/>
          <a:lstStyle/>
          <a:p>
            <a:fld id="{C6934AA0-4692-41C5-BE8C-1E9BD0630C2E}" type="slidenum">
              <a:rPr lang="en-IN" smtClean="0"/>
              <a:pPr/>
              <a:t>28</a:t>
            </a:fld>
            <a:endParaRPr lang="en-IN"/>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4038600"/>
            <a:ext cx="6000750" cy="904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914400" y="2108775"/>
            <a:ext cx="2416880" cy="584775"/>
          </a:xfrm>
          <a:prstGeom prst="rect">
            <a:avLst/>
          </a:prstGeom>
          <a:noFill/>
        </p:spPr>
        <p:txBody>
          <a:bodyPr wrap="none" rtlCol="0">
            <a:spAutoFit/>
          </a:bodyPr>
          <a:lstStyle/>
          <a:p>
            <a:r>
              <a:rPr lang="en-IN" sz="3200" dirty="0"/>
              <a:t>I=I</a:t>
            </a:r>
            <a:r>
              <a:rPr lang="en-IN" sz="3200" baseline="-25000" dirty="0"/>
              <a:t>0</a:t>
            </a:r>
            <a:r>
              <a:rPr lang="en-IN" sz="3200" dirty="0"/>
              <a:t> </a:t>
            </a:r>
            <a:r>
              <a:rPr lang="en-IN" sz="3200" dirty="0" err="1"/>
              <a:t>exp</a:t>
            </a:r>
            <a:r>
              <a:rPr lang="en-IN" sz="3200" dirty="0"/>
              <a:t>(-</a:t>
            </a:r>
            <a:r>
              <a:rPr lang="el-GR" sz="3200" dirty="0"/>
              <a:t>μ</a:t>
            </a:r>
            <a:r>
              <a:rPr lang="en-IN" sz="3200" baseline="-25000" dirty="0"/>
              <a:t>m</a:t>
            </a:r>
            <a:r>
              <a:rPr lang="en-IN" sz="3200" dirty="0"/>
              <a:t>x)</a:t>
            </a:r>
          </a:p>
        </p:txBody>
      </p:sp>
      <p:sp>
        <p:nvSpPr>
          <p:cNvPr id="7" name="TextBox 6"/>
          <p:cNvSpPr txBox="1"/>
          <p:nvPr/>
        </p:nvSpPr>
        <p:spPr>
          <a:xfrm>
            <a:off x="762000" y="3200400"/>
            <a:ext cx="7157344" cy="584775"/>
          </a:xfrm>
          <a:prstGeom prst="rect">
            <a:avLst/>
          </a:prstGeom>
          <a:noFill/>
        </p:spPr>
        <p:txBody>
          <a:bodyPr wrap="none" rtlCol="0">
            <a:spAutoFit/>
          </a:bodyPr>
          <a:lstStyle/>
          <a:p>
            <a:r>
              <a:rPr lang="en-IN" sz="3200" dirty="0"/>
              <a:t>The attenuation can be decomposed into-</a:t>
            </a:r>
          </a:p>
        </p:txBody>
      </p:sp>
    </p:spTree>
    <p:extLst>
      <p:ext uri="{BB962C8B-B14F-4D97-AF65-F5344CB8AC3E}">
        <p14:creationId xmlns:p14="http://schemas.microsoft.com/office/powerpoint/2010/main" val="18110392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Relative strengths</a:t>
            </a:r>
          </a:p>
        </p:txBody>
      </p:sp>
      <p:sp>
        <p:nvSpPr>
          <p:cNvPr id="4" name="Slide Number Placeholder 3"/>
          <p:cNvSpPr>
            <a:spLocks noGrp="1"/>
          </p:cNvSpPr>
          <p:nvPr>
            <p:ph type="sldNum" sz="quarter" idx="12"/>
          </p:nvPr>
        </p:nvSpPr>
        <p:spPr/>
        <p:txBody>
          <a:bodyPr/>
          <a:lstStyle/>
          <a:p>
            <a:fld id="{C6934AA0-4692-41C5-BE8C-1E9BD0630C2E}" type="slidenum">
              <a:rPr lang="en-IN" smtClean="0"/>
              <a:pPr/>
              <a:t>29</a:t>
            </a:fld>
            <a:endParaRPr lang="en-IN"/>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9563" y="2100263"/>
            <a:ext cx="8524875" cy="2657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722896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Products of interaction</a:t>
            </a:r>
          </a:p>
        </p:txBody>
      </p:sp>
      <p:sp>
        <p:nvSpPr>
          <p:cNvPr id="4" name="Slide Number Placeholder 3"/>
          <p:cNvSpPr>
            <a:spLocks noGrp="1"/>
          </p:cNvSpPr>
          <p:nvPr>
            <p:ph type="sldNum" sz="quarter" idx="12"/>
          </p:nvPr>
        </p:nvSpPr>
        <p:spPr/>
        <p:txBody>
          <a:bodyPr/>
          <a:lstStyle/>
          <a:p>
            <a:fld id="{C6934AA0-4692-41C5-BE8C-1E9BD0630C2E}" type="slidenum">
              <a:rPr lang="en-IN" smtClean="0"/>
              <a:pPr/>
              <a:t>30</a:t>
            </a:fld>
            <a:endParaRPr lang="en-IN"/>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3375" y="2286000"/>
            <a:ext cx="8477250" cy="178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976086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6934AA0-4692-41C5-BE8C-1E9BD0630C2E}" type="slidenum">
              <a:rPr lang="en-IN" smtClean="0"/>
              <a:pPr/>
              <a:t>31</a:t>
            </a:fld>
            <a:endParaRPr lang="en-IN"/>
          </a:p>
        </p:txBody>
      </p:sp>
      <p:sp>
        <p:nvSpPr>
          <p:cNvPr id="5" name="Title 1"/>
          <p:cNvSpPr>
            <a:spLocks noGrp="1"/>
          </p:cNvSpPr>
          <p:nvPr>
            <p:ph type="title"/>
          </p:nvPr>
        </p:nvSpPr>
        <p:spPr>
          <a:xfrm>
            <a:off x="457200" y="2438400"/>
            <a:ext cx="8229600" cy="1143000"/>
          </a:xfrm>
        </p:spPr>
        <p:txBody>
          <a:bodyPr/>
          <a:lstStyle/>
          <a:p>
            <a:r>
              <a:rPr lang="en-IN" dirty="0">
                <a:solidFill>
                  <a:srgbClr val="0000FF"/>
                </a:solidFill>
              </a:rPr>
              <a:t>Detection of </a:t>
            </a:r>
            <a:r>
              <a:rPr lang="el-GR" dirty="0">
                <a:solidFill>
                  <a:srgbClr val="0000FF"/>
                </a:solidFill>
              </a:rPr>
              <a:t>ϒ</a:t>
            </a:r>
            <a:r>
              <a:rPr lang="en-IN" dirty="0">
                <a:solidFill>
                  <a:srgbClr val="0000FF"/>
                </a:solidFill>
              </a:rPr>
              <a:t>-ray</a:t>
            </a:r>
          </a:p>
        </p:txBody>
      </p:sp>
    </p:spTree>
    <p:extLst>
      <p:ext uri="{BB962C8B-B14F-4D97-AF65-F5344CB8AC3E}">
        <p14:creationId xmlns:p14="http://schemas.microsoft.com/office/powerpoint/2010/main" val="5883757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6934AA0-4692-41C5-BE8C-1E9BD0630C2E}" type="slidenum">
              <a:rPr lang="en-IN" smtClean="0"/>
              <a:pPr/>
              <a:t>32</a:t>
            </a:fld>
            <a:endParaRPr lang="en-IN"/>
          </a:p>
        </p:txBody>
      </p:sp>
      <p:pic>
        <p:nvPicPr>
          <p:cNvPr id="7170" name="Picture 2" descr="Image result for detection of gamma ray in spec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1429656"/>
            <a:ext cx="5410200" cy="37439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56582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6934AA0-4692-41C5-BE8C-1E9BD0630C2E}" type="slidenum">
              <a:rPr lang="en-IN" smtClean="0"/>
              <a:pPr/>
              <a:t>33</a:t>
            </a:fld>
            <a:endParaRPr lang="en-IN"/>
          </a:p>
        </p:txBody>
      </p:sp>
      <p:pic>
        <p:nvPicPr>
          <p:cNvPr id="6146" name="Picture 2" descr="Image result for different parts of single photon emission computed tomograph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1219200"/>
            <a:ext cx="6553200" cy="5059740"/>
          </a:xfrm>
          <a:prstGeom prst="rect">
            <a:avLst/>
          </a:prstGeom>
          <a:noFill/>
          <a:extLst>
            <a:ext uri="{909E8E84-426E-40DD-AFC4-6F175D3DCCD1}">
              <a14:hiddenFill xmlns:a14="http://schemas.microsoft.com/office/drawing/2010/main">
                <a:solidFill>
                  <a:srgbClr val="FFFFFF"/>
                </a:solidFill>
              </a14:hiddenFill>
            </a:ext>
          </a:extLst>
        </p:spPr>
      </p:pic>
      <p:sp>
        <p:nvSpPr>
          <p:cNvPr id="7" name="Title 1"/>
          <p:cNvSpPr txBox="1">
            <a:spLocks/>
          </p:cNvSpPr>
          <p:nvPr/>
        </p:nvSpPr>
        <p:spPr>
          <a:xfrm>
            <a:off x="609600" y="152400"/>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IN" dirty="0"/>
              <a:t>Collimator</a:t>
            </a:r>
          </a:p>
        </p:txBody>
      </p:sp>
    </p:spTree>
    <p:extLst>
      <p:ext uri="{BB962C8B-B14F-4D97-AF65-F5344CB8AC3E}">
        <p14:creationId xmlns:p14="http://schemas.microsoft.com/office/powerpoint/2010/main" val="144673738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6934AA0-4692-41C5-BE8C-1E9BD0630C2E}" type="slidenum">
              <a:rPr lang="en-IN" smtClean="0"/>
              <a:pPr/>
              <a:t>34</a:t>
            </a:fld>
            <a:endParaRPr lang="en-IN"/>
          </a:p>
        </p:txBody>
      </p:sp>
      <p:pic>
        <p:nvPicPr>
          <p:cNvPr id="6146" name="Picture 2" descr="Image result for detection of gamma ray in spect"/>
          <p:cNvPicPr>
            <a:picLocks noChangeAspect="1" noChangeArrowheads="1"/>
          </p:cNvPicPr>
          <p:nvPr/>
        </p:nvPicPr>
        <p:blipFill rotWithShape="1">
          <a:blip r:embed="rId2">
            <a:extLst>
              <a:ext uri="{28A0092B-C50C-407E-A947-70E740481C1C}">
                <a14:useLocalDpi xmlns:a14="http://schemas.microsoft.com/office/drawing/2010/main" val="0"/>
              </a:ext>
            </a:extLst>
          </a:blip>
          <a:srcRect t="4332"/>
          <a:stretch/>
        </p:blipFill>
        <p:spPr bwMode="auto">
          <a:xfrm>
            <a:off x="1349829" y="1371600"/>
            <a:ext cx="6477000" cy="4647293"/>
          </a:xfrm>
          <a:prstGeom prst="rect">
            <a:avLst/>
          </a:prstGeom>
          <a:noFill/>
          <a:extLst>
            <a:ext uri="{909E8E84-426E-40DD-AFC4-6F175D3DCCD1}">
              <a14:hiddenFill xmlns:a14="http://schemas.microsoft.com/office/drawing/2010/main">
                <a:solidFill>
                  <a:srgbClr val="FFFFFF"/>
                </a:solidFill>
              </a14:hiddenFill>
            </a:ext>
          </a:extLst>
        </p:spPr>
      </p:pic>
      <p:sp>
        <p:nvSpPr>
          <p:cNvPr id="7" name="Title 1"/>
          <p:cNvSpPr txBox="1">
            <a:spLocks/>
          </p:cNvSpPr>
          <p:nvPr/>
        </p:nvSpPr>
        <p:spPr>
          <a:xfrm>
            <a:off x="609600" y="152400"/>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IN" dirty="0"/>
              <a:t>Collimator</a:t>
            </a:r>
          </a:p>
        </p:txBody>
      </p:sp>
    </p:spTree>
    <p:extLst>
      <p:ext uri="{BB962C8B-B14F-4D97-AF65-F5344CB8AC3E}">
        <p14:creationId xmlns:p14="http://schemas.microsoft.com/office/powerpoint/2010/main" val="380542970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Gamma camera: block diagram</a:t>
            </a:r>
          </a:p>
        </p:txBody>
      </p:sp>
      <p:sp>
        <p:nvSpPr>
          <p:cNvPr id="4" name="Slide Number Placeholder 3"/>
          <p:cNvSpPr>
            <a:spLocks noGrp="1"/>
          </p:cNvSpPr>
          <p:nvPr>
            <p:ph type="sldNum" sz="quarter" idx="12"/>
          </p:nvPr>
        </p:nvSpPr>
        <p:spPr/>
        <p:txBody>
          <a:bodyPr/>
          <a:lstStyle/>
          <a:p>
            <a:fld id="{C6934AA0-4692-41C5-BE8C-1E9BD0630C2E}" type="slidenum">
              <a:rPr lang="en-IN" smtClean="0"/>
              <a:pPr/>
              <a:t>35</a:t>
            </a:fld>
            <a:endParaRPr lang="en-IN"/>
          </a:p>
        </p:txBody>
      </p:sp>
      <p:pic>
        <p:nvPicPr>
          <p:cNvPr id="11266" name="Picture 2" descr="Image result for gamma camera electronic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32400" y="1447800"/>
            <a:ext cx="3606800" cy="4709211"/>
          </a:xfrm>
          <a:prstGeom prst="rect">
            <a:avLst/>
          </a:prstGeom>
          <a:noFill/>
          <a:extLst>
            <a:ext uri="{909E8E84-426E-40DD-AFC4-6F175D3DCCD1}">
              <a14:hiddenFill xmlns:a14="http://schemas.microsoft.com/office/drawing/2010/main">
                <a:solidFill>
                  <a:srgbClr val="FFFFFF"/>
                </a:solidFill>
              </a14:hiddenFill>
            </a:ext>
          </a:extLst>
        </p:spPr>
      </p:pic>
      <p:pic>
        <p:nvPicPr>
          <p:cNvPr id="11268" name="Picture 4" descr="Image result for gamma camera electronic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5575" y="1514475"/>
            <a:ext cx="4991100" cy="3743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8695015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solidFill>
                  <a:srgbClr val="800080"/>
                </a:solidFill>
              </a:rPr>
              <a:t>Scintillation</a:t>
            </a:r>
          </a:p>
        </p:txBody>
      </p:sp>
      <p:sp>
        <p:nvSpPr>
          <p:cNvPr id="4" name="Slide Number Placeholder 3"/>
          <p:cNvSpPr>
            <a:spLocks noGrp="1"/>
          </p:cNvSpPr>
          <p:nvPr>
            <p:ph type="sldNum" sz="quarter" idx="12"/>
          </p:nvPr>
        </p:nvSpPr>
        <p:spPr/>
        <p:txBody>
          <a:bodyPr/>
          <a:lstStyle/>
          <a:p>
            <a:fld id="{9C545F9C-1B63-4878-8BDE-37674740F74E}" type="slidenum">
              <a:rPr lang="en-IN" smtClean="0"/>
              <a:pPr/>
              <a:t>36</a:t>
            </a:fld>
            <a:endParaRPr lang="en-IN"/>
          </a:p>
        </p:txBody>
      </p:sp>
      <p:pic>
        <p:nvPicPr>
          <p:cNvPr id="2050" name="Picture 2" descr="http://www.physics.isu.edu/radinf/images/dect2.gif"/>
          <p:cNvPicPr>
            <a:picLocks noChangeAspect="1" noChangeArrowheads="1"/>
          </p:cNvPicPr>
          <p:nvPr/>
        </p:nvPicPr>
        <p:blipFill rotWithShape="1">
          <a:blip r:embed="rId2">
            <a:extLst>
              <a:ext uri="{28A0092B-C50C-407E-A947-70E740481C1C}">
                <a14:useLocalDpi xmlns:a14="http://schemas.microsoft.com/office/drawing/2010/main" val="0"/>
              </a:ext>
            </a:extLst>
          </a:blip>
          <a:srcRect t="20475"/>
          <a:stretch/>
        </p:blipFill>
        <p:spPr bwMode="auto">
          <a:xfrm>
            <a:off x="1216579" y="1524000"/>
            <a:ext cx="7002306" cy="41764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691607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6934AA0-4692-41C5-BE8C-1E9BD0630C2E}" type="slidenum">
              <a:rPr lang="en-IN" smtClean="0"/>
              <a:pPr/>
              <a:t>37</a:t>
            </a:fld>
            <a:endParaRPr lang="en-IN"/>
          </a:p>
        </p:txBody>
      </p:sp>
      <p:pic>
        <p:nvPicPr>
          <p:cNvPr id="10242" name="Picture 2" descr="Related im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801915"/>
            <a:ext cx="6858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7458184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Dual head SPECT</a:t>
            </a:r>
          </a:p>
        </p:txBody>
      </p:sp>
      <p:sp>
        <p:nvSpPr>
          <p:cNvPr id="4" name="Slide Number Placeholder 3"/>
          <p:cNvSpPr>
            <a:spLocks noGrp="1"/>
          </p:cNvSpPr>
          <p:nvPr>
            <p:ph type="sldNum" sz="quarter" idx="12"/>
          </p:nvPr>
        </p:nvSpPr>
        <p:spPr/>
        <p:txBody>
          <a:bodyPr/>
          <a:lstStyle/>
          <a:p>
            <a:fld id="{C6934AA0-4692-41C5-BE8C-1E9BD0630C2E}" type="slidenum">
              <a:rPr lang="en-IN" smtClean="0"/>
              <a:pPr/>
              <a:t>38</a:t>
            </a:fld>
            <a:endParaRPr lang="en-IN"/>
          </a:p>
        </p:txBody>
      </p:sp>
      <p:pic>
        <p:nvPicPr>
          <p:cNvPr id="9218" name="Picture 2" descr="Related imag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86000" y="2209800"/>
            <a:ext cx="4752975" cy="3743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0832165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6934AA0-4692-41C5-BE8C-1E9BD0630C2E}" type="slidenum">
              <a:rPr lang="en-IN" smtClean="0"/>
              <a:pPr/>
              <a:t>39</a:t>
            </a:fld>
            <a:endParaRPr lang="en-IN"/>
          </a:p>
        </p:txBody>
      </p:sp>
      <p:pic>
        <p:nvPicPr>
          <p:cNvPr id="8194" name="Picture 2" descr="Related im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0" y="1905000"/>
            <a:ext cx="4343400" cy="3240846"/>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p:cNvSpPr>
            <a:spLocks noGrp="1"/>
          </p:cNvSpPr>
          <p:nvPr>
            <p:ph type="title"/>
          </p:nvPr>
        </p:nvSpPr>
        <p:spPr>
          <a:xfrm>
            <a:off x="457200" y="274638"/>
            <a:ext cx="8229600" cy="1143000"/>
          </a:xfrm>
        </p:spPr>
        <p:txBody>
          <a:bodyPr/>
          <a:lstStyle/>
          <a:p>
            <a:r>
              <a:rPr lang="en-IN" dirty="0"/>
              <a:t>Dual head SPECT</a:t>
            </a:r>
          </a:p>
        </p:txBody>
      </p:sp>
    </p:spTree>
    <p:extLst>
      <p:ext uri="{BB962C8B-B14F-4D97-AF65-F5344CB8AC3E}">
        <p14:creationId xmlns:p14="http://schemas.microsoft.com/office/powerpoint/2010/main" val="424270694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B53BD87-CAC7-4BED-B180-FCA6CCA79BE2}" type="slidenum">
              <a:rPr lang="en-IN" smtClean="0"/>
              <a:pPr/>
              <a:t>40</a:t>
            </a:fld>
            <a:endParaRPr lang="en-IN"/>
          </a:p>
        </p:txBody>
      </p:sp>
      <p:sp>
        <p:nvSpPr>
          <p:cNvPr id="5" name="Title 1"/>
          <p:cNvSpPr>
            <a:spLocks noGrp="1"/>
          </p:cNvSpPr>
          <p:nvPr>
            <p:ph type="title"/>
          </p:nvPr>
        </p:nvSpPr>
        <p:spPr>
          <a:xfrm>
            <a:off x="533400" y="2438400"/>
            <a:ext cx="8229600" cy="1143000"/>
          </a:xfrm>
        </p:spPr>
        <p:txBody>
          <a:bodyPr>
            <a:normAutofit fontScale="90000"/>
          </a:bodyPr>
          <a:lstStyle/>
          <a:p>
            <a:r>
              <a:rPr lang="en-IN" dirty="0">
                <a:solidFill>
                  <a:srgbClr val="FF0000"/>
                </a:solidFill>
              </a:rPr>
              <a:t>Positron emission tomography (PET)</a:t>
            </a:r>
          </a:p>
        </p:txBody>
      </p:sp>
    </p:spTree>
    <p:extLst>
      <p:ext uri="{BB962C8B-B14F-4D97-AF65-F5344CB8AC3E}">
        <p14:creationId xmlns:p14="http://schemas.microsoft.com/office/powerpoint/2010/main" val="130317040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3357" y="685800"/>
            <a:ext cx="8229600" cy="1143000"/>
          </a:xfrm>
        </p:spPr>
        <p:txBody>
          <a:bodyPr>
            <a:normAutofit fontScale="90000"/>
          </a:bodyPr>
          <a:lstStyle/>
          <a:p>
            <a:r>
              <a:rPr lang="en-IN" dirty="0">
                <a:solidFill>
                  <a:srgbClr val="FF0000"/>
                </a:solidFill>
              </a:rPr>
              <a:t>Positron emission tomography (PET)</a:t>
            </a:r>
          </a:p>
        </p:txBody>
      </p:sp>
      <p:sp>
        <p:nvSpPr>
          <p:cNvPr id="4" name="Slide Number Placeholder 3"/>
          <p:cNvSpPr>
            <a:spLocks noGrp="1"/>
          </p:cNvSpPr>
          <p:nvPr>
            <p:ph type="sldNum" sz="quarter" idx="12"/>
          </p:nvPr>
        </p:nvSpPr>
        <p:spPr/>
        <p:txBody>
          <a:bodyPr/>
          <a:lstStyle/>
          <a:p>
            <a:fld id="{C6934AA0-4692-41C5-BE8C-1E9BD0630C2E}" type="slidenum">
              <a:rPr lang="en-IN" smtClean="0"/>
              <a:pPr/>
              <a:t>41</a:t>
            </a:fld>
            <a:endParaRPr lang="en-IN"/>
          </a:p>
        </p:txBody>
      </p:sp>
      <p:sp>
        <p:nvSpPr>
          <p:cNvPr id="7" name="TextBox 6"/>
          <p:cNvSpPr txBox="1"/>
          <p:nvPr/>
        </p:nvSpPr>
        <p:spPr>
          <a:xfrm>
            <a:off x="656772" y="2209800"/>
            <a:ext cx="7877628" cy="2677656"/>
          </a:xfrm>
          <a:prstGeom prst="rect">
            <a:avLst/>
          </a:prstGeom>
          <a:noFill/>
        </p:spPr>
        <p:txBody>
          <a:bodyPr wrap="square" rtlCol="0">
            <a:spAutoFit/>
          </a:bodyPr>
          <a:lstStyle/>
          <a:p>
            <a:pPr marL="342900" indent="-342900">
              <a:buAutoNum type="arabicPeriod"/>
            </a:pPr>
            <a:r>
              <a:rPr lang="en-IN" sz="2800" dirty="0">
                <a:solidFill>
                  <a:srgbClr val="000099"/>
                </a:solidFill>
              </a:rPr>
              <a:t>Nuclear imaging modality</a:t>
            </a:r>
          </a:p>
          <a:p>
            <a:pPr marL="342900" indent="-342900">
              <a:buAutoNum type="arabicPeriod"/>
            </a:pPr>
            <a:r>
              <a:rPr lang="en-IN" sz="2800" dirty="0">
                <a:solidFill>
                  <a:srgbClr val="000099"/>
                </a:solidFill>
              </a:rPr>
              <a:t>It is used to see metabolic processes in the body</a:t>
            </a:r>
          </a:p>
          <a:p>
            <a:pPr marL="342900" indent="-342900">
              <a:buAutoNum type="arabicPeriod"/>
            </a:pPr>
            <a:r>
              <a:rPr lang="en-IN" sz="2800" dirty="0">
                <a:solidFill>
                  <a:srgbClr val="000099"/>
                </a:solidFill>
              </a:rPr>
              <a:t>Detects pairs of gamma-rays emitted by a positron-emitting radionuclide</a:t>
            </a:r>
          </a:p>
          <a:p>
            <a:pPr marL="342900" indent="-342900">
              <a:buAutoNum type="arabicPeriod"/>
            </a:pPr>
            <a:r>
              <a:rPr lang="en-IN" sz="2800" dirty="0">
                <a:solidFill>
                  <a:srgbClr val="000099"/>
                </a:solidFill>
              </a:rPr>
              <a:t>3D images of tracer concentration within the body are reconstructed using computer analysis</a:t>
            </a:r>
          </a:p>
        </p:txBody>
      </p:sp>
    </p:spTree>
    <p:extLst>
      <p:ext uri="{BB962C8B-B14F-4D97-AF65-F5344CB8AC3E}">
        <p14:creationId xmlns:p14="http://schemas.microsoft.com/office/powerpoint/2010/main" val="84312931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Positron emitting isotopes</a:t>
            </a:r>
          </a:p>
        </p:txBody>
      </p:sp>
      <p:sp>
        <p:nvSpPr>
          <p:cNvPr id="4" name="Slide Number Placeholder 3"/>
          <p:cNvSpPr>
            <a:spLocks noGrp="1"/>
          </p:cNvSpPr>
          <p:nvPr>
            <p:ph type="sldNum" sz="quarter" idx="12"/>
          </p:nvPr>
        </p:nvSpPr>
        <p:spPr/>
        <p:txBody>
          <a:bodyPr/>
          <a:lstStyle/>
          <a:p>
            <a:fld id="{C6934AA0-4692-41C5-BE8C-1E9BD0630C2E}" type="slidenum">
              <a:rPr lang="en-IN" smtClean="0"/>
              <a:pPr/>
              <a:t>42</a:t>
            </a:fld>
            <a:endParaRPr lang="en-IN"/>
          </a:p>
        </p:txBody>
      </p:sp>
      <p:sp>
        <p:nvSpPr>
          <p:cNvPr id="6" name="TextBox 5"/>
          <p:cNvSpPr txBox="1"/>
          <p:nvPr/>
        </p:nvSpPr>
        <p:spPr>
          <a:xfrm>
            <a:off x="533400" y="2111475"/>
            <a:ext cx="4572000" cy="523220"/>
          </a:xfrm>
          <a:prstGeom prst="rect">
            <a:avLst/>
          </a:prstGeom>
          <a:noFill/>
        </p:spPr>
        <p:txBody>
          <a:bodyPr wrap="square" rtlCol="0">
            <a:spAutoFit/>
          </a:bodyPr>
          <a:lstStyle/>
          <a:p>
            <a:r>
              <a:rPr lang="en-IN" sz="2800" dirty="0">
                <a:solidFill>
                  <a:srgbClr val="000099"/>
                </a:solidFill>
              </a:rPr>
              <a:t>C-11, N-13,O-15, F-18, Rb-82</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46057" y="1563209"/>
            <a:ext cx="3429000" cy="24661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Box 7"/>
          <p:cNvSpPr txBox="1"/>
          <p:nvPr/>
        </p:nvSpPr>
        <p:spPr>
          <a:xfrm>
            <a:off x="381000" y="1552323"/>
            <a:ext cx="5257800" cy="461665"/>
          </a:xfrm>
          <a:prstGeom prst="rect">
            <a:avLst/>
          </a:prstGeom>
          <a:noFill/>
        </p:spPr>
        <p:txBody>
          <a:bodyPr wrap="square" rtlCol="0">
            <a:spAutoFit/>
          </a:bodyPr>
          <a:lstStyle/>
          <a:p>
            <a:r>
              <a:rPr lang="en-IN" sz="2400" dirty="0">
                <a:solidFill>
                  <a:srgbClr val="000099"/>
                </a:solidFill>
              </a:rPr>
              <a:t>The most commonly used isotopes are </a:t>
            </a:r>
          </a:p>
        </p:txBody>
      </p:sp>
      <p:sp>
        <p:nvSpPr>
          <p:cNvPr id="7" name="Rectangle 6"/>
          <p:cNvSpPr/>
          <p:nvPr/>
        </p:nvSpPr>
        <p:spPr>
          <a:xfrm>
            <a:off x="381000" y="4233208"/>
            <a:ext cx="8382000" cy="1938992"/>
          </a:xfrm>
          <a:prstGeom prst="rect">
            <a:avLst/>
          </a:prstGeom>
        </p:spPr>
        <p:txBody>
          <a:bodyPr wrap="square">
            <a:spAutoFit/>
          </a:bodyPr>
          <a:lstStyle/>
          <a:p>
            <a:pPr algn="just"/>
            <a:r>
              <a:rPr lang="en-IN" sz="2400" dirty="0"/>
              <a:t>These are relatively short-lived, which enables optimal use of imaging photons while keeping patient radiation dose low. Furthermore, many of these isotopes can be incorporated into biological substrates (glucose, H</a:t>
            </a:r>
            <a:r>
              <a:rPr lang="en-IN" sz="2400" baseline="-25000" dirty="0"/>
              <a:t>2</a:t>
            </a:r>
            <a:r>
              <a:rPr lang="en-IN" sz="2400" dirty="0"/>
              <a:t>O, NH</a:t>
            </a:r>
            <a:r>
              <a:rPr lang="en-IN" sz="2400" baseline="-25000" dirty="0"/>
              <a:t>3</a:t>
            </a:r>
            <a:r>
              <a:rPr lang="en-IN" sz="2400" dirty="0"/>
              <a:t>, CO</a:t>
            </a:r>
            <a:r>
              <a:rPr lang="en-IN" sz="2400" baseline="-25000" dirty="0"/>
              <a:t>2</a:t>
            </a:r>
            <a:r>
              <a:rPr lang="en-IN" sz="2400" dirty="0"/>
              <a:t>, O</a:t>
            </a:r>
            <a:r>
              <a:rPr lang="en-IN" sz="2400" baseline="-25000" dirty="0"/>
              <a:t>2</a:t>
            </a:r>
            <a:r>
              <a:rPr lang="en-IN" sz="2400" dirty="0"/>
              <a:t>, etc.) and pharmaceuticals, without altering their biological activity.</a:t>
            </a:r>
          </a:p>
        </p:txBody>
      </p:sp>
    </p:spTree>
    <p:extLst>
      <p:ext uri="{BB962C8B-B14F-4D97-AF65-F5344CB8AC3E}">
        <p14:creationId xmlns:p14="http://schemas.microsoft.com/office/powerpoint/2010/main" val="103536546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Whole body images </a:t>
            </a:r>
          </a:p>
        </p:txBody>
      </p:sp>
      <p:sp>
        <p:nvSpPr>
          <p:cNvPr id="4" name="Slide Number Placeholder 3"/>
          <p:cNvSpPr>
            <a:spLocks noGrp="1"/>
          </p:cNvSpPr>
          <p:nvPr>
            <p:ph type="sldNum" sz="quarter" idx="12"/>
          </p:nvPr>
        </p:nvSpPr>
        <p:spPr/>
        <p:txBody>
          <a:bodyPr/>
          <a:lstStyle/>
          <a:p>
            <a:fld id="{C6934AA0-4692-41C5-BE8C-1E9BD0630C2E}" type="slidenum">
              <a:rPr lang="en-IN" smtClean="0"/>
              <a:pPr/>
              <a:t>43</a:t>
            </a:fld>
            <a:endParaRPr lang="en-IN"/>
          </a:p>
        </p:txBody>
      </p:sp>
      <p:pic>
        <p:nvPicPr>
          <p:cNvPr id="2050" name="Picture 2" descr="Related im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1524000"/>
            <a:ext cx="5257800" cy="47022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8387911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Machine</a:t>
            </a:r>
          </a:p>
        </p:txBody>
      </p:sp>
      <p:sp>
        <p:nvSpPr>
          <p:cNvPr id="4" name="Slide Number Placeholder 3"/>
          <p:cNvSpPr>
            <a:spLocks noGrp="1"/>
          </p:cNvSpPr>
          <p:nvPr>
            <p:ph type="sldNum" sz="quarter" idx="12"/>
          </p:nvPr>
        </p:nvSpPr>
        <p:spPr/>
        <p:txBody>
          <a:bodyPr/>
          <a:lstStyle/>
          <a:p>
            <a:fld id="{C6934AA0-4692-41C5-BE8C-1E9BD0630C2E}" type="slidenum">
              <a:rPr lang="en-IN" smtClean="0"/>
              <a:pPr/>
              <a:t>44</a:t>
            </a:fld>
            <a:endParaRPr lang="en-IN"/>
          </a:p>
        </p:txBody>
      </p:sp>
      <p:pic>
        <p:nvPicPr>
          <p:cNvPr id="3074" name="Picture 2" descr="Image result for positron emission tomography machin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1981200"/>
            <a:ext cx="5111496" cy="3276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106181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Positron emission</a:t>
            </a:r>
          </a:p>
        </p:txBody>
      </p:sp>
      <p:sp>
        <p:nvSpPr>
          <p:cNvPr id="4" name="Slide Number Placeholder 3"/>
          <p:cNvSpPr>
            <a:spLocks noGrp="1"/>
          </p:cNvSpPr>
          <p:nvPr>
            <p:ph type="sldNum" sz="quarter" idx="12"/>
          </p:nvPr>
        </p:nvSpPr>
        <p:spPr/>
        <p:txBody>
          <a:bodyPr/>
          <a:lstStyle/>
          <a:p>
            <a:fld id="{C6934AA0-4692-41C5-BE8C-1E9BD0630C2E}" type="slidenum">
              <a:rPr lang="en-IN" smtClean="0"/>
              <a:pPr/>
              <a:t>45</a:t>
            </a:fld>
            <a:endParaRPr lang="en-IN"/>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44762" y="1524000"/>
            <a:ext cx="4276725" cy="30806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522514" y="5289408"/>
            <a:ext cx="8240486" cy="1015663"/>
          </a:xfrm>
          <a:prstGeom prst="rect">
            <a:avLst/>
          </a:prstGeom>
        </p:spPr>
        <p:txBody>
          <a:bodyPr wrap="square">
            <a:spAutoFit/>
          </a:bodyPr>
          <a:lstStyle/>
          <a:p>
            <a:pPr algn="just"/>
            <a:r>
              <a:rPr lang="en-IN" sz="2000" dirty="0"/>
              <a:t>General principle of PET imaging: decay of radionuclide, positron (β+) emission, multiple scatter in tissue, annihilation with electron, and production of two back-to-back 511 </a:t>
            </a:r>
            <a:r>
              <a:rPr lang="en-IN" sz="2000" dirty="0" err="1"/>
              <a:t>keV</a:t>
            </a:r>
            <a:r>
              <a:rPr lang="en-IN" sz="2000" dirty="0"/>
              <a:t> annihilation photons. </a:t>
            </a:r>
          </a:p>
        </p:txBody>
      </p:sp>
    </p:spTree>
    <p:extLst>
      <p:ext uri="{BB962C8B-B14F-4D97-AF65-F5344CB8AC3E}">
        <p14:creationId xmlns:p14="http://schemas.microsoft.com/office/powerpoint/2010/main" val="119961528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nip Diagonal Corner Rectangle 3"/>
          <p:cNvSpPr/>
          <p:nvPr/>
        </p:nvSpPr>
        <p:spPr>
          <a:xfrm>
            <a:off x="152400" y="381000"/>
            <a:ext cx="8839200" cy="1371600"/>
          </a:xfrm>
          <a:prstGeom prst="snip2DiagRect">
            <a:avLst/>
          </a:prstGeom>
          <a:gradFill flip="none" rotWithShape="1">
            <a:gsLst>
              <a:gs pos="0">
                <a:schemeClr val="bg1">
                  <a:alpha val="49000"/>
                </a:schemeClr>
              </a:gs>
              <a:gs pos="100000">
                <a:schemeClr val="bg1">
                  <a:alpha val="1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 name="TextBox 4"/>
          <p:cNvSpPr txBox="1"/>
          <p:nvPr/>
        </p:nvSpPr>
        <p:spPr>
          <a:xfrm>
            <a:off x="2032543" y="348105"/>
            <a:ext cx="4457700" cy="584775"/>
          </a:xfrm>
          <a:prstGeom prst="rect">
            <a:avLst/>
          </a:prstGeom>
          <a:noFill/>
        </p:spPr>
        <p:txBody>
          <a:bodyPr wrap="square" rtlCol="0">
            <a:spAutoFit/>
          </a:bodyPr>
          <a:lstStyle/>
          <a:p>
            <a:r>
              <a:rPr lang="en-US" sz="3200" dirty="0"/>
              <a:t>Coincidence detection</a:t>
            </a:r>
          </a:p>
        </p:txBody>
      </p:sp>
      <p:sp>
        <p:nvSpPr>
          <p:cNvPr id="2" name="TextBox 1"/>
          <p:cNvSpPr txBox="1"/>
          <p:nvPr/>
        </p:nvSpPr>
        <p:spPr>
          <a:xfrm>
            <a:off x="565566" y="1410936"/>
            <a:ext cx="8012867" cy="400110"/>
          </a:xfrm>
          <a:prstGeom prst="rect">
            <a:avLst/>
          </a:prstGeom>
          <a:noFill/>
        </p:spPr>
        <p:txBody>
          <a:bodyPr wrap="square" rtlCol="0">
            <a:spAutoFit/>
          </a:bodyPr>
          <a:lstStyle/>
          <a:p>
            <a:r>
              <a:rPr lang="en-US" sz="2000" u="sng" dirty="0"/>
              <a:t>Basic principles of annihilation coincidence detection </a:t>
            </a:r>
          </a:p>
        </p:txBody>
      </p:sp>
      <p:sp>
        <p:nvSpPr>
          <p:cNvPr id="7" name="TextBox 6"/>
          <p:cNvSpPr txBox="1"/>
          <p:nvPr/>
        </p:nvSpPr>
        <p:spPr>
          <a:xfrm>
            <a:off x="185542" y="2372671"/>
            <a:ext cx="4185530" cy="3693319"/>
          </a:xfrm>
          <a:prstGeom prst="rect">
            <a:avLst/>
          </a:prstGeom>
          <a:noFill/>
        </p:spPr>
        <p:txBody>
          <a:bodyPr wrap="square" rtlCol="0">
            <a:spAutoFit/>
          </a:bodyPr>
          <a:lstStyle/>
          <a:p>
            <a:pPr marL="285750" indent="-285750">
              <a:buFont typeface="Arial" pitchFamily="34" charset="0"/>
              <a:buChar char="•"/>
            </a:pPr>
            <a:r>
              <a:rPr lang="en-US" dirty="0"/>
              <a:t>Simultaneous detection of two annihilation photons allows PET to localize their origin along a line between the two detectors, without the use of absorptive collimators. This mechanism is called </a:t>
            </a:r>
            <a:r>
              <a:rPr lang="en-US" dirty="0">
                <a:solidFill>
                  <a:srgbClr val="FFC000"/>
                </a:solidFill>
              </a:rPr>
              <a:t>annihilation coincidence detection (ACD)</a:t>
            </a:r>
          </a:p>
          <a:p>
            <a:pPr marL="285750" indent="-285750">
              <a:buFont typeface="Arial" pitchFamily="34" charset="0"/>
              <a:buChar char="•"/>
            </a:pPr>
            <a:endParaRPr lang="en-US" dirty="0"/>
          </a:p>
          <a:p>
            <a:pPr marL="285750" indent="-285750">
              <a:buFont typeface="Arial" pitchFamily="34" charset="0"/>
              <a:buChar char="•"/>
            </a:pPr>
            <a:r>
              <a:rPr lang="en-US" dirty="0"/>
              <a:t>The ability of ACD to localize events on the basic of coincidence timing, without the need for absorptive collimation, is referred to </a:t>
            </a:r>
            <a:r>
              <a:rPr lang="en-US" dirty="0">
                <a:solidFill>
                  <a:srgbClr val="FFC000"/>
                </a:solidFill>
              </a:rPr>
              <a:t>a electronic collimation  </a:t>
            </a:r>
          </a:p>
        </p:txBody>
      </p:sp>
      <p:pic>
        <p:nvPicPr>
          <p:cNvPr id="4098"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90243" y="4219331"/>
            <a:ext cx="2483214" cy="2037039"/>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09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35766" y="6322996"/>
            <a:ext cx="5226508" cy="4032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6" name="Picture 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953000" y="2286000"/>
            <a:ext cx="2393535" cy="175260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7876385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nip Diagonal Corner Rectangle 3"/>
          <p:cNvSpPr/>
          <p:nvPr/>
        </p:nvSpPr>
        <p:spPr>
          <a:xfrm>
            <a:off x="152400" y="381000"/>
            <a:ext cx="8839200" cy="1371600"/>
          </a:xfrm>
          <a:prstGeom prst="snip2DiagRect">
            <a:avLst/>
          </a:prstGeom>
          <a:gradFill flip="none" rotWithShape="1">
            <a:gsLst>
              <a:gs pos="0">
                <a:schemeClr val="bg1">
                  <a:alpha val="49000"/>
                </a:schemeClr>
              </a:gs>
              <a:gs pos="100000">
                <a:schemeClr val="bg1">
                  <a:alpha val="1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 name="TextBox 4"/>
          <p:cNvSpPr txBox="1"/>
          <p:nvPr/>
        </p:nvSpPr>
        <p:spPr>
          <a:xfrm>
            <a:off x="3717485" y="420469"/>
            <a:ext cx="1485900" cy="646331"/>
          </a:xfrm>
          <a:prstGeom prst="rect">
            <a:avLst/>
          </a:prstGeom>
          <a:noFill/>
        </p:spPr>
        <p:txBody>
          <a:bodyPr wrap="square" rtlCol="0">
            <a:spAutoFit/>
          </a:bodyPr>
          <a:lstStyle/>
          <a:p>
            <a:r>
              <a:rPr lang="en-US" sz="3600" dirty="0"/>
              <a:t>Steps</a:t>
            </a:r>
          </a:p>
        </p:txBody>
      </p:sp>
      <p:sp>
        <p:nvSpPr>
          <p:cNvPr id="2" name="TextBox 1"/>
          <p:cNvSpPr txBox="1"/>
          <p:nvPr/>
        </p:nvSpPr>
        <p:spPr>
          <a:xfrm>
            <a:off x="454001" y="1447800"/>
            <a:ext cx="8012867" cy="400110"/>
          </a:xfrm>
          <a:prstGeom prst="rect">
            <a:avLst/>
          </a:prstGeom>
          <a:noFill/>
        </p:spPr>
        <p:txBody>
          <a:bodyPr wrap="square" rtlCol="0">
            <a:spAutoFit/>
          </a:bodyPr>
          <a:lstStyle/>
          <a:p>
            <a:r>
              <a:rPr lang="en-US" sz="2000" u="sng" dirty="0"/>
              <a:t>Basic principles of annihilation coincidence detection </a:t>
            </a:r>
          </a:p>
        </p:txBody>
      </p:sp>
      <p:sp>
        <p:nvSpPr>
          <p:cNvPr id="7" name="TextBox 6"/>
          <p:cNvSpPr txBox="1"/>
          <p:nvPr/>
        </p:nvSpPr>
        <p:spPr>
          <a:xfrm>
            <a:off x="157870" y="2286000"/>
            <a:ext cx="8605130" cy="3139321"/>
          </a:xfrm>
          <a:prstGeom prst="rect">
            <a:avLst/>
          </a:prstGeom>
          <a:noFill/>
        </p:spPr>
        <p:txBody>
          <a:bodyPr wrap="square" rtlCol="0">
            <a:spAutoFit/>
          </a:bodyPr>
          <a:lstStyle/>
          <a:p>
            <a:pPr marL="285750" indent="-285750">
              <a:buFont typeface="Arial" pitchFamily="34" charset="0"/>
              <a:buChar char="•"/>
            </a:pPr>
            <a:r>
              <a:rPr lang="en-US" dirty="0"/>
              <a:t>Coincidence logic is employed to analyze the signals from the opposing detectors. </a:t>
            </a:r>
          </a:p>
          <a:p>
            <a:endParaRPr lang="en-US" dirty="0"/>
          </a:p>
          <a:p>
            <a:pPr marL="285750" indent="-285750">
              <a:buFont typeface="Arial" pitchFamily="34" charset="0"/>
              <a:buChar char="•"/>
            </a:pPr>
            <a:r>
              <a:rPr lang="en-US" dirty="0"/>
              <a:t>For many PET scanners, this is accomplished by having the electronics attach a digital “time stamp” to the record for each detected event. </a:t>
            </a:r>
          </a:p>
          <a:p>
            <a:endParaRPr lang="en-US" dirty="0"/>
          </a:p>
          <a:p>
            <a:pPr marL="285750" indent="-285750">
              <a:buFont typeface="Arial" pitchFamily="34" charset="0"/>
              <a:buChar char="•"/>
            </a:pPr>
            <a:r>
              <a:rPr lang="en-US" dirty="0"/>
              <a:t>The coincidence processor examines the time stamp for each event in comparison to events recorded in the opposing detectors.</a:t>
            </a:r>
          </a:p>
          <a:p>
            <a:pPr marL="285750" indent="-285750">
              <a:buFont typeface="Arial" pitchFamily="34" charset="0"/>
              <a:buChar char="•"/>
            </a:pPr>
            <a:endParaRPr lang="en-US" dirty="0"/>
          </a:p>
          <a:p>
            <a:pPr marL="285750" indent="-285750">
              <a:buFont typeface="Arial" pitchFamily="34" charset="0"/>
              <a:buChar char="•"/>
            </a:pPr>
            <a:r>
              <a:rPr lang="en-US" dirty="0"/>
              <a:t>A coincidence event is assumed to have occurred when a pair of events are recorded within a specified </a:t>
            </a:r>
            <a:r>
              <a:rPr lang="en-US" dirty="0">
                <a:solidFill>
                  <a:srgbClr val="FFC000"/>
                </a:solidFill>
              </a:rPr>
              <a:t>coincidence timing window </a:t>
            </a:r>
            <a:r>
              <a:rPr lang="en-US" dirty="0"/>
              <a:t>, which typically is </a:t>
            </a:r>
            <a:r>
              <a:rPr lang="en-US" dirty="0">
                <a:solidFill>
                  <a:srgbClr val="FFC000"/>
                </a:solidFill>
              </a:rPr>
              <a:t>6-12 nanoseconds</a:t>
            </a:r>
            <a:r>
              <a:rPr lang="en-US" dirty="0"/>
              <a:t>. </a:t>
            </a:r>
            <a:endParaRPr lang="en-US" dirty="0">
              <a:solidFill>
                <a:srgbClr val="FFC000"/>
              </a:solidFill>
            </a:endParaRPr>
          </a:p>
          <a:p>
            <a:pPr marL="285750" indent="-285750">
              <a:buFont typeface="Arial" pitchFamily="34" charset="0"/>
              <a:buChar char="•"/>
            </a:pPr>
            <a:endParaRPr lang="en-US" dirty="0"/>
          </a:p>
        </p:txBody>
      </p:sp>
      <p:sp>
        <p:nvSpPr>
          <p:cNvPr id="3" name="TextBox 2"/>
          <p:cNvSpPr txBox="1"/>
          <p:nvPr/>
        </p:nvSpPr>
        <p:spPr>
          <a:xfrm>
            <a:off x="454001" y="5638800"/>
            <a:ext cx="3339569" cy="523220"/>
          </a:xfrm>
          <a:prstGeom prst="rect">
            <a:avLst/>
          </a:prstGeom>
          <a:noFill/>
        </p:spPr>
        <p:txBody>
          <a:bodyPr wrap="none" rtlCol="0">
            <a:spAutoFit/>
          </a:bodyPr>
          <a:lstStyle/>
          <a:p>
            <a:r>
              <a:rPr lang="en-IN" sz="2800" dirty="0">
                <a:solidFill>
                  <a:srgbClr val="3333CC"/>
                </a:solidFill>
              </a:rPr>
              <a:t>LOR- Line of response</a:t>
            </a:r>
          </a:p>
        </p:txBody>
      </p:sp>
    </p:spTree>
    <p:extLst>
      <p:ext uri="{BB962C8B-B14F-4D97-AF65-F5344CB8AC3E}">
        <p14:creationId xmlns:p14="http://schemas.microsoft.com/office/powerpoint/2010/main" val="71026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randombar(horizontal)">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Effect transition="in" filter="randombar(horizontal)">
                                      <p:cBhvr>
                                        <p:cTn id="12" dur="500"/>
                                        <p:tgtEl>
                                          <p:spTgt spid="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7">
                                            <p:txEl>
                                              <p:pRg st="4" end="4"/>
                                            </p:txEl>
                                          </p:spTgt>
                                        </p:tgtEl>
                                        <p:attrNameLst>
                                          <p:attrName>style.visibility</p:attrName>
                                        </p:attrNameLst>
                                      </p:cBhvr>
                                      <p:to>
                                        <p:strVal val="visible"/>
                                      </p:to>
                                    </p:set>
                                    <p:animEffect transition="in" filter="randombar(horizontal)">
                                      <p:cBhvr>
                                        <p:cTn id="17" dur="500"/>
                                        <p:tgtEl>
                                          <p:spTgt spid="7">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7">
                                            <p:txEl>
                                              <p:pRg st="6" end="6"/>
                                            </p:txEl>
                                          </p:spTgt>
                                        </p:tgtEl>
                                        <p:attrNameLst>
                                          <p:attrName>style.visibility</p:attrName>
                                        </p:attrNameLst>
                                      </p:cBhvr>
                                      <p:to>
                                        <p:strVal val="visible"/>
                                      </p:to>
                                    </p:set>
                                    <p:animEffect transition="in" filter="randombar(horizontal)">
                                      <p:cBhvr>
                                        <p:cTn id="22" dur="500"/>
                                        <p:tgtEl>
                                          <p:spTgt spid="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Time window</a:t>
            </a:r>
          </a:p>
        </p:txBody>
      </p:sp>
      <p:sp>
        <p:nvSpPr>
          <p:cNvPr id="4" name="Slide Number Placeholder 3"/>
          <p:cNvSpPr>
            <a:spLocks noGrp="1"/>
          </p:cNvSpPr>
          <p:nvPr>
            <p:ph type="sldNum" sz="quarter" idx="12"/>
          </p:nvPr>
        </p:nvSpPr>
        <p:spPr/>
        <p:txBody>
          <a:bodyPr/>
          <a:lstStyle/>
          <a:p>
            <a:fld id="{C6934AA0-4692-41C5-BE8C-1E9BD0630C2E}" type="slidenum">
              <a:rPr lang="en-IN" smtClean="0"/>
              <a:pPr/>
              <a:t>48</a:t>
            </a:fld>
            <a:endParaRPr lang="en-IN"/>
          </a:p>
        </p:txBody>
      </p:sp>
      <p:sp>
        <p:nvSpPr>
          <p:cNvPr id="5" name="Rectangle 4"/>
          <p:cNvSpPr/>
          <p:nvPr/>
        </p:nvSpPr>
        <p:spPr>
          <a:xfrm>
            <a:off x="609600" y="1720840"/>
            <a:ext cx="7772400" cy="2554545"/>
          </a:xfrm>
          <a:prstGeom prst="rect">
            <a:avLst/>
          </a:prstGeom>
        </p:spPr>
        <p:txBody>
          <a:bodyPr wrap="square">
            <a:spAutoFit/>
          </a:bodyPr>
          <a:lstStyle/>
          <a:p>
            <a:pPr algn="just"/>
            <a:r>
              <a:rPr lang="en-IN" sz="2000" dirty="0"/>
              <a:t>The annihilation may occur closer to one detector surface than the other, which will result in a slight but measurable delay of one photon, where the photons travel at the speed of light, or </a:t>
            </a:r>
            <a:r>
              <a:rPr lang="en-IN" sz="2000" b="1" dirty="0">
                <a:solidFill>
                  <a:srgbClr val="3333CC"/>
                </a:solidFill>
              </a:rPr>
              <a:t>1 m in 3.3 ns</a:t>
            </a:r>
            <a:r>
              <a:rPr lang="en-IN" sz="2000" dirty="0"/>
              <a:t>. Most important for temporal mismatches is the finite timing resolution of the detector, i.e. its timing uncertainty, which arises from the </a:t>
            </a:r>
            <a:r>
              <a:rPr lang="en-IN" sz="2000" b="1" dirty="0">
                <a:solidFill>
                  <a:srgbClr val="7030A0"/>
                </a:solidFill>
              </a:rPr>
              <a:t>decay time of the scintillation in the crystal and the processing time of the PMT signals</a:t>
            </a:r>
            <a:r>
              <a:rPr lang="en-IN" sz="2000" dirty="0"/>
              <a:t>. These effects lead to the use of a coincidence time window on the order of </a:t>
            </a:r>
            <a:r>
              <a:rPr lang="en-IN" sz="2000" b="1" dirty="0">
                <a:solidFill>
                  <a:srgbClr val="CC9900"/>
                </a:solidFill>
              </a:rPr>
              <a:t>6-12 </a:t>
            </a:r>
            <a:r>
              <a:rPr lang="en-IN" sz="2000" dirty="0"/>
              <a:t>ns.</a:t>
            </a:r>
          </a:p>
        </p:txBody>
      </p:sp>
    </p:spTree>
    <p:extLst>
      <p:ext uri="{BB962C8B-B14F-4D97-AF65-F5344CB8AC3E}">
        <p14:creationId xmlns:p14="http://schemas.microsoft.com/office/powerpoint/2010/main" val="380793987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Coincidence circuit (Block diagram)</a:t>
            </a:r>
          </a:p>
        </p:txBody>
      </p:sp>
      <p:sp>
        <p:nvSpPr>
          <p:cNvPr id="4" name="Slide Number Placeholder 3"/>
          <p:cNvSpPr>
            <a:spLocks noGrp="1"/>
          </p:cNvSpPr>
          <p:nvPr>
            <p:ph type="sldNum" sz="quarter" idx="12"/>
          </p:nvPr>
        </p:nvSpPr>
        <p:spPr/>
        <p:txBody>
          <a:bodyPr/>
          <a:lstStyle/>
          <a:p>
            <a:fld id="{C6934AA0-4692-41C5-BE8C-1E9BD0630C2E}" type="slidenum">
              <a:rPr lang="en-IN" smtClean="0"/>
              <a:pPr/>
              <a:t>49</a:t>
            </a:fld>
            <a:endParaRPr lang="en-IN"/>
          </a:p>
        </p:txBody>
      </p:sp>
      <p:pic>
        <p:nvPicPr>
          <p:cNvPr id="7170" name="Picture 2" descr="Image result for positron emission tomography coincidence detec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2438400"/>
            <a:ext cx="5048250" cy="28194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4255285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Inside</a:t>
            </a:r>
          </a:p>
        </p:txBody>
      </p:sp>
      <p:sp>
        <p:nvSpPr>
          <p:cNvPr id="4" name="Slide Number Placeholder 3"/>
          <p:cNvSpPr>
            <a:spLocks noGrp="1"/>
          </p:cNvSpPr>
          <p:nvPr>
            <p:ph type="sldNum" sz="quarter" idx="12"/>
          </p:nvPr>
        </p:nvSpPr>
        <p:spPr/>
        <p:txBody>
          <a:bodyPr/>
          <a:lstStyle/>
          <a:p>
            <a:fld id="{C6934AA0-4692-41C5-BE8C-1E9BD0630C2E}" type="slidenum">
              <a:rPr lang="en-IN" smtClean="0"/>
              <a:pPr/>
              <a:t>50</a:t>
            </a:fld>
            <a:endParaRPr lang="en-IN"/>
          </a:p>
        </p:txBody>
      </p:sp>
      <p:pic>
        <p:nvPicPr>
          <p:cNvPr id="5122" name="Picture 2" descr="Image result for positron emission tomography machin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1371600"/>
            <a:ext cx="5638800" cy="49306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7434710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solidFill>
                  <a:srgbClr val="990000"/>
                </a:solidFill>
              </a:rPr>
              <a:t>Scintillation detectors</a:t>
            </a:r>
          </a:p>
        </p:txBody>
      </p:sp>
      <p:sp>
        <p:nvSpPr>
          <p:cNvPr id="4" name="Slide Number Placeholder 3"/>
          <p:cNvSpPr>
            <a:spLocks noGrp="1"/>
          </p:cNvSpPr>
          <p:nvPr>
            <p:ph type="sldNum" sz="quarter" idx="12"/>
          </p:nvPr>
        </p:nvSpPr>
        <p:spPr/>
        <p:txBody>
          <a:bodyPr/>
          <a:lstStyle/>
          <a:p>
            <a:fld id="{C6934AA0-4692-41C5-BE8C-1E9BD0630C2E}" type="slidenum">
              <a:rPr lang="en-IN" smtClean="0"/>
              <a:pPr/>
              <a:t>51</a:t>
            </a:fld>
            <a:endParaRPr lang="en-IN"/>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1219200"/>
            <a:ext cx="6496050" cy="4076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381000" y="5429071"/>
            <a:ext cx="8534400" cy="1200329"/>
          </a:xfrm>
          <a:prstGeom prst="rect">
            <a:avLst/>
          </a:prstGeom>
        </p:spPr>
        <p:txBody>
          <a:bodyPr wrap="square">
            <a:spAutoFit/>
          </a:bodyPr>
          <a:lstStyle/>
          <a:p>
            <a:r>
              <a:rPr lang="en-IN" dirty="0"/>
              <a:t>In scintillation crystals, the incident annihilation photon (nominally 511,000 </a:t>
            </a:r>
            <a:r>
              <a:rPr lang="en-IN" dirty="0" err="1"/>
              <a:t>eV</a:t>
            </a:r>
            <a:r>
              <a:rPr lang="en-IN" dirty="0"/>
              <a:t> energy) interacts and creates </a:t>
            </a:r>
            <a:r>
              <a:rPr lang="en-IN" b="1" dirty="0">
                <a:solidFill>
                  <a:srgbClr val="990000"/>
                </a:solidFill>
              </a:rPr>
              <a:t>tens of thousands visible wavelength photons </a:t>
            </a:r>
            <a:r>
              <a:rPr lang="en-IN" dirty="0"/>
              <a:t>(about 1 </a:t>
            </a:r>
            <a:r>
              <a:rPr lang="en-IN" dirty="0" err="1"/>
              <a:t>eV</a:t>
            </a:r>
            <a:r>
              <a:rPr lang="en-IN" dirty="0"/>
              <a:t> energy each) in a very short flash or 'scintillation'. The number of scintillation photons produced in the crystal is proportional to the energy deposited by the annihilation photon.</a:t>
            </a:r>
          </a:p>
        </p:txBody>
      </p:sp>
    </p:spTree>
    <p:extLst>
      <p:ext uri="{BB962C8B-B14F-4D97-AF65-F5344CB8AC3E}">
        <p14:creationId xmlns:p14="http://schemas.microsoft.com/office/powerpoint/2010/main" val="424730680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33700" y="163286"/>
            <a:ext cx="3048000" cy="990600"/>
          </a:xfrm>
        </p:spPr>
        <p:txBody>
          <a:bodyPr/>
          <a:lstStyle/>
          <a:p>
            <a:r>
              <a:rPr lang="en-IN" dirty="0" err="1"/>
              <a:t>Artifacts</a:t>
            </a:r>
            <a:endParaRPr lang="en-IN" dirty="0"/>
          </a:p>
        </p:txBody>
      </p:sp>
      <p:sp>
        <p:nvSpPr>
          <p:cNvPr id="4" name="Slide Number Placeholder 3"/>
          <p:cNvSpPr>
            <a:spLocks noGrp="1"/>
          </p:cNvSpPr>
          <p:nvPr>
            <p:ph type="sldNum" sz="quarter" idx="12"/>
          </p:nvPr>
        </p:nvSpPr>
        <p:spPr/>
        <p:txBody>
          <a:bodyPr/>
          <a:lstStyle/>
          <a:p>
            <a:fld id="{C6934AA0-4692-41C5-BE8C-1E9BD0630C2E}" type="slidenum">
              <a:rPr lang="en-IN" smtClean="0"/>
              <a:pPr/>
              <a:t>52</a:t>
            </a:fld>
            <a:endParaRPr lang="en-IN"/>
          </a:p>
        </p:txBody>
      </p:sp>
      <p:pic>
        <p:nvPicPr>
          <p:cNvPr id="8194" name="Picture 2" descr="Image result for positron emission tomography coincidence detec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33800" y="1295400"/>
            <a:ext cx="4933950" cy="264795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304800" y="5565339"/>
            <a:ext cx="8305800" cy="923330"/>
          </a:xfrm>
          <a:prstGeom prst="rect">
            <a:avLst/>
          </a:prstGeom>
          <a:noFill/>
        </p:spPr>
        <p:txBody>
          <a:bodyPr wrap="square" rtlCol="0">
            <a:spAutoFit/>
          </a:bodyPr>
          <a:lstStyle/>
          <a:p>
            <a:pPr algn="just"/>
            <a:r>
              <a:rPr lang="en-US" b="1" dirty="0">
                <a:solidFill>
                  <a:srgbClr val="7030A0"/>
                </a:solidFill>
              </a:rPr>
              <a:t>Scattered coincidence: </a:t>
            </a:r>
            <a:r>
              <a:rPr lang="en-US" dirty="0"/>
              <a:t>These occur when one (or both) of the photons from an annihilation undergoes scattering and is detected in a detector other than the one that would be appropriate for a true coincidence event.</a:t>
            </a:r>
          </a:p>
        </p:txBody>
      </p:sp>
      <p:sp>
        <p:nvSpPr>
          <p:cNvPr id="5" name="Rectangle 4"/>
          <p:cNvSpPr/>
          <p:nvPr/>
        </p:nvSpPr>
        <p:spPr>
          <a:xfrm>
            <a:off x="341086" y="4114800"/>
            <a:ext cx="8498114" cy="1200329"/>
          </a:xfrm>
          <a:prstGeom prst="rect">
            <a:avLst/>
          </a:prstGeom>
        </p:spPr>
        <p:txBody>
          <a:bodyPr wrap="square">
            <a:spAutoFit/>
          </a:bodyPr>
          <a:lstStyle/>
          <a:p>
            <a:pPr algn="just"/>
            <a:r>
              <a:rPr lang="en-US" b="1" dirty="0">
                <a:solidFill>
                  <a:srgbClr val="7030A0"/>
                </a:solidFill>
              </a:rPr>
              <a:t>Random coincidence: </a:t>
            </a:r>
            <a:r>
              <a:rPr lang="en-US" dirty="0"/>
              <a:t>Occur when annihilation photons from two unrelated positron annihilation events are detected in two different detectors, within the coincidence timing window, and recorded as a single coincidence event. This can happen if one photon from each annihilation event is detected in each detector element. </a:t>
            </a:r>
          </a:p>
        </p:txBody>
      </p:sp>
      <p:sp>
        <p:nvSpPr>
          <p:cNvPr id="7" name="Rectangle 6"/>
          <p:cNvSpPr/>
          <p:nvPr/>
        </p:nvSpPr>
        <p:spPr>
          <a:xfrm>
            <a:off x="304800" y="1143000"/>
            <a:ext cx="2895600" cy="2862322"/>
          </a:xfrm>
          <a:prstGeom prst="rect">
            <a:avLst/>
          </a:prstGeom>
        </p:spPr>
        <p:txBody>
          <a:bodyPr wrap="square">
            <a:spAutoFit/>
          </a:bodyPr>
          <a:lstStyle/>
          <a:p>
            <a:pPr algn="just"/>
            <a:r>
              <a:rPr lang="en-US" b="1" dirty="0">
                <a:solidFill>
                  <a:srgbClr val="7030A0"/>
                </a:solidFill>
              </a:rPr>
              <a:t>True coincidence: </a:t>
            </a:r>
            <a:r>
              <a:rPr lang="en-US" dirty="0"/>
              <a:t>The coincidence arise from a pair of photons produced from the same annihilation event and that the annihilation event occurs somewhere within the coincidence line between the detectors. Theses events are called true coincidence </a:t>
            </a:r>
          </a:p>
        </p:txBody>
      </p:sp>
    </p:spTree>
    <p:extLst>
      <p:ext uri="{BB962C8B-B14F-4D97-AF65-F5344CB8AC3E}">
        <p14:creationId xmlns:p14="http://schemas.microsoft.com/office/powerpoint/2010/main" val="33182114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randombar(horizontal)">
                                      <p:cBhvr>
                                        <p:cTn id="7"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670</TotalTime>
  <Words>1809</Words>
  <Application>Microsoft Office PowerPoint</Application>
  <PresentationFormat>On-screen Show (4:3)</PresentationFormat>
  <Paragraphs>243</Paragraphs>
  <Slides>52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Radioactivity</vt:lpstr>
      <vt:lpstr>N/Z ratio</vt:lpstr>
      <vt:lpstr>N/Z graph</vt:lpstr>
      <vt:lpstr>Radioactive decay equation</vt:lpstr>
      <vt:lpstr>Radioactive decay</vt:lpstr>
      <vt:lpstr>α-decay</vt:lpstr>
      <vt:lpstr>β-decay</vt:lpstr>
      <vt:lpstr>γ-decay</vt:lpstr>
      <vt:lpstr>Penetration</vt:lpstr>
      <vt:lpstr>Isotope, Isobar, Isotone</vt:lpstr>
      <vt:lpstr>Radioisotope, radiopharmaceuticals</vt:lpstr>
      <vt:lpstr>Difference  between isotope and radioisotope</vt:lpstr>
      <vt:lpstr>PowerPoint Presentation</vt:lpstr>
      <vt:lpstr>Difference between X-ray and ϒ-ray imaging</vt:lpstr>
      <vt:lpstr>SPECT and PET imaging</vt:lpstr>
      <vt:lpstr>Single photon emission computed tomography (SPECT)</vt:lpstr>
      <vt:lpstr>Common Radiopharmaceuticals (RaPhs)</vt:lpstr>
      <vt:lpstr>Features of RaPhs</vt:lpstr>
      <vt:lpstr>RaPhs  are tracers</vt:lpstr>
      <vt:lpstr>More on RaPhs</vt:lpstr>
      <vt:lpstr>More on RaPhs</vt:lpstr>
      <vt:lpstr>Difference between X-ray and ϒ-ray</vt:lpstr>
      <vt:lpstr>Interaction mechanisms of ϒ-ray with tissue</vt:lpstr>
      <vt:lpstr>Photoelectric effect</vt:lpstr>
      <vt:lpstr>Compton scattering</vt:lpstr>
      <vt:lpstr>Pair production</vt:lpstr>
      <vt:lpstr>Regimes</vt:lpstr>
      <vt:lpstr>Attenuation coefficient (μ)</vt:lpstr>
      <vt:lpstr>Relative strengths</vt:lpstr>
      <vt:lpstr>Products of interaction</vt:lpstr>
      <vt:lpstr>Detection of ϒ-ray</vt:lpstr>
      <vt:lpstr>PowerPoint Presentation</vt:lpstr>
      <vt:lpstr>PowerPoint Presentation</vt:lpstr>
      <vt:lpstr>PowerPoint Presentation</vt:lpstr>
      <vt:lpstr>Gamma camera: block diagram</vt:lpstr>
      <vt:lpstr>Scintillation</vt:lpstr>
      <vt:lpstr>PowerPoint Presentation</vt:lpstr>
      <vt:lpstr>Dual head SPECT</vt:lpstr>
      <vt:lpstr>Dual head SPECT</vt:lpstr>
      <vt:lpstr>Positron emission tomography (PET)</vt:lpstr>
      <vt:lpstr>Positron emission tomography (PET)</vt:lpstr>
      <vt:lpstr>Positron emitting isotopes</vt:lpstr>
      <vt:lpstr>Whole body images </vt:lpstr>
      <vt:lpstr>Machine</vt:lpstr>
      <vt:lpstr>Positron emission</vt:lpstr>
      <vt:lpstr>PowerPoint Presentation</vt:lpstr>
      <vt:lpstr>PowerPoint Presentation</vt:lpstr>
      <vt:lpstr>Time window</vt:lpstr>
      <vt:lpstr>Coincidence circuit (Block diagram)</vt:lpstr>
      <vt:lpstr>Inside</vt:lpstr>
      <vt:lpstr>Scintillation detectors</vt:lpstr>
      <vt:lpstr>Artifacts</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Magnetoencephalography (MEG)</dc:title>
  <dc:creator>Ratan</dc:creator>
  <cp:lastModifiedBy>Ratan Saha</cp:lastModifiedBy>
  <cp:revision>68</cp:revision>
  <dcterms:created xsi:type="dcterms:W3CDTF">2016-09-06T01:23:38Z</dcterms:created>
  <dcterms:modified xsi:type="dcterms:W3CDTF">2026-04-21T07:40:23Z</dcterms:modified>
</cp:coreProperties>
</file>