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75" r:id="rId2"/>
    <p:sldId id="365" r:id="rId3"/>
    <p:sldId id="366" r:id="rId4"/>
    <p:sldId id="368" r:id="rId5"/>
    <p:sldId id="370" r:id="rId6"/>
    <p:sldId id="371" r:id="rId7"/>
    <p:sldId id="377" r:id="rId8"/>
    <p:sldId id="378" r:id="rId9"/>
    <p:sldId id="379" r:id="rId10"/>
    <p:sldId id="372" r:id="rId11"/>
    <p:sldId id="373" r:id="rId12"/>
    <p:sldId id="374" r:id="rId13"/>
    <p:sldId id="383" r:id="rId14"/>
    <p:sldId id="380" r:id="rId15"/>
    <p:sldId id="382" r:id="rId16"/>
    <p:sldId id="38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E936FD-7219-48C6-86FB-C390A50A59E4}">
          <p14:sldIdLst>
            <p14:sldId id="275"/>
            <p14:sldId id="365"/>
            <p14:sldId id="366"/>
            <p14:sldId id="368"/>
            <p14:sldId id="370"/>
            <p14:sldId id="371"/>
            <p14:sldId id="377"/>
            <p14:sldId id="378"/>
            <p14:sldId id="379"/>
            <p14:sldId id="372"/>
            <p14:sldId id="373"/>
            <p14:sldId id="374"/>
            <p14:sldId id="383"/>
            <p14:sldId id="380"/>
            <p14:sldId id="382"/>
            <p14:sldId id="3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7C80"/>
    <a:srgbClr val="CC0000"/>
    <a:srgbClr val="008000"/>
    <a:srgbClr val="0033CC"/>
    <a:srgbClr val="660066"/>
    <a:srgbClr val="666633"/>
    <a:srgbClr val="D60093"/>
    <a:srgbClr val="CC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84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6B50-0230-47E8-A864-FB968740FB5D}" type="datetimeFigureOut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867D5-5CCD-4A59-AD28-D7646AD6612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58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053E-2376-4FDE-A97F-A81BA2E5D6BA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68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94895-1C4E-461B-B148-F8DDD3BE2262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3B760-EA83-44BA-B85E-EA08F3D60FBE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66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12A2-4463-4963-BF48-923D8AF1C0DC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96D8A-5605-4544-9DC8-746FB835710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2C4C-1345-4E3F-BF94-9D96C33E7F67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593A-65C8-4B92-A308-44A50D57BF00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9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57CB-8B61-4E9C-96D2-31AABB1BF02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1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DAA69-F8E8-433B-AE22-B3CF941DDBFF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0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F375-2A72-4956-B92B-CD7D448DC34E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4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83D2-B445-4396-BA6A-656BD891FBA1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1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0807C-3CC4-4880-9EDC-96165A1056E4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45F9C-1B63-4878-8BDE-37674740F7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4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X-ray 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84BA1-EE0B-41EC-B02B-8163D7446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429000"/>
            <a:ext cx="8153400" cy="9608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66DBFE1-5873-27E7-1093-4C4F93BAF8BA}"/>
              </a:ext>
            </a:extLst>
          </p:cNvPr>
          <p:cNvSpPr txBox="1">
            <a:spLocks/>
          </p:cNvSpPr>
          <p:nvPr/>
        </p:nvSpPr>
        <p:spPr>
          <a:xfrm>
            <a:off x="366409" y="1752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Problem solve</a:t>
            </a:r>
          </a:p>
        </p:txBody>
      </p:sp>
    </p:spTree>
    <p:extLst>
      <p:ext uri="{BB962C8B-B14F-4D97-AF65-F5344CB8AC3E}">
        <p14:creationId xmlns:p14="http://schemas.microsoft.com/office/powerpoint/2010/main" val="221241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Image reconstruction means solving system of linear equations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46557"/>
            <a:ext cx="1464159" cy="6937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542" y="2554725"/>
            <a:ext cx="4995565" cy="517166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307975" y="1371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Image reconstruction problem can be presented as a problem of solving a system of linear equations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43232" y="3344080"/>
            <a:ext cx="8495968" cy="23619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A- system matrix or model matrix; the interaction of the input beam with each pixel is retained here; it is a large matrix; ill-conditioned matrix; condition number is large</a:t>
            </a:r>
          </a:p>
          <a:p>
            <a:pPr algn="l"/>
            <a:endParaRPr lang="en-IN" sz="1000" dirty="0"/>
          </a:p>
          <a:p>
            <a:pPr algn="l"/>
            <a:r>
              <a:rPr lang="en-IN" sz="2000" dirty="0"/>
              <a:t>B- is the measurement vector; long vector; it contains noise as well</a:t>
            </a:r>
          </a:p>
          <a:p>
            <a:pPr algn="l"/>
            <a:endParaRPr lang="en-IN" sz="1000" dirty="0"/>
          </a:p>
          <a:p>
            <a:pPr algn="l"/>
            <a:r>
              <a:rPr lang="en-IN" sz="2000" dirty="0"/>
              <a:t>x- vector containing the unknowns; it can be converted into 2D matrix which is an image- displays spatial map of a property of the tissue that we want to image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343232" y="5978172"/>
            <a:ext cx="5585583" cy="590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srgbClr val="C00000"/>
                </a:solidFill>
              </a:rPr>
              <a:t>Our job is solve this equation and obtain x. </a:t>
            </a:r>
          </a:p>
        </p:txBody>
      </p:sp>
    </p:spTree>
    <p:extLst>
      <p:ext uri="{BB962C8B-B14F-4D97-AF65-F5344CB8AC3E}">
        <p14:creationId xmlns:p14="http://schemas.microsoft.com/office/powerpoint/2010/main" val="219975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Solution of a system of linear equations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428667"/>
            <a:ext cx="8229600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If A is a square matrix (m=n) and |A|≠ 0, then the inverse of A exists. The solution becomes,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07975" y="2858337"/>
            <a:ext cx="8229600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This provides the unique solution.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218038"/>
            <a:ext cx="1733254" cy="755122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307975" y="3760401"/>
            <a:ext cx="8229600" cy="2411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solidFill>
                  <a:srgbClr val="C00000"/>
                </a:solidFill>
              </a:rPr>
              <a:t>The above condition rarely meets in the experiment. Rather it does not meet at all.  </a:t>
            </a:r>
            <a:r>
              <a:rPr lang="en-IN" sz="2000" b="1" dirty="0"/>
              <a:t>Two situations may occur-</a:t>
            </a:r>
          </a:p>
          <a:p>
            <a:pPr algn="l"/>
            <a:endParaRPr lang="en-IN" sz="2000" b="1" dirty="0"/>
          </a:p>
          <a:p>
            <a:pPr algn="l"/>
            <a:r>
              <a:rPr lang="en-IN" sz="2000" b="1" dirty="0"/>
              <a:t>m&lt;n, under determined problem</a:t>
            </a:r>
          </a:p>
          <a:p>
            <a:pPr algn="l"/>
            <a:r>
              <a:rPr lang="en-IN" sz="2000" b="1" dirty="0"/>
              <a:t>m&gt;n, over determined problem</a:t>
            </a:r>
          </a:p>
          <a:p>
            <a:pPr algn="l"/>
            <a:endParaRPr lang="en-IN" sz="2000" dirty="0"/>
          </a:p>
          <a:p>
            <a:pPr algn="l"/>
            <a:r>
              <a:rPr lang="en-IN" sz="2000" dirty="0"/>
              <a:t>For both the cases, unique solution does not exist. Therefore, plenty of solutions exist. </a:t>
            </a:r>
            <a:r>
              <a:rPr lang="en-IN" sz="2000" b="1" dirty="0"/>
              <a:t>Now our task is to find out the best solution. </a:t>
            </a:r>
          </a:p>
        </p:txBody>
      </p:sp>
    </p:spTree>
    <p:extLst>
      <p:ext uri="{BB962C8B-B14F-4D97-AF65-F5344CB8AC3E}">
        <p14:creationId xmlns:p14="http://schemas.microsoft.com/office/powerpoint/2010/main" val="86715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Moore-Penrose inverse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245659"/>
            <a:ext cx="8229600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If A is a not a square matrix. Let us do some trivial steps,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2160682" y="3736669"/>
            <a:ext cx="1152335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where,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25" y="1964715"/>
            <a:ext cx="3295480" cy="15701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471" y="4106946"/>
            <a:ext cx="2878963" cy="560917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307975" y="5112051"/>
            <a:ext cx="8229600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>
                <a:solidFill>
                  <a:srgbClr val="C00000"/>
                </a:solidFill>
              </a:rPr>
              <a:t>This is known as the Moore-Penrose pseudo inverse. </a:t>
            </a:r>
          </a:p>
        </p:txBody>
      </p:sp>
    </p:spTree>
    <p:extLst>
      <p:ext uri="{BB962C8B-B14F-4D97-AF65-F5344CB8AC3E}">
        <p14:creationId xmlns:p14="http://schemas.microsoft.com/office/powerpoint/2010/main" val="134402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Least square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245659"/>
            <a:ext cx="5689969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We have to solve the following equation-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11604" y="2623754"/>
            <a:ext cx="3175454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Let us define a quantity,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3531" b="79537"/>
          <a:stretch/>
        </p:blipFill>
        <p:spPr>
          <a:xfrm>
            <a:off x="2762525" y="1964715"/>
            <a:ext cx="2190475" cy="321285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95465" y="4459175"/>
            <a:ext cx="8229600" cy="113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Now minimize </a:t>
            </a:r>
            <a:r>
              <a:rPr lang="el-GR" sz="2000" b="1" dirty="0"/>
              <a:t>Ω</a:t>
            </a:r>
            <a:r>
              <a:rPr lang="en-IN" sz="2000" b="1" dirty="0"/>
              <a:t> with respect to x. Iteratively change x and then find out the x for which </a:t>
            </a:r>
            <a:r>
              <a:rPr lang="el-GR" sz="2000" b="1" dirty="0"/>
              <a:t>Ω</a:t>
            </a:r>
            <a:r>
              <a:rPr lang="en-IN" sz="2000" b="1" dirty="0"/>
              <a:t> becomes minimum. Let </a:t>
            </a:r>
            <a:r>
              <a:rPr lang="en-IN" sz="2000" b="1" dirty="0" err="1"/>
              <a:t>x</a:t>
            </a:r>
            <a:r>
              <a:rPr lang="en-IN" sz="2000" b="1" baseline="-25000" dirty="0" err="1"/>
              <a:t>sol</a:t>
            </a:r>
            <a:r>
              <a:rPr lang="en-IN" sz="2000" b="1" dirty="0"/>
              <a:t> is the solution and then for this </a:t>
            </a:r>
            <a:r>
              <a:rPr lang="en-IN" sz="2000" b="1" dirty="0" err="1"/>
              <a:t>x</a:t>
            </a:r>
            <a:r>
              <a:rPr lang="en-IN" sz="2000" b="1" baseline="-25000" dirty="0" err="1"/>
              <a:t>sol</a:t>
            </a:r>
            <a:r>
              <a:rPr lang="en-IN" sz="2000" b="1" dirty="0"/>
              <a:t> the quantity </a:t>
            </a:r>
            <a:r>
              <a:rPr lang="el-GR" sz="2000" b="1" dirty="0"/>
              <a:t>Ω</a:t>
            </a:r>
            <a:r>
              <a:rPr lang="en-IN" sz="2000" b="1" dirty="0"/>
              <a:t> becomes minimum. The </a:t>
            </a:r>
            <a:r>
              <a:rPr lang="en-IN" sz="2000" b="1" dirty="0" err="1"/>
              <a:t>x</a:t>
            </a:r>
            <a:r>
              <a:rPr lang="en-IN" sz="2000" b="1" baseline="-25000" dirty="0" err="1"/>
              <a:t>sol</a:t>
            </a:r>
            <a:r>
              <a:rPr lang="en-IN" sz="2000" b="1" dirty="0"/>
              <a:t> can be expressed as,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455" y="3190931"/>
            <a:ext cx="2076270" cy="59073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5334000" y="1760757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………………………………(1)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334000" y="3065527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………………………………(2)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336" y="5581032"/>
            <a:ext cx="3488570" cy="691848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6324600" y="5609716"/>
            <a:ext cx="1641823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………………(3)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70" y="3781666"/>
            <a:ext cx="3143974" cy="4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1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 err="1">
                <a:solidFill>
                  <a:srgbClr val="0000CC"/>
                </a:solidFill>
              </a:rPr>
              <a:t>l</a:t>
            </a:r>
            <a:r>
              <a:rPr lang="en-IN" sz="3600" baseline="-25000" dirty="0" err="1">
                <a:solidFill>
                  <a:srgbClr val="0000CC"/>
                </a:solidFill>
              </a:rPr>
              <a:t>p</a:t>
            </a:r>
            <a:r>
              <a:rPr lang="en-IN" sz="3600" dirty="0">
                <a:solidFill>
                  <a:srgbClr val="0000CC"/>
                </a:solidFill>
              </a:rPr>
              <a:t> norm of a vector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97088" y="1583024"/>
            <a:ext cx="8237312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Consider a vector x. Its components are- x</a:t>
            </a:r>
            <a:r>
              <a:rPr lang="en-IN" sz="2000" baseline="-25000" dirty="0"/>
              <a:t>1</a:t>
            </a:r>
            <a:r>
              <a:rPr lang="en-IN" sz="2000" dirty="0"/>
              <a:t>, x</a:t>
            </a:r>
            <a:r>
              <a:rPr lang="en-IN" sz="2000" baseline="-25000" dirty="0"/>
              <a:t>2</a:t>
            </a:r>
            <a:r>
              <a:rPr lang="en-IN" sz="2000" dirty="0"/>
              <a:t>, x</a:t>
            </a:r>
            <a:r>
              <a:rPr lang="en-IN" sz="2000" baseline="-25000" dirty="0"/>
              <a:t>3</a:t>
            </a:r>
            <a:r>
              <a:rPr lang="en-IN" sz="2000" dirty="0"/>
              <a:t>, x</a:t>
            </a:r>
            <a:r>
              <a:rPr lang="en-IN" sz="2000" baseline="-25000" dirty="0"/>
              <a:t>4</a:t>
            </a:r>
            <a:r>
              <a:rPr lang="en-IN" sz="2000" dirty="0"/>
              <a:t>, …</a:t>
            </a:r>
            <a:r>
              <a:rPr lang="en-IN" sz="2000" dirty="0" err="1"/>
              <a:t>x</a:t>
            </a:r>
            <a:r>
              <a:rPr lang="en-IN" sz="2000" baseline="-25000" dirty="0" err="1"/>
              <a:t>n</a:t>
            </a:r>
            <a:r>
              <a:rPr lang="en-IN" sz="2000" baseline="-25000" dirty="0"/>
              <a:t> </a:t>
            </a:r>
            <a:r>
              <a:rPr lang="en-IN" sz="2000" dirty="0"/>
              <a:t>then </a:t>
            </a:r>
            <a:r>
              <a:rPr lang="en-IN" sz="2000" dirty="0" err="1">
                <a:solidFill>
                  <a:srgbClr val="0000CC"/>
                </a:solidFill>
              </a:rPr>
              <a:t>l</a:t>
            </a:r>
            <a:r>
              <a:rPr lang="en-IN" sz="2000" baseline="-25000" dirty="0" err="1">
                <a:solidFill>
                  <a:srgbClr val="0000CC"/>
                </a:solidFill>
              </a:rPr>
              <a:t>p</a:t>
            </a:r>
            <a:r>
              <a:rPr lang="en-IN" sz="2000" dirty="0">
                <a:solidFill>
                  <a:srgbClr val="0000CC"/>
                </a:solidFill>
              </a:rPr>
              <a:t> norm </a:t>
            </a:r>
            <a:r>
              <a:rPr lang="en-IN" sz="2000" dirty="0"/>
              <a:t>of x is defined as</a:t>
            </a:r>
            <a:r>
              <a:rPr lang="en-IN" sz="2000" baseline="-25000" dirty="0"/>
              <a:t> </a:t>
            </a:r>
            <a:r>
              <a:rPr lang="en-IN" sz="2000" dirty="0"/>
              <a:t>,</a:t>
            </a:r>
            <a:endParaRPr lang="en-IN" sz="2000" baseline="-25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34508"/>
            <a:ext cx="7387550" cy="94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5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E8B8E-E876-A626-CA26-25B2DBFA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C12E8E-AFB1-7D81-35D0-713D1E257F0F}"/>
              </a:ext>
            </a:extLst>
          </p:cNvPr>
          <p:cNvSpPr txBox="1">
            <a:spLocks/>
          </p:cNvSpPr>
          <p:nvPr/>
        </p:nvSpPr>
        <p:spPr>
          <a:xfrm>
            <a:off x="457200" y="176122"/>
            <a:ext cx="8229600" cy="127167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7030A0"/>
                </a:solidFill>
              </a:rPr>
              <a:t>Properties of A matrix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9F21D8-A0F9-0A69-D063-6E0309241262}"/>
              </a:ext>
            </a:extLst>
          </p:cNvPr>
          <p:cNvSpPr txBox="1">
            <a:spLocks/>
          </p:cNvSpPr>
          <p:nvPr/>
        </p:nvSpPr>
        <p:spPr>
          <a:xfrm>
            <a:off x="457200" y="2372755"/>
            <a:ext cx="8229600" cy="197064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l">
              <a:buAutoNum type="arabicPeriod"/>
            </a:pPr>
            <a:r>
              <a:rPr lang="en-IN" sz="3600" dirty="0">
                <a:solidFill>
                  <a:srgbClr val="000099"/>
                </a:solidFill>
              </a:rPr>
              <a:t>A is a large matrix</a:t>
            </a:r>
          </a:p>
          <a:p>
            <a:pPr marL="742950" indent="-742950" algn="l">
              <a:buAutoNum type="arabicPeriod"/>
            </a:pPr>
            <a:r>
              <a:rPr lang="en-IN" sz="3600" dirty="0">
                <a:solidFill>
                  <a:srgbClr val="000099"/>
                </a:solidFill>
              </a:rPr>
              <a:t>A is an ill-conditioned matrix</a:t>
            </a:r>
          </a:p>
          <a:p>
            <a:pPr marL="742950" indent="-742950" algn="l">
              <a:buAutoNum type="arabicPeriod"/>
            </a:pPr>
            <a:r>
              <a:rPr lang="en-IN" sz="3600" dirty="0">
                <a:solidFill>
                  <a:srgbClr val="000099"/>
                </a:solidFill>
              </a:rPr>
              <a:t>Condition number is large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DEC2F-56CC-A1BF-D511-2BCE7425CE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531" b="79537"/>
          <a:stretch/>
        </p:blipFill>
        <p:spPr>
          <a:xfrm>
            <a:off x="3476762" y="1676400"/>
            <a:ext cx="2190475" cy="32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0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F5666-37F1-A047-EC54-A37FC700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F2A643-9D7B-0F4D-A928-69E4BDB4721E}"/>
              </a:ext>
            </a:extLst>
          </p:cNvPr>
          <p:cNvSpPr txBox="1">
            <a:spLocks/>
          </p:cNvSpPr>
          <p:nvPr/>
        </p:nvSpPr>
        <p:spPr>
          <a:xfrm>
            <a:off x="457200" y="304800"/>
            <a:ext cx="8229600" cy="73827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rgbClr val="7030A0"/>
                </a:solidFill>
              </a:rPr>
              <a:t>Calculation of the condition number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6CEE7-29AF-E17B-25D0-30AD6023F317}"/>
              </a:ext>
            </a:extLst>
          </p:cNvPr>
          <p:cNvSpPr txBox="1"/>
          <p:nvPr/>
        </p:nvSpPr>
        <p:spPr>
          <a:xfrm>
            <a:off x="609600" y="1387055"/>
            <a:ext cx="8077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solidFill>
                  <a:srgbClr val="000099"/>
                </a:solidFill>
              </a:rPr>
              <a:t>Small variation in A or b results in large change in the solution if A is an ill-conditioned matrix.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B25412-A6E1-E10D-5908-DF17AEEEBAA0}"/>
              </a:ext>
            </a:extLst>
          </p:cNvPr>
          <p:cNvSpPr txBox="1"/>
          <p:nvPr/>
        </p:nvSpPr>
        <p:spPr>
          <a:xfrm>
            <a:off x="631723" y="2890930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solidFill>
                  <a:srgbClr val="000099"/>
                </a:solidFill>
              </a:rPr>
              <a:t>Definition 1:       Cond(A) = ||A||</a:t>
            </a:r>
            <a:r>
              <a:rPr lang="en-IN" sz="2400" baseline="-25000" dirty="0">
                <a:solidFill>
                  <a:srgbClr val="000099"/>
                </a:solidFill>
              </a:rPr>
              <a:t>2 </a:t>
            </a:r>
            <a:r>
              <a:rPr lang="en-IN" sz="2400" dirty="0">
                <a:solidFill>
                  <a:srgbClr val="000099"/>
                </a:solidFill>
              </a:rPr>
              <a:t>||A</a:t>
            </a:r>
            <a:r>
              <a:rPr lang="en-IN" sz="2400" baseline="30000" dirty="0">
                <a:solidFill>
                  <a:srgbClr val="000099"/>
                </a:solidFill>
              </a:rPr>
              <a:t>-1</a:t>
            </a:r>
            <a:r>
              <a:rPr lang="en-IN" sz="2400" dirty="0">
                <a:solidFill>
                  <a:srgbClr val="000099"/>
                </a:solidFill>
              </a:rPr>
              <a:t>||</a:t>
            </a:r>
            <a:r>
              <a:rPr lang="en-IN" sz="2400" baseline="-25000" dirty="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C0955-A2F5-E544-608B-2425DABFB18A}"/>
              </a:ext>
            </a:extLst>
          </p:cNvPr>
          <p:cNvSpPr txBox="1"/>
          <p:nvPr/>
        </p:nvSpPr>
        <p:spPr>
          <a:xfrm>
            <a:off x="609600" y="5319875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solidFill>
                  <a:srgbClr val="000099"/>
                </a:solidFill>
              </a:rPr>
              <a:t>Definition 2:        Cond(A) = ||A||</a:t>
            </a:r>
            <a:r>
              <a:rPr lang="en-IN" sz="2400" baseline="-25000" dirty="0">
                <a:solidFill>
                  <a:srgbClr val="000099"/>
                </a:solidFill>
              </a:rPr>
              <a:t>2 </a:t>
            </a:r>
            <a:r>
              <a:rPr lang="en-IN" sz="2400" dirty="0">
                <a:solidFill>
                  <a:srgbClr val="000099"/>
                </a:solidFill>
              </a:rPr>
              <a:t>||A</a:t>
            </a:r>
            <a:r>
              <a:rPr lang="en-IN" sz="2400" b="0" i="0" dirty="0">
                <a:solidFill>
                  <a:srgbClr val="000099"/>
                </a:solidFill>
                <a:effectLst/>
                <a:latin typeface="Google Sans"/>
              </a:rPr>
              <a:t>†</a:t>
            </a:r>
            <a:r>
              <a:rPr lang="en-IN" sz="2400" dirty="0">
                <a:solidFill>
                  <a:srgbClr val="000099"/>
                </a:solidFill>
              </a:rPr>
              <a:t>||</a:t>
            </a:r>
            <a:r>
              <a:rPr lang="en-IN" sz="2400" baseline="-25000" dirty="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7798AE-6E12-8374-E7AB-18CEFEB82B0D}"/>
              </a:ext>
            </a:extLst>
          </p:cNvPr>
          <p:cNvSpPr txBox="1"/>
          <p:nvPr/>
        </p:nvSpPr>
        <p:spPr>
          <a:xfrm>
            <a:off x="634181" y="3505406"/>
            <a:ext cx="79002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The above definition creates problem when |A|=0, matrix A is not invertible. </a:t>
            </a:r>
          </a:p>
          <a:p>
            <a:pPr algn="l"/>
            <a:r>
              <a:rPr lang="en-US" sz="2400" dirty="0"/>
              <a:t>The condition number becomes infinity. Then we can use the definition given below.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1724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1D4F1-B997-2B6C-C117-F6BDED62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820D15-E704-8048-209E-FE01262943DF}"/>
              </a:ext>
            </a:extLst>
          </p:cNvPr>
          <p:cNvSpPr txBox="1">
            <a:spLocks/>
          </p:cNvSpPr>
          <p:nvPr/>
        </p:nvSpPr>
        <p:spPr>
          <a:xfrm>
            <a:off x="685800" y="811961"/>
            <a:ext cx="7467600" cy="261703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dirty="0">
                <a:solidFill>
                  <a:srgbClr val="7030A0"/>
                </a:solidFill>
              </a:rPr>
              <a:t>A is an ill-conditioned matrix then-</a:t>
            </a:r>
          </a:p>
          <a:p>
            <a:pPr algn="l"/>
            <a:endParaRPr lang="en-IN" sz="3600" dirty="0">
              <a:solidFill>
                <a:srgbClr val="7030A0"/>
              </a:solidFill>
            </a:endParaRPr>
          </a:p>
          <a:p>
            <a:pPr algn="l"/>
            <a:r>
              <a:rPr lang="en-IN" sz="3600" b="1" dirty="0">
                <a:solidFill>
                  <a:srgbClr val="7030A0"/>
                </a:solidFill>
              </a:rPr>
              <a:t>Least square method does not work or does not </a:t>
            </a:r>
            <a:r>
              <a:rPr lang="en-IN" sz="3600" b="1">
                <a:solidFill>
                  <a:srgbClr val="7030A0"/>
                </a:solidFill>
              </a:rPr>
              <a:t>give a good </a:t>
            </a:r>
            <a:r>
              <a:rPr lang="en-IN" sz="3600" b="1" dirty="0">
                <a:solidFill>
                  <a:srgbClr val="7030A0"/>
                </a:solidFill>
              </a:rPr>
              <a:t>solution.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98C112-3E4F-EEAC-5B71-873663E0D1FA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8801100" cy="144504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b="1" dirty="0">
                <a:solidFill>
                  <a:srgbClr val="CC6600"/>
                </a:solidFill>
              </a:rPr>
              <a:t>You need special method to obtain the solution. This is known as the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159155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l</a:t>
            </a:r>
            <a:r>
              <a:rPr lang="en-IN" sz="3600" baseline="-25000" dirty="0">
                <a:solidFill>
                  <a:srgbClr val="0000CC"/>
                </a:solidFill>
              </a:rPr>
              <a:t>2</a:t>
            </a:r>
            <a:r>
              <a:rPr lang="en-IN" sz="3600" dirty="0">
                <a:solidFill>
                  <a:srgbClr val="0000CC"/>
                </a:solidFill>
              </a:rPr>
              <a:t> norm based </a:t>
            </a:r>
            <a:r>
              <a:rPr lang="en-IN" sz="3600" dirty="0" err="1">
                <a:solidFill>
                  <a:srgbClr val="0000CC"/>
                </a:solidFill>
              </a:rPr>
              <a:t>Tikhonov</a:t>
            </a:r>
            <a:r>
              <a:rPr lang="en-IN" sz="3600" dirty="0">
                <a:solidFill>
                  <a:srgbClr val="0000CC"/>
                </a:solidFill>
              </a:rPr>
              <a:t> regularization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245659"/>
            <a:ext cx="5689969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We have to solve the following equation-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07975" y="2323377"/>
            <a:ext cx="3175454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Let us define a quantity,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3531" b="79537"/>
          <a:stretch/>
        </p:blipFill>
        <p:spPr>
          <a:xfrm>
            <a:off x="2762524" y="1914394"/>
            <a:ext cx="2190475" cy="32128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5334000" y="1760757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………………………………(1)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308415" y="2823715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………………………………(2)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133" y="2842779"/>
            <a:ext cx="3659806" cy="767258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537476" y="3479903"/>
            <a:ext cx="1676400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solidFill>
                  <a:srgbClr val="C00000"/>
                </a:solidFill>
              </a:rPr>
              <a:t>Fidelity term 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6880549" y="3512426"/>
            <a:ext cx="1676400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solidFill>
                  <a:srgbClr val="C00000"/>
                </a:solidFill>
              </a:rPr>
              <a:t>Penalty term 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976207" y="3348958"/>
            <a:ext cx="855970" cy="480385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/>
          <p:cNvSpPr txBox="1">
            <a:spLocks/>
          </p:cNvSpPr>
          <p:nvPr/>
        </p:nvSpPr>
        <p:spPr>
          <a:xfrm>
            <a:off x="2762524" y="3821323"/>
            <a:ext cx="563879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solidFill>
                  <a:srgbClr val="C00000"/>
                </a:solidFill>
              </a:rPr>
              <a:t>Regularization parameter (positive definite quantity)</a:t>
            </a:r>
          </a:p>
        </p:txBody>
      </p:sp>
      <p:cxnSp>
        <p:nvCxnSpPr>
          <p:cNvPr id="26" name="Straight Arrow Connector 25"/>
          <p:cNvCxnSpPr>
            <a:cxnSpLocks/>
            <a:stCxn id="19" idx="1"/>
          </p:cNvCxnSpPr>
          <p:nvPr/>
        </p:nvCxnSpPr>
        <p:spPr>
          <a:xfrm flipH="1" flipV="1">
            <a:off x="5536040" y="3488548"/>
            <a:ext cx="1344509" cy="286500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V="1">
            <a:off x="5140140" y="3368022"/>
            <a:ext cx="0" cy="502185"/>
          </a:xfrm>
          <a:prstGeom prst="straightConnector1">
            <a:avLst/>
          </a:prstGeom>
          <a:ln w="22225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1"/>
          <p:cNvSpPr txBox="1">
            <a:spLocks/>
          </p:cNvSpPr>
          <p:nvPr/>
        </p:nvSpPr>
        <p:spPr>
          <a:xfrm>
            <a:off x="286019" y="5364666"/>
            <a:ext cx="3175454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The solution becomes, 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450" y="5738289"/>
            <a:ext cx="4019356" cy="718212"/>
          </a:xfrm>
          <a:prstGeom prst="rect">
            <a:avLst/>
          </a:prstGeom>
        </p:spPr>
      </p:pic>
      <p:sp>
        <p:nvSpPr>
          <p:cNvPr id="33" name="Title 1"/>
          <p:cNvSpPr txBox="1">
            <a:spLocks/>
          </p:cNvSpPr>
          <p:nvPr/>
        </p:nvSpPr>
        <p:spPr>
          <a:xfrm>
            <a:off x="6527421" y="5666836"/>
            <a:ext cx="1754392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…………………(3)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402CC4-BBEC-6F02-F23E-9D7D7757ED02}"/>
              </a:ext>
            </a:extLst>
          </p:cNvPr>
          <p:cNvSpPr txBox="1"/>
          <p:nvPr/>
        </p:nvSpPr>
        <p:spPr>
          <a:xfrm>
            <a:off x="286019" y="4501490"/>
            <a:ext cx="8564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/>
              <a:t>Now minimize </a:t>
            </a:r>
            <a:r>
              <a:rPr lang="el-GR" sz="1800" b="1" dirty="0"/>
              <a:t>Ω</a:t>
            </a:r>
            <a:r>
              <a:rPr lang="en-IN" sz="1800" b="1" dirty="0"/>
              <a:t> with respect to x. Iteratively change x and then find out the x for which </a:t>
            </a:r>
            <a:r>
              <a:rPr lang="el-GR" sz="1800" b="1" dirty="0"/>
              <a:t>Ω</a:t>
            </a:r>
            <a:r>
              <a:rPr lang="en-IN" sz="1800" b="1" dirty="0"/>
              <a:t> becomes minimum. Fortunately analytical solution exists for this. </a:t>
            </a:r>
          </a:p>
        </p:txBody>
      </p:sp>
    </p:spTree>
    <p:extLst>
      <p:ext uri="{BB962C8B-B14F-4D97-AF65-F5344CB8AC3E}">
        <p14:creationId xmlns:p14="http://schemas.microsoft.com/office/powerpoint/2010/main" val="24838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l</a:t>
            </a:r>
            <a:r>
              <a:rPr lang="en-IN" sz="3600" baseline="-25000" dirty="0">
                <a:solidFill>
                  <a:srgbClr val="0000CC"/>
                </a:solidFill>
              </a:rPr>
              <a:t>1</a:t>
            </a:r>
            <a:r>
              <a:rPr lang="en-IN" sz="3600" dirty="0">
                <a:solidFill>
                  <a:srgbClr val="0000CC"/>
                </a:solidFill>
              </a:rPr>
              <a:t> norm based </a:t>
            </a:r>
            <a:r>
              <a:rPr lang="en-IN" sz="3600" dirty="0" err="1">
                <a:solidFill>
                  <a:srgbClr val="0000CC"/>
                </a:solidFill>
              </a:rPr>
              <a:t>Tikhonov</a:t>
            </a:r>
            <a:r>
              <a:rPr lang="en-IN" sz="3600" dirty="0">
                <a:solidFill>
                  <a:srgbClr val="0000CC"/>
                </a:solidFill>
              </a:rPr>
              <a:t> regularization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245659"/>
            <a:ext cx="5689969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We have to solve the following equation-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78337" y="2911003"/>
            <a:ext cx="3175454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Let us define a quantity,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3531" b="79537"/>
          <a:stretch/>
        </p:blipFill>
        <p:spPr>
          <a:xfrm>
            <a:off x="2762524" y="1914394"/>
            <a:ext cx="2190475" cy="32128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5334000" y="1760757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………………………………(1)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331726" y="3368286"/>
            <a:ext cx="1701985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………………(2)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95464" y="4459175"/>
            <a:ext cx="8543735" cy="113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Now minimize </a:t>
            </a:r>
            <a:r>
              <a:rPr lang="el-GR" sz="2000" b="1" dirty="0"/>
              <a:t>Ω</a:t>
            </a:r>
            <a:r>
              <a:rPr lang="en-IN" sz="2000" b="1" dirty="0"/>
              <a:t> with respect to x. Iteratively change x and then find out the x for which </a:t>
            </a:r>
            <a:r>
              <a:rPr lang="el-GR" sz="2000" b="1" dirty="0"/>
              <a:t>Ω</a:t>
            </a:r>
            <a:r>
              <a:rPr lang="en-IN" sz="2000" b="1" dirty="0"/>
              <a:t> becomes minimum. Unfortunately analytical solution does not exist for this. </a:t>
            </a:r>
            <a:r>
              <a:rPr lang="en-IN" sz="2000" b="1" dirty="0">
                <a:solidFill>
                  <a:srgbClr val="FF0000"/>
                </a:solidFill>
              </a:rPr>
              <a:t>This procedure gives sparse solution.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295465" y="5611137"/>
            <a:ext cx="8229600" cy="113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The solution can be obtained using numerical methods. For example, Augmented </a:t>
            </a:r>
            <a:r>
              <a:rPr lang="en-IN" sz="2000" b="1" dirty="0" err="1"/>
              <a:t>Lagrangian</a:t>
            </a:r>
            <a:r>
              <a:rPr lang="en-IN" sz="2000" b="1" dirty="0"/>
              <a:t> method can be utilized.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5E415-97AB-A2CD-882A-1EC0F3ABE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642" y="3429000"/>
            <a:ext cx="31242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122"/>
            <a:ext cx="8229600" cy="966878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00CC"/>
                </a:solidFill>
              </a:rPr>
              <a:t>Total variation minimization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3" name="AutoShape 5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155575" y="-12573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 descr="data:image/jpeg;base64,/9j/4AAQSkZJRgABAQAAAQABAAD/2wCEAAkGBxMTEBQUEhQVFBUUGBgYGRcXFB4XGBocGRgaGBgYGBYYHighGB0mHB0cITEiKCkrLi4uGx8zODQsOCktLisBCgoKDA0NDgwMDiwZFBkrLCsrNysrKys3KyssLCsrKyssLDcrLCssLCwrKyssKywsKywsLCsrKywrKyssKzcrK//AABEIAKUBMQMBIgACEQEDEQH/xAAcAAEAAgMBAQEAAAAAAAAAAAAABAYDBQcCAQj/xABKEAACAgECAwUDBQ0FBQkAAAABAgADEQQSBSExEyJBUWEGMnEHQoGRsRQjNFJTYnJ0gpKhorMVMzVDcwgkk7LCJURjZIPB0dPw/8QAFAEBAAAAAAAAAAAAAAAAAAAAAP/EABQRAQAAAAAAAAAAAAAAAAAAAAD/2gAMAwEAAhEDEQA/AOucS4s1d9VKVixrEsfnZsCrXtyT3T1LKB8T5TPwTia6nT1XoCFtUMAcZGfgSD8QSD4Sqe0HDbdRdrD9z2OWpXT6cllRB7zPaW3ZC72XIIJIqGAZveE33pYlFmG2IqswTaG21Vk2gDkAXLLtHl6QN5NTw7j1V2q1OmQ9/S9nv/8AUUsPsxNhrdUtVb2OcLWrMx8goyf4T84fJR7XN/b7WWnA17OrAnkGc7qxk4+dhR8YH6ViIgIiICIiAifDOEe3/tjxa/Xrw6pDoxZYtY7Nw9jbiObWp7g2kMVGCAeZIMDuyWAjIII5jkc8wcEfQeU9TR20DQ8PVKMAUIiLuGc4IUkjPMnmfiZ5o426FV1CEM9jKu3AJUswrYpuJUnHw5j4AN9Er1HtOtldTCt07dFesttPJ63sQsFY4GEPXHUdeeMOg9on2AuptdkqZUrXvEmgWuBk465x06geZgWeJB4TqmsFhYg7bXUYGO6Dy+mToCIiAiJh1Orrr29o6puYKu5gNzHooz1PpAzRIS6x2x2dRxuwxsJrwoxllXaSepwCBnHUcjCae47S92MMSRXWFBHLCtv3Hz5gjOfCBNmG3VVrjc6rk7RlgMnyGep9Jofam1dHpG1HZtqGqdWVLL3BLuyooUkMAdxXAxgE+E+cN4gqasaOzS1Uu9bXoamDoQCqvu+9oVfLeRBHj4QNweLUflUPe2cju73XacdDKr8o/tsuh0yOjHcdRUh7pHdVw9oGRzyilcj8aXefnD/aF4123EUoU5XS14P6dmGb+UJA/QVHFanVGUnFhwp2MM9PMchzHPpCcWoOPvqDLbBk4y3LujPU8x9YlU+Rnjf3VwijJy9GaW5/ie5/IVl4gYadVW3uurYOOTA8/Ll4zNI92iqbG6tGwwYZQHDDowyOvrMR4VX83cnf3nZYyZb1CkAjzB5HriBNmHV2lEZlRrCASEUqGb0Bchc/EgTA2muGdl2ctnFlYYBeeUXYUI545nPTxg6uxc9pUcb9oNbdp3eeHYEKV8MgBsZ6kc4HPj8rDHXV6P7gvqd3wTdkEKMlmFaKxYBQSMHB88c50bR62u1d1Tq481IOPQ+R9JgCafUMHHZ2tQ5wwwzVuBgjI5qcHBHkY13CKrG34KWDpbWdlg8huHvD81sqfEGBPiaZeIWachdUQyE4XUKNq+guXpUfDfnaT+ISFO5gIiICIiBzr5duN/c/CWrU4fVMKh+j7zn4YG39qfmfSahq7EsQ4ZGVlPkVOQfrE/X3tD7H6TXW1WapDb2IIRCxFYLEZYqMbjyA5nHLpKZwT2R0N3FeLUWaWg11jSbFCKNm6t92wrzTJHPGM4gdC9n+JrqdLRqF6XVo+PLcASPoOR9E2E1fs5wKrRacaejcKlLFVZt23cxYqCeeMknnk85F13GWYlaCAAcG3GeY6isdCR+MeQIxg88Bu7bVUEsQoHUk4H1mQ/7b02cfdFOf9Vf/AJmgTRqzbmG9uu5+830E+6PQYEnpVygbyq1WAKkMD0IOR9YnuVp+HLnco2P+Mncb6SuM/A5Ewav2ispIpJR7bB97duQUZCl7wvRRnO4YDHu904gbPi/EXNg02mP39xlnxlaEOR2jA8ixIwqeJ9AxGXS+z+nTscVgtQXZHbm++wEWOW8WbJyfHMy8H4WtCEAl3c77LG96xyACzY9AAB0AAA5CT4GLVaZLFKWKGU4yD0ODkfxEw6jhtLuHetWYYAYjn3SSvP0JJHlk+clxA168D0w24prGxVRcLjaqBgij0UMwHluPnD8E05ABpQgbcDb02KUXHlhSV+BImwiBjpoVM7QBuJY48Sep+MyREBPNjhQWYgAAkknAAHMknwE9TXhe2clsipCybGQYsYEd/nklQQQOQ5gnmMQPvbWWZ7P72oK4sIDb1IyezAPLwG5vXkeRmfT6NEJIBJJLEsxY5PXBYnA9BykiICIiBUfbIdvq9Do84BsbU2EHBCacApj42sn7pmq9mdctes4lYM6hEeiqvUsdzs7906cWdCiOw90DG45yZd9Rwqixt1lNTsfFq1Y8unMie7tDW1fZ7QF5EBRjBUhlIx0IIB+iBgo4qposufuCo2h/HHZMysQfEd3I9CJ+O+N8SbU6m69/eusdzzzjcScfADl9E/S3yqVW18KbTaOu223VPswi72w7Gy52x0B5gnoN/hOHcU+TPXabTpdqQlQstSoIX3Pl+hIXIA+nMC1/7OfG9mrv0rHu3pvX9Os8wB6qT+6J+hJ+adP7BcU4TradUKDelNisWo++ErnDjYO+MqSOmOfWfpRHBAI5gjI+mB6iIgIiIGDUaNHKlgcqQwIYqcj1UgkeBHQjrI/a2VY7T74neJsAVSgAyC6573iMqPLu9TJ8QMYK2J810cejKwI+ogiarRk6a1aCSabMiliclGAJNJJ5kbQWUnwDA9FzKdTU4KhmRyqlFAIrJz3wBzCk4B8s55c564vojdSyAhWyrIx6B0YOh5eG4CBNiIgIiICUj2UH/bfGPhov6dku8pHsp/jfGPhov6dkDe+0OrPdpU4LglyDghByIBHQseQ9A5ByBNYigAAAADkAOQHoBPWpfdfcx/GCD4IAP+fefpnwQJunST6qpB07SVbq9iMwUuQCQikbnIBO1dxAyfUwMfE7Ni4QK1rBuzrZ9u8qM4yfAeJwcCa+nQ7VzZsa11VbXVNofAPLBydoycA+Z8zJukoJIuuVBqGQK+xmZVGS2xC3hz5kAbiM46AfL2ge+Aao96ljkoNyE9Sh5Y9Sp5fAr45m5lVqs26ilvz9hPo4Ix+/s+oS1QEREBERAREQMGtt2VOwBJVWOF944BOB6z7oqBXWiDJCKqjJyeQxzPiZldcgg+PLy/jInCiRXsO/NX3sl8ZfaABZkcjuGDy8SR4QJkREBERAREQE5/8ALV+Baf8AXNP9pnQJz/5avwLT/rmn+0wOgREQEREBERAREgcc170UPZXTZqHUd2qvG5j4deg8z9vSBC9suN6XSaSx9W+2tlKbR77lgRtQeLYz8Os2PCdQbKKnZSrOisVPMglQcHkOf0T8t8Y1us4rxeurW7kd7lq7LG0VKzDcqqehxzyevLM/VlNQRVVeQUAAegGBA9xEQEREBKR7Kf43xj4aP+nZLvOVXcDv1fFeMJp9ZZo2xpMmtQd2anxuPvjHhtZep5QLQwxZaPEWvn9o7x/BhEh8S0lukFbs4sU1qLM4U761A7j8gcoDjd12dZi4XxqjUUG+pw1SlwWxgdw94n08fgRA2jakIjMQxCgsQqlm5DOAq82PoOsx6CvtGTUXVlLQpVUL7xWCxORgYDsu3d1xjAJHM6/Rp2zV6hu0UAHs627uMkjtGUc9zJjAbmoJ5AkzZhoGwa6RbrZiLmeYHnGbKlHU21/yt2h/gplula4LTv1G75tIP/EYf9KE/wDEEssBERAREQEREBIes0hJ7SvaLlUqpbO0gkHawU8xy5HntySPEGZECNptWGZlIKsmAQQQDkZyjEAOOR5jyPSSZh1OlSwAOobaQwyOjDowPgfUTAtVyEbWFoLkt2hCsqnwQomGxz5Ec89YE2JCr4mvdFgapnYqq2AAkjHQqSvPIxz5/QZMVgRkHIPiIH2IiAnP/lq/AtP+uaf7TOgTn3y1fgWn/XNP9pgdBiIgIiICJ8ZgBknAHiZDt4kvfFatcyAEpWBnn0AZiEz44LdOcCbNJ7U8bOnqAqAfUXMKqE8DYwO0tj3VUAuT5KZNsqus3At2S5G01kGwj524spC56cskdQ3loPZvTrqNXbrQoFSM9enwPfJOL9ST87ewCKT82vlyaA4L7C01jSWX4s1WmLObgCu933lyyknOWctnqSAeXSW2IgIiICIiAnOuH8RGn4pxq0jcf9wVV/GexWrrXp4uyjPPrOiygcB0i28Z4wrZ5HQMCORDKjspHXoR4/VAsGju+6q9VXfg1o4QPt2dK0dmAbptcsBn8XxlK4Dwiqu3tKd9NDsWRVU103uAUFyDPJSmcV8gcbgCNpNqq0i6ommsbdDWzbyD+E2bizrn51e/O8n+8bI6bt1lu06OhR1VlPIqQCPqMCrmMzY3ez2P7q1k9HHaqPpJD/zTD/Yuo/KVfHs2/wCXf/7wIk8Vq9jdnTgt85yMpWPNvNvJep5dBzmzp9nif721m9EHZL9YJb+abjTadK1CooVR0CjA+oQPGg0a1VqiZwPE8ySTksx8STkn4yREQEREBERAREQEREBERASGvDKgVKps2ksAhKDJxklUIDZwOuZMiBCTRuu3bc5AJJ3hW3Dl3c4BGPP155hF1A25apu93iFZO7y6Dc2W6+OOkmxAhdtfyzVWe/g4uPJOXe51jn17v8ZRflitc6Kjcm3/AH2gDvA5GTz9PhOjzn/y1fgWn/XNP9pgXSzUW97FOcNgZsUZHPveOPDl6z491/fxVXyPdLWkZHiThDt+HOTZU+I646olRkacHwP996nH+VnoPnY5908w96/2gvYuulFTnIC2MGNS+eSCptPls5cjkifN+pfm+oZfzakVF/nDt/NPtKfUJMrSBqX4IrMzM9zlsZ3XMw7pBHcYlRzAPIdZNU6hPcvLfm21q648hs2MPiSfhNgKpi1li11vZYQqIpZmPIAAZJP0QNJx/j7uo0hI09t/JrQ4KpVnFtiscFW5hF3ADc69cGXDSaZKq0rrUKiKFVR0CqMAD0AlS4dokZn1WHLalK+VgAKVhe7Xt8BksxHmxknRaw6UhWOdOcDn/k8+RB/JeY+Z+j7oWqIiAiIgIiICcrodn4/xHT9p2Vd/3KHfnuYJU57BG6IXBOT12q23ngjqk5/wbQV38W41VaNysNF0O0ghLCrKy81YHBDDmCARAvtFKoqogCqoAVQMAADAAHgMT3NJwfW2V2DS6lt1oBNVp5dui+OByFqgjcPH3gADhd3ARMOq1ddYzY6IPNmCj6zIf9vaf8qMeeDt/exj+MDZRMGl1ldgzXYjj81g32GZ4CIiAiIgIiICIiAiIgIiICIiAiIgJz/5avwLT/rmn+0zoE5/8tX4Fp/1zT/aYFk9p9Sdq0KcG7O8g4IrXG/B82JVfgzEdJrlGOQ5CfdXZv1V7fiFKhz8FQOfh3nI+gRAk0CTqVkGkybS0CZWk0fEbkv1LaM1iytaxZeSxAQlgaUIHvltrMRnkFGc7psuIa800WWKj2lFJCIMs58FA9T4+HWY+GiwUp25Q3FR2hRdoLY549B0HwgfbhIGoUEc+YPnJ1zSFeYEn2Y1Pdahjk04Kk9TW2dn7pBT9kE9ZvJUtI+zVUNz7++o+WGXtAfjurA/aMtsBERAREQE5vo9c9PFeMGtS1jnh9aD1dXG7njIUbmIz0UzpE5/wNKzxjjPbbQi/cTZY7QCK7Du3Z5fGButDpjrKbhY1gVbyKLOQtRqlVGsVhkZFosx1BBKkbeUiUe0F1g7EsiWLndYhB7VQdvaUoc7FJ8Wzg5AyMOZHtBxWoUV10OmyxMgp3gUAwqoqnLbjywOqq/MdZUvZ3guq3WXa1ke8MRRj+7rTZgbUUjAJJ3LnntHM4BgWWuhQc4yx6sSWc/F2yT9cy5kTh+odkHaqK7QO+gYN0JG5ccyhIJGcHHUA5ElQMdmnVjkjvDowOGHwdeY+gydouLvVyubfX+UOAyfp4GCv53IjxyMsIsQLbE0Ps5qdpNB6KN1f6GQCv7JIx6MB4TfQEREBERAREQEREBERAREQEREBOf/AC1fgWn/AFzT/aZ0Cc/+Wr8C0/65p/tMDYJ793+tbn944/hie591abNVev42y0D0Zdhx+0hP0+s+QMlbYkut5AkbiOt2gVrYK7btyVEqW74RmyVHgAM88DoM8xAl7bX1avv20VIcKrf3ljEqxcDwRRyB8WJ8BNm1s0/CNImnpSmvO1BjJ6k9SzHxYnJJ8yZLN0DLY8iu0M+Z5gYrM9pRjr21f28/4ZlxlS0le/VUL+IXtPwVSgH71gP7JltgIiICIiAnMdN7N6XXcX4xXqqhaoGjxklSpNdmSpU5E6dKR7Kf43xj4aL+nZ5wPGg4VVQzpUoC17akJA3ba0Ve8wGSd27mesmkxZytuX8Wxv5gLB/BoECNqdAGcWqv36tWC94oGyD3LCAcpnB6HBGRJnDT2lauUesnOUcYZSCQRjxGQcEciMEZBknTpPmp4d98+6Kw5sRGXYrAC0YJVG3cgQ3MNyIyRnBMA1EwPXibHSXLbUtibgrDOGUqw8CGU81IPIiYb0gQKn23Uv5WBT8HzXj95lP0S2youubKlHVra8fsuLD/ACqZboCIiAiIgIiICIiAiIgIiICIiAnP/lq/AtP+uaf7TOgTn/y1fgWn/XNP9pgbb2oZ2Pa0Ju+59y2MxIUowBcKFBLshCt+yyg5JxBD3ddtTA+IsZeXp3Tnl6y0cOba9tR6hmsX85bGLE/Q5ZfoXzmi4joDpiWAzpuvL/J9CPGvy/F/R6BEGvUHFgao+b4C/AWAlfozmROFGvUMusVXzteqvd02Cw5sQeAfAOfFQs+8T1e62rTKi2C9XNobmopAwx5dSxYKB0OW8p7vpOnrLUglEXPYDnkKOlWfcbA5L7p9OsDZxNXwLj+n1le/T2Bx4jo6nyZeo/8A3WbOB9nlmwMkgY5knoB5kwzYGTyA8TyH8Y4boDqiGYEacEHny7Yjpy/JZx+n0933g2Hstpjta9gQbsbAeorXOzI8CxJf4MoPSb6IgIiICIiAlI9lP8b4x8NF/Tsl3lJ9lP8AG+MfDR/07IG049TsuWz5toCH0Zclf3gSM/mqPGRBLRqtMtiMjjKsMEdPpBHMEdQRzBlW1NT0ttt5gnC2YAVs9A3gr+nQ+HiAGw05mxoeaemyS0ugeeJIUsOoVrCBWQ9IG8OFyylFJG1wSeY94HBHIYxpqktRbK2DI4DKw6EHpM7XSu8R1Fq2NZUxagDbdhAwow3O1D84gE7k58gDywQwbnhFHaagv82nI+NjD/pQ/wA/pLFI3D6USpRVgpjIIOd27nuz4kk5z45kmAiIgIiICIiAiIgIiICIiAiIgJz/AOWr8C0/65p/tM6BOffLV+Baf9c0/wBpgXfXaTfgqdlic0bGcZ6hh85TyyM+A6EAiJdxyuqux9R96NKF3U8+6vVqz/mLzA5c8kAgHlNrKpxihddrV0xGaNIVtuIOM3EZpqDDmNoxa2COtfXJgYOCeztxp7YuaLbma00lQ1VYc5WrYCCrBcZKsMsWJB5TLbptSnvUbxz51WKw+p9h+gAzeAX1+V6fEJaP+hz+79M9Di9Q98tUf/EUoPoY90/QTA/Omq9i9XVxa77kF2nRALw6IdyVuTyCDGeauAucHZOz6DR6ooo7Ik4H321krDeu2rcR8MCWC7itTKexIudhgLX3vhuYclXn1PrJmhoNdVaE5KIq589oAzA1Ol9nBkNqH7YjmE27agfA7Mksf0ifQCb2IgIiICIiAiIgJSPZT/G+MdOmi/p2dZd5SPZT/G+MfDR/07IF3nmxAwIYAg8iCMg/ET1EDT2ez1f+U71fmqQy/uuDgei4mMcGu/LV/wDBP/2TeRA1NfAl/wAyyyz83IRfqQAkehJmzqqVVCqAqjkABgAeQA6T3ECtsToLM/8AcnPP/wAs5PX/AEGP7hP4p7lknmxAQQQCCCCDzBB6ggzhXGflEv0XEtPp+zvp0lFpJS9drmthsK5yRZUgJKH9EfNBgd3iRtXrFSo2DDDGV543E+6AfziQB8ZXtFxm5F7Gwqb0u7NmswuUetrUs2oSOg24z80wLVEqHDPaR7jU7AYsakrWpKuos0Zvwe9izvZUZAHLzElar2jsW0r2QCr2RKuxFuLDYCdqhhhdm44z3dx8OYWWJUqPaxnzt7EhVudjuJBFaU2DAXcRkW+vu5xzwI2t449g3B9mK9UCEs5Zq1FKI/InBKk+PzjAu0SqW8de1wFZFCamushbPvgPasrJamO6CoVh5humME2uAiIgIiICIiAnPvlq/AtP+uaf7TOgzn/y0/gWn/XNP9pgWz2k4t9zadnVd9jEV1V/lLX5Vp6AnqfAAnwj2a4R9y6day3aWEl7bD1stc5sc/E9B4AAeE1fDR92a5tSedGlL00Dwe33b7/Xbg1Kf9TzlogIiICIiAiIgIiICIiAiIgJpeF+z4p1ur1QcsdX2OV24C9krKMHxzmIgbqIiAiIgIiICazj/s/ptbV2WqqW1fDPVT5qw5qfUGIgZODcMGn09dAZnWobVL822j3AT44GBn0k0oPIfVEQPu0eQmCvRoLXtAO9wqsck8k3bQATge8enXM+xAy7B5D6o2DyH1RED7tHlPsRAREQEREBERASue3fsqOJaYUNa1QFi2blXJ7ueQyRjr1iIG74dokpqSqobUrUKo8gBj6fjJERAREQEREBERAREQERED//2Q=="/>
          <p:cNvSpPr>
            <a:spLocks noChangeAspect="1" noChangeArrowheads="1"/>
          </p:cNvSpPr>
          <p:nvPr/>
        </p:nvSpPr>
        <p:spPr bwMode="auto">
          <a:xfrm>
            <a:off x="307975" y="-1104900"/>
            <a:ext cx="48577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95465" y="1245659"/>
            <a:ext cx="5689969" cy="616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dirty="0"/>
              <a:t>We have to solve the following equation-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78337" y="2911003"/>
            <a:ext cx="3175454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Let us define a quantity,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3531" b="79537"/>
          <a:stretch/>
        </p:blipFill>
        <p:spPr>
          <a:xfrm>
            <a:off x="2762524" y="1914394"/>
            <a:ext cx="2190475" cy="32128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5334000" y="1760757"/>
            <a:ext cx="2823019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………………………………(1)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331726" y="3368286"/>
            <a:ext cx="1701985" cy="52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/>
              <a:t>………………(2)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95465" y="4459175"/>
            <a:ext cx="8229600" cy="113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Now minimize </a:t>
            </a:r>
            <a:r>
              <a:rPr lang="el-GR" sz="2000" b="1" dirty="0"/>
              <a:t>Ω</a:t>
            </a:r>
            <a:r>
              <a:rPr lang="en-IN" sz="2000" b="1" dirty="0"/>
              <a:t> with respect to x. Iteratively change x and then find out the x for which </a:t>
            </a:r>
            <a:r>
              <a:rPr lang="el-GR" sz="2000" b="1" dirty="0"/>
              <a:t>Ω</a:t>
            </a:r>
            <a:r>
              <a:rPr lang="en-IN" sz="2000" b="1" dirty="0"/>
              <a:t> becomes minimum. Unfortunately analytical solution does not exist for this. </a:t>
            </a:r>
            <a:r>
              <a:rPr lang="en-IN" sz="2000" b="1" dirty="0">
                <a:solidFill>
                  <a:srgbClr val="FF0000"/>
                </a:solidFill>
              </a:rPr>
              <a:t>This procedure gives solution with less </a:t>
            </a:r>
            <a:r>
              <a:rPr lang="en-IN" sz="2000" b="1">
                <a:solidFill>
                  <a:srgbClr val="FF0000"/>
                </a:solidFill>
              </a:rPr>
              <a:t>spatial fluctuations.</a:t>
            </a:r>
            <a:endParaRPr lang="en-IN" sz="2000" b="1" dirty="0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295465" y="5611137"/>
            <a:ext cx="8229600" cy="113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/>
              <a:t>The solution can be obtained using numerical methods. For example, Augmented </a:t>
            </a:r>
            <a:r>
              <a:rPr lang="en-IN" sz="2000" b="1" dirty="0" err="1"/>
              <a:t>Lagrangian</a:t>
            </a:r>
            <a:r>
              <a:rPr lang="en-IN" sz="2000" b="1" dirty="0"/>
              <a:t> method can be utilized.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C8C3F3-F1F5-1F8E-E634-FDA89EC7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128" y="3408189"/>
            <a:ext cx="3238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5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F5F96-4469-7C5A-EB95-A0CEB567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6C2D3-7973-373C-D80A-910C39A6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573" y="2491086"/>
            <a:ext cx="3238500" cy="571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4FA76-A264-53BC-1168-E3A20EB56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573" y="1713921"/>
            <a:ext cx="3124200" cy="561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9B3E8B-3B4C-1335-8B7B-3B2330723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70" y="609600"/>
            <a:ext cx="3659806" cy="7672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BBE5AE9-42FA-4217-8D5A-73AA1F980F27}"/>
              </a:ext>
            </a:extLst>
          </p:cNvPr>
          <p:cNvGrpSpPr/>
          <p:nvPr/>
        </p:nvGrpSpPr>
        <p:grpSpPr>
          <a:xfrm>
            <a:off x="2288828" y="3390124"/>
            <a:ext cx="4566343" cy="767258"/>
            <a:chOff x="2608747" y="4332884"/>
            <a:chExt cx="4566343" cy="76725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96DCED3-A73A-F380-325C-6E0E953F3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8747" y="4332884"/>
              <a:ext cx="3659806" cy="76725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D8AB3D3-A6F4-1268-9B05-C3490BD0C8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241" t="-6810"/>
            <a:stretch/>
          </p:blipFill>
          <p:spPr>
            <a:xfrm>
              <a:off x="6057900" y="4416391"/>
              <a:ext cx="1117190" cy="60024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8657EF-35F3-27CF-5C42-D87686140CDA}"/>
              </a:ext>
            </a:extLst>
          </p:cNvPr>
          <p:cNvGrpSpPr/>
          <p:nvPr/>
        </p:nvGrpSpPr>
        <p:grpSpPr>
          <a:xfrm>
            <a:off x="2288828" y="4308594"/>
            <a:ext cx="4650406" cy="767258"/>
            <a:chOff x="2398094" y="5183681"/>
            <a:chExt cx="4650406" cy="76725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43F87B-C0D6-FBB4-F05F-915DB77D4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8094" y="5183681"/>
              <a:ext cx="3659806" cy="76725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446EB0-A2CA-40D5-2DF4-087015A97B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1177" t="21666" b="14445"/>
            <a:stretch/>
          </p:blipFill>
          <p:spPr>
            <a:xfrm>
              <a:off x="5791200" y="5384747"/>
              <a:ext cx="1257300" cy="365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7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E31D4-7BFB-D5A9-EF13-A2FC6997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569D2-BC76-0430-68D9-0E2731D94689}"/>
              </a:ext>
            </a:extLst>
          </p:cNvPr>
          <p:cNvSpPr txBox="1"/>
          <p:nvPr/>
        </p:nvSpPr>
        <p:spPr>
          <a:xfrm>
            <a:off x="609600" y="1981200"/>
            <a:ext cx="7924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CC6600"/>
                </a:solidFill>
              </a:rPr>
              <a:t>Regularization refers to the techniques that are used to calibrate machine learning models in order to minimize the adjusted loss function and prevent overfitting or underfitting.</a:t>
            </a:r>
            <a:endParaRPr lang="en-IN" sz="3200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881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F4C9F-C9F0-594E-702A-05A72A4A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82919-ED56-7369-9A08-59F2AD37F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52600"/>
            <a:ext cx="70389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26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43DD3C-571F-B2D9-5139-B384D6F3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45F9C-1B63-4878-8BDE-37674740F74E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1026" name="Picture 2" descr="Regularization in Machine Learning - GeeksforGeeks">
            <a:extLst>
              <a:ext uri="{FF2B5EF4-FFF2-40B4-BE49-F238E27FC236}">
                <a16:creationId xmlns:a16="http://schemas.microsoft.com/office/drawing/2014/main" id="{A2380CE6-5A26-60C1-F820-EA143AAA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28800"/>
            <a:ext cx="696515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566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777</Words>
  <Application>Microsoft Office PowerPoint</Application>
  <PresentationFormat>On-screen Show (4:3)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Google Sans</vt:lpstr>
      <vt:lpstr>Office Theme</vt:lpstr>
      <vt:lpstr>X-ray CT</vt:lpstr>
      <vt:lpstr>Image reconstruction means solving system of linear equations</vt:lpstr>
      <vt:lpstr>Solution of a system of linear equations</vt:lpstr>
      <vt:lpstr>Moore-Penrose inverse method</vt:lpstr>
      <vt:lpstr>Least square method</vt:lpstr>
      <vt:lpstr>lp norm of a vector</vt:lpstr>
      <vt:lpstr>PowerPoint Presentation</vt:lpstr>
      <vt:lpstr>PowerPoint Presentation</vt:lpstr>
      <vt:lpstr>PowerPoint Presentation</vt:lpstr>
      <vt:lpstr>l2 norm based Tikhonov regularization</vt:lpstr>
      <vt:lpstr>l1 norm based Tikhonov regularization</vt:lpstr>
      <vt:lpstr>Total variation minimization method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MRI</dc:title>
  <dc:creator>Ratan</dc:creator>
  <cp:lastModifiedBy>Ratan Saha</cp:lastModifiedBy>
  <cp:revision>67</cp:revision>
  <dcterms:created xsi:type="dcterms:W3CDTF">2016-04-04T22:58:38Z</dcterms:created>
  <dcterms:modified xsi:type="dcterms:W3CDTF">2026-04-07T07:51:14Z</dcterms:modified>
</cp:coreProperties>
</file>